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oppins Bold" charset="1" panose="00000800000000000000"/>
      <p:regular r:id="rId23"/>
    </p:embeddedFont>
    <p:embeddedFont>
      <p:font typeface="Georgia Bold" charset="1" panose="02040802050405020203"/>
      <p:regular r:id="rId24"/>
    </p:embeddedFont>
    <p:embeddedFont>
      <p:font typeface="Poppins" charset="1" panose="00000500000000000000"/>
      <p:regular r:id="rId25"/>
    </p:embeddedFont>
    <p:embeddedFont>
      <p:font typeface="Cormorant Garamond Bold" charset="1" panose="00000800000000000000"/>
      <p:regular r:id="rId28"/>
    </p:embeddedFont>
    <p:embeddedFont>
      <p:font typeface="Poppins Italics" charset="1" panose="0000050000000000000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fonts/font35.fntdata" Type="http://schemas.openxmlformats.org/officeDocument/2006/relationships/font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4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Fill in your team details. Do not change the deck structure.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Four key screens. Low fidelity is fine — the flow matters more than the polish.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Who you tested with, what you learned, and what actually changed.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Why this solution, and not the existing ones.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One diagram. Show data flow, not just boxes.</a:t>
            </a:r>
          </a:p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Every workstream needs a named owner. Unowned work does not get done.</a:t>
            </a:r>
          </a:p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https://github.com/Udyoga-Pramoda-Hackathon-2026/team-satyatma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Relationship Id="rId4" Target="../media/image1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png" Type="http://schemas.openxmlformats.org/officeDocument/2006/relationships/image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Relationship Id="rId4" Target="../media/image1.png" Type="http://schemas.openxmlformats.org/officeDocument/2006/relationships/image"/><Relationship Id="rId5" Target="../media/image13.png" Type="http://schemas.openxmlformats.org/officeDocument/2006/relationships/image"/><Relationship Id="rId6" Target="../media/image3.jpe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png" Type="http://schemas.openxmlformats.org/officeDocument/2006/relationships/image"/><Relationship Id="rId4" Target="../media/image1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png" Type="http://schemas.openxmlformats.org/officeDocument/2006/relationships/image"/><Relationship Id="rId4" Target="../media/image1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png" Type="http://schemas.openxmlformats.org/officeDocument/2006/relationships/image"/><Relationship Id="rId4" Target="../media/image1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png" Type="http://schemas.openxmlformats.org/officeDocument/2006/relationships/image"/><Relationship Id="rId4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82750" y="495290"/>
            <a:ext cx="2762250" cy="803986"/>
            <a:chOff x="0" y="0"/>
            <a:chExt cx="3683000" cy="1071982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3683000" cy="1072007"/>
            </a:xfrm>
            <a:custGeom>
              <a:avLst/>
              <a:gdLst/>
              <a:ahLst/>
              <a:cxnLst/>
              <a:rect r="r" b="b" t="t" l="l"/>
              <a:pathLst>
                <a:path h="1072007" w="3683000">
                  <a:moveTo>
                    <a:pt x="0" y="0"/>
                  </a:moveTo>
                  <a:lnTo>
                    <a:pt x="3683000" y="0"/>
                  </a:lnTo>
                  <a:lnTo>
                    <a:pt x="3683000" y="1072007"/>
                  </a:lnTo>
                  <a:lnTo>
                    <a:pt x="0" y="1072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" y="3525555"/>
            <a:ext cx="1714500" cy="38100"/>
            <a:chOff x="0" y="0"/>
            <a:chExt cx="2286000" cy="5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6000" cy="50800"/>
            </a:xfrm>
            <a:custGeom>
              <a:avLst/>
              <a:gdLst/>
              <a:ahLst/>
              <a:cxnLst/>
              <a:rect r="r" b="b" t="t" l="l"/>
              <a:pathLst>
                <a:path h="508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0592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68403" y="3798551"/>
            <a:ext cx="17551403" cy="411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PHASE 2 — IDEATION &amp; PLANNING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8403" y="4679594"/>
            <a:ext cx="17551403" cy="72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1"/>
              </a:lnSpc>
            </a:pPr>
            <a:r>
              <a:rPr lang="en-US" b="true" sz="7800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Satyatma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8403" y="5640772"/>
            <a:ext cx="162306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b="true" sz="3900" strike="noStrike" u="none">
                <a:solidFill>
                  <a:srgbClr val="A3937F"/>
                </a:solidFill>
                <a:latin typeface="Georgia Bold"/>
                <a:ea typeface="Georgia Bold"/>
                <a:cs typeface="Georgia Bold"/>
                <a:sym typeface="Georgia Bold"/>
              </a:rPr>
              <a:t>CircuitMind — AI-powered vendor &amp; inventory management platform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43000" y="8450399"/>
            <a:ext cx="16002000" cy="15897"/>
            <a:chOff x="0" y="0"/>
            <a:chExt cx="21336000" cy="211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336000" cy="21209"/>
            </a:xfrm>
            <a:custGeom>
              <a:avLst/>
              <a:gdLst/>
              <a:ahLst/>
              <a:cxnLst/>
              <a:rect r="r" b="b" t="t" l="l"/>
              <a:pathLst>
                <a:path h="21209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1209"/>
                  </a:lnTo>
                  <a:lnTo>
                    <a:pt x="0" y="21209"/>
                  </a:lnTo>
                  <a:close/>
                </a:path>
              </a:pathLst>
            </a:custGeom>
            <a:solidFill>
              <a:srgbClr val="C9D7D9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68403" y="8720233"/>
            <a:ext cx="3909803" cy="34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7A6A5B"/>
                </a:solidFill>
                <a:latin typeface="Poppins Bold"/>
                <a:ea typeface="Poppins Bold"/>
                <a:cs typeface="Poppins Bold"/>
                <a:sym typeface="Poppins Bold"/>
              </a:rPr>
              <a:t>TEAM MEMBERS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1851" y="9128179"/>
            <a:ext cx="3909803" cy="1120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</a:rPr>
              <a:t>Abhiroop, Shruthi, Aravind, Sreephaneesh, Vishnu Tej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02225" y="8720233"/>
            <a:ext cx="3909803" cy="34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7A6A5B"/>
                </a:solidFill>
                <a:latin typeface="Poppins Bold"/>
                <a:ea typeface="Poppins Bold"/>
                <a:cs typeface="Poppins Bold"/>
                <a:sym typeface="Poppins Bold"/>
              </a:rPr>
              <a:t>MENTOR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71393" y="9128179"/>
            <a:ext cx="3909803" cy="1120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</a:rPr>
              <a:t>Pushkar Katti, Vishal Mahuli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62729" y="8720233"/>
            <a:ext cx="3909803" cy="34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7A6A5B"/>
                </a:solidFill>
                <a:latin typeface="Poppins Bold"/>
                <a:ea typeface="Poppins Bold"/>
                <a:cs typeface="Poppins Bold"/>
                <a:sym typeface="Poppins Bold"/>
              </a:rPr>
              <a:t>DATE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26554" y="9137704"/>
            <a:ext cx="3909803" cy="419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</a:rPr>
              <a:t>05-09-2026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69877" y="8720233"/>
            <a:ext cx="3909803" cy="34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7A6A5B"/>
                </a:solidFill>
                <a:latin typeface="Poppins Bold"/>
                <a:ea typeface="Poppins Bold"/>
                <a:cs typeface="Poppins Bold"/>
                <a:sym typeface="Poppins Bold"/>
              </a:rPr>
              <a:t>REPOSITORY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67701" y="9137704"/>
            <a:ext cx="4711998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59"/>
              </a:lnSpc>
              <a:spcBef>
                <a:spcPct val="0"/>
              </a:spcBef>
            </a:pPr>
            <a:r>
              <a:rPr lang="en-US" sz="2049" strike="noStrike" u="sng">
                <a:solidFill>
                  <a:srgbClr val="0563C1"/>
                </a:solidFill>
                <a:latin typeface="Poppins"/>
                <a:ea typeface="Poppins"/>
                <a:cs typeface="Poppins"/>
                <a:sym typeface="Poppins"/>
                <a:hlinkClick r:id="rId4" tooltip="https://github.com/Udyoga-Pramoda-Hackathon-2026/team-satyatma"/>
              </a:rPr>
              <a:t>github.com/Udyoga-Pramoda-Hackathon-2026/team-satyatma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954250" y="742950"/>
            <a:ext cx="2190902" cy="637804"/>
            <a:chOff x="0" y="0"/>
            <a:chExt cx="2921203" cy="8504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1254" cy="850392"/>
            </a:xfrm>
            <a:custGeom>
              <a:avLst/>
              <a:gdLst/>
              <a:ahLst/>
              <a:cxnLst/>
              <a:rect r="r" b="b" t="t" l="l"/>
              <a:pathLst>
                <a:path h="850392" w="2921254">
                  <a:moveTo>
                    <a:pt x="0" y="0"/>
                  </a:moveTo>
                  <a:lnTo>
                    <a:pt x="2921254" y="0"/>
                  </a:lnTo>
                  <a:lnTo>
                    <a:pt x="2921254" y="850392"/>
                  </a:lnTo>
                  <a:lnTo>
                    <a:pt x="0" y="850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9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43000" y="723900"/>
            <a:ext cx="1838401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SECTION 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1571625"/>
            <a:ext cx="171450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1"/>
              </a:lnSpc>
            </a:pPr>
            <a:r>
              <a:rPr lang="en-US" b="true" sz="4718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2438400"/>
            <a:ext cx="17145000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What are we building, who is it for, and what does it solve?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43000" y="3114675"/>
            <a:ext cx="16002000" cy="15897"/>
            <a:chOff x="0" y="0"/>
            <a:chExt cx="21336000" cy="211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6000" cy="21209"/>
            </a:xfrm>
            <a:custGeom>
              <a:avLst/>
              <a:gdLst/>
              <a:ahLst/>
              <a:cxnLst/>
              <a:rect r="r" b="b" t="t" l="l"/>
              <a:pathLst>
                <a:path h="21209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1209"/>
                  </a:lnTo>
                  <a:lnTo>
                    <a:pt x="0" y="21209"/>
                  </a:lnTo>
                  <a:close/>
                </a:path>
              </a:pathLst>
            </a:custGeom>
            <a:solidFill>
              <a:srgbClr val="C9D7D9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43000" y="3333750"/>
            <a:ext cx="497220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WHAT WE ARE BUILDING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35047" y="3859197"/>
            <a:ext cx="4988100" cy="5750100"/>
            <a:chOff x="0" y="0"/>
            <a:chExt cx="6650799" cy="76667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50736" cy="7666737"/>
            </a:xfrm>
            <a:custGeom>
              <a:avLst/>
              <a:gdLst/>
              <a:ahLst/>
              <a:cxnLst/>
              <a:rect r="r" b="b" t="t" l="l"/>
              <a:pathLst>
                <a:path h="7666737" w="6650736">
                  <a:moveTo>
                    <a:pt x="0" y="152781"/>
                  </a:moveTo>
                  <a:cubicBezTo>
                    <a:pt x="0" y="68453"/>
                    <a:pt x="68453" y="0"/>
                    <a:pt x="152781" y="0"/>
                  </a:cubicBezTo>
                  <a:lnTo>
                    <a:pt x="6497955" y="0"/>
                  </a:lnTo>
                  <a:cubicBezTo>
                    <a:pt x="6582410" y="0"/>
                    <a:pt x="6650736" y="68453"/>
                    <a:pt x="6650736" y="152781"/>
                  </a:cubicBezTo>
                  <a:lnTo>
                    <a:pt x="6650736" y="7513955"/>
                  </a:lnTo>
                  <a:cubicBezTo>
                    <a:pt x="6650736" y="7598411"/>
                    <a:pt x="6582283" y="7666737"/>
                    <a:pt x="6497955" y="7666737"/>
                  </a:cubicBezTo>
                  <a:lnTo>
                    <a:pt x="152781" y="7666737"/>
                  </a:lnTo>
                  <a:cubicBezTo>
                    <a:pt x="68453" y="7666863"/>
                    <a:pt x="0" y="7598410"/>
                    <a:pt x="0" y="7513955"/>
                  </a:cubicBezTo>
                  <a:close/>
                </a:path>
              </a:pathLst>
            </a:custGeom>
            <a:solidFill>
              <a:srgbClr val="FFFFFF"/>
            </a:solidFill>
            <a:ln w="15900" cap="sq">
              <a:solidFill>
                <a:srgbClr val="B9CACD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428750" y="4143375"/>
            <a:ext cx="4400702" cy="515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AI-Powered Vendor &amp; Inventory Management Platform 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E5043"/>
                </a:solidFill>
                <a:latin typeface="Poppins"/>
                <a:ea typeface="Poppins"/>
                <a:cs typeface="Poppins"/>
                <a:sym typeface="Poppins"/>
              </a:rPr>
              <a:t>An AI-powered vendor &amp; inventory management platform that helps businesses manage suppliers, purchase orders, inventory levels and procurement workflows with intelligent insights.</a:t>
            </a:r>
          </a:p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KEY CAPABILITIES</a:t>
            </a:r>
          </a:p>
          <a:p>
            <a:pPr algn="l" marL="332739" indent="-166370" lvl="1">
              <a:lnSpc>
                <a:spcPts val="1919"/>
              </a:lnSpc>
              <a:buFont typeface="Arial"/>
              <a:buChar char="•"/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AI-driven demand &amp; prediction</a:t>
            </a:r>
          </a:p>
          <a:p>
            <a:pPr algn="l" marL="332739" indent="-166370" lvl="1">
              <a:lnSpc>
                <a:spcPts val="1919"/>
              </a:lnSpc>
              <a:buFont typeface="Arial"/>
              <a:buChar char="•"/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Vendor management &amp; scoring</a:t>
            </a:r>
          </a:p>
          <a:p>
            <a:pPr algn="l" marL="332739" indent="-166370" lvl="1">
              <a:lnSpc>
                <a:spcPts val="1919"/>
              </a:lnSpc>
              <a:buFont typeface="Arial"/>
              <a:buChar char="•"/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Procurement workflow automation</a:t>
            </a:r>
          </a:p>
          <a:p>
            <a:pPr algn="l" marL="332739" indent="-166370" lvl="1">
              <a:lnSpc>
                <a:spcPts val="1919"/>
              </a:lnSpc>
              <a:buFont typeface="Arial"/>
              <a:buChar char="•"/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Real-time alerts and insights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48450" y="3333750"/>
            <a:ext cx="497220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WHO IT IS FOR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40497" y="3859197"/>
            <a:ext cx="4988100" cy="5750100"/>
            <a:chOff x="0" y="0"/>
            <a:chExt cx="6650799" cy="76667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50736" cy="7666737"/>
            </a:xfrm>
            <a:custGeom>
              <a:avLst/>
              <a:gdLst/>
              <a:ahLst/>
              <a:cxnLst/>
              <a:rect r="r" b="b" t="t" l="l"/>
              <a:pathLst>
                <a:path h="7666737" w="6650736">
                  <a:moveTo>
                    <a:pt x="0" y="152781"/>
                  </a:moveTo>
                  <a:cubicBezTo>
                    <a:pt x="0" y="68453"/>
                    <a:pt x="68453" y="0"/>
                    <a:pt x="152781" y="0"/>
                  </a:cubicBezTo>
                  <a:lnTo>
                    <a:pt x="6497955" y="0"/>
                  </a:lnTo>
                  <a:cubicBezTo>
                    <a:pt x="6582410" y="0"/>
                    <a:pt x="6650736" y="68453"/>
                    <a:pt x="6650736" y="152781"/>
                  </a:cubicBezTo>
                  <a:lnTo>
                    <a:pt x="6650736" y="7513955"/>
                  </a:lnTo>
                  <a:cubicBezTo>
                    <a:pt x="6650736" y="7598411"/>
                    <a:pt x="6582283" y="7666737"/>
                    <a:pt x="6497955" y="7666737"/>
                  </a:cubicBezTo>
                  <a:lnTo>
                    <a:pt x="152781" y="7666737"/>
                  </a:lnTo>
                  <a:cubicBezTo>
                    <a:pt x="68453" y="7666863"/>
                    <a:pt x="0" y="7598410"/>
                    <a:pt x="0" y="7513955"/>
                  </a:cubicBezTo>
                  <a:close/>
                </a:path>
              </a:pathLst>
            </a:custGeom>
            <a:solidFill>
              <a:srgbClr val="FFFFFF"/>
            </a:solidFill>
            <a:ln w="15900" cap="sq">
              <a:solidFill>
                <a:srgbClr val="B9CACD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934200" y="4124325"/>
            <a:ext cx="4400702" cy="517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Supply Chain Teams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E5043"/>
                </a:solidFill>
                <a:latin typeface="Poppins"/>
                <a:ea typeface="Poppins"/>
                <a:cs typeface="Poppins"/>
                <a:sym typeface="Poppins"/>
              </a:rPr>
              <a:t>Businesses in manufacturing, pharmaceuticals, distribution and other industries that manage vendors, procurement and inventory.</a:t>
            </a:r>
          </a:p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AUDIENCE</a:t>
            </a:r>
          </a:p>
          <a:p>
            <a:pPr algn="l" marL="332739" indent="-166370" lvl="1">
              <a:lnSpc>
                <a:spcPts val="1919"/>
              </a:lnSpc>
              <a:buFont typeface="Arial"/>
              <a:buChar char="•"/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Procurement Managers</a:t>
            </a:r>
          </a:p>
          <a:p>
            <a:pPr algn="l" marL="332739" indent="-166370" lvl="1">
              <a:lnSpc>
                <a:spcPts val="1919"/>
              </a:lnSpc>
              <a:buFont typeface="Arial"/>
              <a:buChar char="•"/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Supply Chain Managers</a:t>
            </a:r>
          </a:p>
          <a:p>
            <a:pPr algn="l" marL="332739" indent="-166370" lvl="1">
              <a:lnSpc>
                <a:spcPts val="1919"/>
              </a:lnSpc>
              <a:buFont typeface="Arial"/>
              <a:buChar char="•"/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Inventory &amp; Operations Teams</a:t>
            </a:r>
          </a:p>
          <a:p>
            <a:pPr algn="l" marL="332739" indent="-166370" lvl="1">
              <a:lnSpc>
                <a:spcPts val="1919"/>
              </a:lnSpc>
              <a:buFont typeface="Arial"/>
              <a:buChar char="•"/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CFOs / Business Leaders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63425" y="3333750"/>
            <a:ext cx="497220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IT SOLVES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155472" y="3859197"/>
            <a:ext cx="4988100" cy="5750100"/>
            <a:chOff x="0" y="0"/>
            <a:chExt cx="6650799" cy="766679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50736" cy="7666737"/>
            </a:xfrm>
            <a:custGeom>
              <a:avLst/>
              <a:gdLst/>
              <a:ahLst/>
              <a:cxnLst/>
              <a:rect r="r" b="b" t="t" l="l"/>
              <a:pathLst>
                <a:path h="7666737" w="6650736">
                  <a:moveTo>
                    <a:pt x="0" y="152781"/>
                  </a:moveTo>
                  <a:cubicBezTo>
                    <a:pt x="0" y="68453"/>
                    <a:pt x="68453" y="0"/>
                    <a:pt x="152781" y="0"/>
                  </a:cubicBezTo>
                  <a:lnTo>
                    <a:pt x="6497955" y="0"/>
                  </a:lnTo>
                  <a:cubicBezTo>
                    <a:pt x="6582410" y="0"/>
                    <a:pt x="6650736" y="68453"/>
                    <a:pt x="6650736" y="152781"/>
                  </a:cubicBezTo>
                  <a:lnTo>
                    <a:pt x="6650736" y="7513955"/>
                  </a:lnTo>
                  <a:cubicBezTo>
                    <a:pt x="6650736" y="7598411"/>
                    <a:pt x="6582283" y="7666737"/>
                    <a:pt x="6497955" y="7666737"/>
                  </a:cubicBezTo>
                  <a:lnTo>
                    <a:pt x="152781" y="7666737"/>
                  </a:lnTo>
                  <a:cubicBezTo>
                    <a:pt x="68453" y="7666863"/>
                    <a:pt x="0" y="7598410"/>
                    <a:pt x="0" y="7513955"/>
                  </a:cubicBezTo>
                  <a:close/>
                </a:path>
              </a:pathLst>
            </a:custGeom>
            <a:solidFill>
              <a:srgbClr val="FDF0E8"/>
            </a:solidFill>
            <a:ln w="15900" cap="sq">
              <a:solidFill>
                <a:srgbClr val="F0592B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449175" y="4124325"/>
            <a:ext cx="4400702" cy="517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C2451C"/>
                </a:solidFill>
                <a:latin typeface="Poppins Bold"/>
                <a:ea typeface="Poppins Bold"/>
                <a:cs typeface="Poppins Bold"/>
                <a:sym typeface="Poppins Bold"/>
              </a:rPr>
              <a:t>Fragmented Management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2451C"/>
                </a:solidFill>
                <a:latin typeface="Poppins"/>
                <a:ea typeface="Poppins"/>
                <a:cs typeface="Poppins"/>
                <a:sym typeface="Poppins"/>
              </a:rPr>
              <a:t>Disconnected systems, spreadsheets and manual processes lead to poor visibility, operational delays, excess inventory costs and reactive decision-making.</a:t>
            </a:r>
          </a:p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KEY PAIN POINTS</a:t>
            </a:r>
          </a:p>
          <a:p>
            <a:pPr algn="l" marL="332739" indent="-166370" lvl="1">
              <a:lnSpc>
                <a:spcPts val="1919"/>
              </a:lnSpc>
              <a:buFont typeface="Arial"/>
              <a:buChar char="•"/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No real-time inventory visibility</a:t>
            </a:r>
          </a:p>
          <a:p>
            <a:pPr algn="l" marL="332739" indent="-166370" lvl="1">
              <a:lnSpc>
                <a:spcPts val="1919"/>
              </a:lnSpc>
              <a:buFont typeface="Arial"/>
              <a:buChar char="•"/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Hard to predict shortages &amp; demand</a:t>
            </a:r>
          </a:p>
          <a:p>
            <a:pPr algn="l" marL="332739" indent="-166370" lvl="1">
              <a:lnSpc>
                <a:spcPts val="1919"/>
              </a:lnSpc>
              <a:buFont typeface="Arial"/>
              <a:buChar char="•"/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Manual and error-prone procurement</a:t>
            </a:r>
          </a:p>
          <a:p>
            <a:pPr algn="l" marL="332739" indent="-166370" lvl="1">
              <a:lnSpc>
                <a:spcPts val="1919"/>
              </a:lnSpc>
              <a:buFont typeface="Arial"/>
              <a:buChar char="•"/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No actionable insights on vendor risk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954250" y="742950"/>
            <a:ext cx="2190902" cy="637804"/>
            <a:chOff x="0" y="0"/>
            <a:chExt cx="2921203" cy="8504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1254" cy="850392"/>
            </a:xfrm>
            <a:custGeom>
              <a:avLst/>
              <a:gdLst/>
              <a:ahLst/>
              <a:cxnLst/>
              <a:rect r="r" b="b" t="t" l="l"/>
              <a:pathLst>
                <a:path h="850392" w="2921254">
                  <a:moveTo>
                    <a:pt x="0" y="0"/>
                  </a:moveTo>
                  <a:lnTo>
                    <a:pt x="2921254" y="0"/>
                  </a:lnTo>
                  <a:lnTo>
                    <a:pt x="2921254" y="850392"/>
                  </a:lnTo>
                  <a:lnTo>
                    <a:pt x="0" y="850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9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43000" y="723900"/>
            <a:ext cx="3810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SECTION 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1571625"/>
            <a:ext cx="95250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1"/>
              </a:lnSpc>
            </a:pPr>
            <a:r>
              <a:rPr lang="en-US" b="true" sz="4718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Value proposition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2438400"/>
            <a:ext cx="9525000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Six lines. Together they should read as one sentence.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43000" y="3114675"/>
            <a:ext cx="16002000" cy="15897"/>
            <a:chOff x="0" y="0"/>
            <a:chExt cx="21336000" cy="211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6000" cy="21209"/>
            </a:xfrm>
            <a:custGeom>
              <a:avLst/>
              <a:gdLst/>
              <a:ahLst/>
              <a:cxnLst/>
              <a:rect r="r" b="b" t="t" l="l"/>
              <a:pathLst>
                <a:path h="21209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1209"/>
                  </a:lnTo>
                  <a:lnTo>
                    <a:pt x="0" y="21209"/>
                  </a:lnTo>
                  <a:close/>
                </a:path>
              </a:pathLst>
            </a:custGeom>
            <a:solidFill>
              <a:srgbClr val="C9D7D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43000" y="3352800"/>
            <a:ext cx="2762402" cy="1040101"/>
            <a:chOff x="0" y="0"/>
            <a:chExt cx="3683203" cy="13868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83254" cy="1386840"/>
            </a:xfrm>
            <a:custGeom>
              <a:avLst/>
              <a:gdLst/>
              <a:ahLst/>
              <a:cxnLst/>
              <a:rect r="r" b="b" t="t" l="l"/>
              <a:pathLst>
                <a:path h="1386840" w="3683254">
                  <a:moveTo>
                    <a:pt x="0" y="0"/>
                  </a:moveTo>
                  <a:lnTo>
                    <a:pt x="3683254" y="0"/>
                  </a:lnTo>
                  <a:lnTo>
                    <a:pt x="3683254" y="1386840"/>
                  </a:lnTo>
                  <a:lnTo>
                    <a:pt x="0" y="1386840"/>
                  </a:lnTo>
                  <a:close/>
                </a:path>
              </a:pathLst>
            </a:custGeom>
            <a:solidFill>
              <a:srgbClr val="DFE8E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71600" y="3352800"/>
            <a:ext cx="2305202" cy="1040101"/>
            <a:chOff x="0" y="0"/>
            <a:chExt cx="3073603" cy="13868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73600" cy="1386800"/>
            </a:xfrm>
            <a:custGeom>
              <a:avLst/>
              <a:gdLst/>
              <a:ahLst/>
              <a:cxnLst/>
              <a:rect r="r" b="b" t="t" l="l"/>
              <a:pathLst>
                <a:path h="1386800" w="3073600">
                  <a:moveTo>
                    <a:pt x="0" y="0"/>
                  </a:moveTo>
                  <a:lnTo>
                    <a:pt x="3073600" y="0"/>
                  </a:lnTo>
                  <a:lnTo>
                    <a:pt x="3073600" y="1386800"/>
                  </a:lnTo>
                  <a:lnTo>
                    <a:pt x="0" y="1386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90" t="0" r="-789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3073603" cy="1386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b="true" sz="3200">
                  <a:solidFill>
                    <a:srgbClr val="F0592B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For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905250" y="3352800"/>
            <a:ext cx="13239902" cy="1040101"/>
            <a:chOff x="0" y="0"/>
            <a:chExt cx="17653203" cy="13868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653254" cy="1386840"/>
            </a:xfrm>
            <a:custGeom>
              <a:avLst/>
              <a:gdLst/>
              <a:ahLst/>
              <a:cxnLst/>
              <a:rect r="r" b="b" t="t" l="l"/>
              <a:pathLst>
                <a:path h="1386840" w="17653254">
                  <a:moveTo>
                    <a:pt x="0" y="0"/>
                  </a:moveTo>
                  <a:lnTo>
                    <a:pt x="17653254" y="0"/>
                  </a:lnTo>
                  <a:lnTo>
                    <a:pt x="17653254" y="1386840"/>
                  </a:lnTo>
                  <a:lnTo>
                    <a:pt x="0" y="1386840"/>
                  </a:lnTo>
                  <a:close/>
                </a:path>
              </a:pathLst>
            </a:custGeom>
            <a:solidFill>
              <a:srgbClr val="DFE8E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171950" y="3352800"/>
            <a:ext cx="12706502" cy="1040101"/>
            <a:chOff x="0" y="0"/>
            <a:chExt cx="16942003" cy="138680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942000" cy="1386800"/>
            </a:xfrm>
            <a:custGeom>
              <a:avLst/>
              <a:gdLst/>
              <a:ahLst/>
              <a:cxnLst/>
              <a:rect r="r" b="b" t="t" l="l"/>
              <a:pathLst>
                <a:path h="1386800" w="16942000">
                  <a:moveTo>
                    <a:pt x="0" y="0"/>
                  </a:moveTo>
                  <a:lnTo>
                    <a:pt x="16942000" y="0"/>
                  </a:lnTo>
                  <a:lnTo>
                    <a:pt x="16942000" y="1386800"/>
                  </a:lnTo>
                  <a:lnTo>
                    <a:pt x="0" y="1386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8041" r="0" b="-18804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6942003" cy="1415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A1E16"/>
                  </a:solidFill>
                  <a:latin typeface="Poppins"/>
                  <a:ea typeface="Poppins"/>
                  <a:cs typeface="Poppins"/>
                  <a:sym typeface="Poppins"/>
                </a:rPr>
                <a:t>Semiconductor &amp; electronics supply-chain managers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43000" y="4391025"/>
            <a:ext cx="2762402" cy="1040101"/>
            <a:chOff x="0" y="0"/>
            <a:chExt cx="3683203" cy="138680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83254" cy="1386840"/>
            </a:xfrm>
            <a:custGeom>
              <a:avLst/>
              <a:gdLst/>
              <a:ahLst/>
              <a:cxnLst/>
              <a:rect r="r" b="b" t="t" l="l"/>
              <a:pathLst>
                <a:path h="1386840" w="3683254">
                  <a:moveTo>
                    <a:pt x="0" y="0"/>
                  </a:moveTo>
                  <a:lnTo>
                    <a:pt x="3683254" y="0"/>
                  </a:lnTo>
                  <a:lnTo>
                    <a:pt x="3683254" y="1386840"/>
                  </a:lnTo>
                  <a:lnTo>
                    <a:pt x="0" y="1386840"/>
                  </a:lnTo>
                  <a:close/>
                </a:path>
              </a:pathLst>
            </a:custGeom>
            <a:solidFill>
              <a:srgbClr val="E7EDE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71600" y="4391025"/>
            <a:ext cx="2305202" cy="1040101"/>
            <a:chOff x="0" y="0"/>
            <a:chExt cx="3073603" cy="13868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073600" cy="1386800"/>
            </a:xfrm>
            <a:custGeom>
              <a:avLst/>
              <a:gdLst/>
              <a:ahLst/>
              <a:cxnLst/>
              <a:rect r="r" b="b" t="t" l="l"/>
              <a:pathLst>
                <a:path h="1386800" w="3073600">
                  <a:moveTo>
                    <a:pt x="0" y="0"/>
                  </a:moveTo>
                  <a:lnTo>
                    <a:pt x="3073600" y="0"/>
                  </a:lnTo>
                  <a:lnTo>
                    <a:pt x="3073600" y="1386800"/>
                  </a:lnTo>
                  <a:lnTo>
                    <a:pt x="0" y="1386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90" t="0" r="-789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3073603" cy="1386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b="true" sz="3200">
                  <a:solidFill>
                    <a:srgbClr val="F0592B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Who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905250" y="4391025"/>
            <a:ext cx="13239902" cy="1040101"/>
            <a:chOff x="0" y="0"/>
            <a:chExt cx="17653203" cy="138680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653254" cy="1386840"/>
            </a:xfrm>
            <a:custGeom>
              <a:avLst/>
              <a:gdLst/>
              <a:ahLst/>
              <a:cxnLst/>
              <a:rect r="r" b="b" t="t" l="l"/>
              <a:pathLst>
                <a:path h="1386840" w="17653254">
                  <a:moveTo>
                    <a:pt x="0" y="0"/>
                  </a:moveTo>
                  <a:lnTo>
                    <a:pt x="17653254" y="0"/>
                  </a:lnTo>
                  <a:lnTo>
                    <a:pt x="17653254" y="1386840"/>
                  </a:lnTo>
                  <a:lnTo>
                    <a:pt x="0" y="1386840"/>
                  </a:lnTo>
                  <a:close/>
                </a:path>
              </a:pathLst>
            </a:custGeom>
            <a:solidFill>
              <a:srgbClr val="E7EDEE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171950" y="4391025"/>
            <a:ext cx="12706502" cy="1040100"/>
            <a:chOff x="0" y="0"/>
            <a:chExt cx="16942003" cy="1386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942000" cy="1386798"/>
            </a:xfrm>
            <a:custGeom>
              <a:avLst/>
              <a:gdLst/>
              <a:ahLst/>
              <a:cxnLst/>
              <a:rect r="r" b="b" t="t" l="l"/>
              <a:pathLst>
                <a:path h="1386798" w="16942000">
                  <a:moveTo>
                    <a:pt x="0" y="0"/>
                  </a:moveTo>
                  <a:lnTo>
                    <a:pt x="16942000" y="0"/>
                  </a:lnTo>
                  <a:lnTo>
                    <a:pt x="16942000" y="1386798"/>
                  </a:lnTo>
                  <a:lnTo>
                    <a:pt x="0" y="138679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8041" r="0" b="-18804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6942003" cy="1415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2A1E16"/>
                  </a:solidFill>
                  <a:latin typeface="Poppins"/>
                  <a:ea typeface="Poppins"/>
                  <a:cs typeface="Poppins"/>
                  <a:sym typeface="Poppins"/>
                </a:rPr>
                <a:t>Cannot tell, when a trade notice breaks, which of their own part numbers it hits — by how much, and by when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43000" y="5438775"/>
            <a:ext cx="2762402" cy="1040101"/>
            <a:chOff x="0" y="0"/>
            <a:chExt cx="3683203" cy="138680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83254" cy="1386840"/>
            </a:xfrm>
            <a:custGeom>
              <a:avLst/>
              <a:gdLst/>
              <a:ahLst/>
              <a:cxnLst/>
              <a:rect r="r" b="b" t="t" l="l"/>
              <a:pathLst>
                <a:path h="1386840" w="3683254">
                  <a:moveTo>
                    <a:pt x="0" y="0"/>
                  </a:moveTo>
                  <a:lnTo>
                    <a:pt x="3683254" y="0"/>
                  </a:lnTo>
                  <a:lnTo>
                    <a:pt x="3683254" y="1386840"/>
                  </a:lnTo>
                  <a:lnTo>
                    <a:pt x="0" y="1386840"/>
                  </a:lnTo>
                  <a:close/>
                </a:path>
              </a:pathLst>
            </a:custGeom>
            <a:solidFill>
              <a:srgbClr val="DFE8E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71600" y="5438775"/>
            <a:ext cx="2305202" cy="1040101"/>
            <a:chOff x="0" y="0"/>
            <a:chExt cx="3073603" cy="138680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073600" cy="1386800"/>
            </a:xfrm>
            <a:custGeom>
              <a:avLst/>
              <a:gdLst/>
              <a:ahLst/>
              <a:cxnLst/>
              <a:rect r="r" b="b" t="t" l="l"/>
              <a:pathLst>
                <a:path h="1386800" w="3073600">
                  <a:moveTo>
                    <a:pt x="0" y="0"/>
                  </a:moveTo>
                  <a:lnTo>
                    <a:pt x="3073600" y="0"/>
                  </a:lnTo>
                  <a:lnTo>
                    <a:pt x="3073600" y="1386800"/>
                  </a:lnTo>
                  <a:lnTo>
                    <a:pt x="0" y="1386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90" t="0" r="-789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073603" cy="1386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b="true" sz="3200">
                  <a:solidFill>
                    <a:srgbClr val="F0592B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Our product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905250" y="5438775"/>
            <a:ext cx="13239902" cy="1040101"/>
            <a:chOff x="0" y="0"/>
            <a:chExt cx="17653203" cy="138680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653254" cy="1386840"/>
            </a:xfrm>
            <a:custGeom>
              <a:avLst/>
              <a:gdLst/>
              <a:ahLst/>
              <a:cxnLst/>
              <a:rect r="r" b="b" t="t" l="l"/>
              <a:pathLst>
                <a:path h="1386840" w="17653254">
                  <a:moveTo>
                    <a:pt x="0" y="0"/>
                  </a:moveTo>
                  <a:lnTo>
                    <a:pt x="17653254" y="0"/>
                  </a:lnTo>
                  <a:lnTo>
                    <a:pt x="17653254" y="1386840"/>
                  </a:lnTo>
                  <a:lnTo>
                    <a:pt x="0" y="1386840"/>
                  </a:lnTo>
                  <a:close/>
                </a:path>
              </a:pathLst>
            </a:custGeom>
            <a:solidFill>
              <a:srgbClr val="DFE8E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4171950" y="5438775"/>
            <a:ext cx="12706502" cy="1599654"/>
            <a:chOff x="0" y="0"/>
            <a:chExt cx="16942003" cy="213287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942000" cy="2132870"/>
            </a:xfrm>
            <a:custGeom>
              <a:avLst/>
              <a:gdLst/>
              <a:ahLst/>
              <a:cxnLst/>
              <a:rect r="r" b="b" t="t" l="l"/>
              <a:pathLst>
                <a:path h="2132870" w="16942000">
                  <a:moveTo>
                    <a:pt x="0" y="0"/>
                  </a:moveTo>
                  <a:lnTo>
                    <a:pt x="16942000" y="0"/>
                  </a:lnTo>
                  <a:lnTo>
                    <a:pt x="16942000" y="2132870"/>
                  </a:lnTo>
                  <a:lnTo>
                    <a:pt x="0" y="21328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2265" r="0" b="-8728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16942003" cy="2142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</a:p>
            <a:p>
              <a:pPr algn="l">
                <a:lnSpc>
                  <a:spcPts val="2400"/>
                </a:lnSpc>
              </a:pP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CircuitMind — an AI decision layer that sits on top of the ERP</a:t>
              </a:r>
            </a:p>
            <a:p>
              <a:pPr algn="l">
                <a:lnSpc>
                  <a:spcPts val="2400"/>
                </a:lnSpc>
              </a:pPr>
            </a:p>
            <a:p>
              <a:pPr algn="l">
                <a:lnSpc>
                  <a:spcPts val="240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43000" y="6477000"/>
            <a:ext cx="2762402" cy="1040101"/>
            <a:chOff x="0" y="0"/>
            <a:chExt cx="3683203" cy="138680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683254" cy="1386840"/>
            </a:xfrm>
            <a:custGeom>
              <a:avLst/>
              <a:gdLst/>
              <a:ahLst/>
              <a:cxnLst/>
              <a:rect r="r" b="b" t="t" l="l"/>
              <a:pathLst>
                <a:path h="1386840" w="3683254">
                  <a:moveTo>
                    <a:pt x="0" y="0"/>
                  </a:moveTo>
                  <a:lnTo>
                    <a:pt x="3683254" y="0"/>
                  </a:lnTo>
                  <a:lnTo>
                    <a:pt x="3683254" y="1386840"/>
                  </a:lnTo>
                  <a:lnTo>
                    <a:pt x="0" y="1386840"/>
                  </a:lnTo>
                  <a:close/>
                </a:path>
              </a:pathLst>
            </a:custGeom>
            <a:solidFill>
              <a:srgbClr val="E7EDEE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71600" y="6477000"/>
            <a:ext cx="2305202" cy="1040101"/>
            <a:chOff x="0" y="0"/>
            <a:chExt cx="3073603" cy="138680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073600" cy="1386800"/>
            </a:xfrm>
            <a:custGeom>
              <a:avLst/>
              <a:gdLst/>
              <a:ahLst/>
              <a:cxnLst/>
              <a:rect r="r" b="b" t="t" l="l"/>
              <a:pathLst>
                <a:path h="1386800" w="3073600">
                  <a:moveTo>
                    <a:pt x="0" y="0"/>
                  </a:moveTo>
                  <a:lnTo>
                    <a:pt x="3073600" y="0"/>
                  </a:lnTo>
                  <a:lnTo>
                    <a:pt x="3073600" y="1386800"/>
                  </a:lnTo>
                  <a:lnTo>
                    <a:pt x="0" y="1386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90" t="0" r="-7890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3073603" cy="1386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b="true" sz="3200">
                  <a:solidFill>
                    <a:srgbClr val="F0592B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That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905250" y="6477000"/>
            <a:ext cx="13239902" cy="1040101"/>
            <a:chOff x="0" y="0"/>
            <a:chExt cx="17653203" cy="138680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653254" cy="1386840"/>
            </a:xfrm>
            <a:custGeom>
              <a:avLst/>
              <a:gdLst/>
              <a:ahLst/>
              <a:cxnLst/>
              <a:rect r="r" b="b" t="t" l="l"/>
              <a:pathLst>
                <a:path h="1386840" w="17653254">
                  <a:moveTo>
                    <a:pt x="0" y="0"/>
                  </a:moveTo>
                  <a:lnTo>
                    <a:pt x="17653254" y="0"/>
                  </a:lnTo>
                  <a:lnTo>
                    <a:pt x="17653254" y="1386840"/>
                  </a:lnTo>
                  <a:lnTo>
                    <a:pt x="0" y="1386840"/>
                  </a:lnTo>
                  <a:close/>
                </a:path>
              </a:pathLst>
            </a:custGeom>
            <a:solidFill>
              <a:srgbClr val="E7EDEE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171950" y="6477000"/>
            <a:ext cx="12706502" cy="1040100"/>
            <a:chOff x="0" y="0"/>
            <a:chExt cx="16942003" cy="1386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942000" cy="1386798"/>
            </a:xfrm>
            <a:custGeom>
              <a:avLst/>
              <a:gdLst/>
              <a:ahLst/>
              <a:cxnLst/>
              <a:rect r="r" b="b" t="t" l="l"/>
              <a:pathLst>
                <a:path h="1386798" w="16942000">
                  <a:moveTo>
                    <a:pt x="0" y="0"/>
                  </a:moveTo>
                  <a:lnTo>
                    <a:pt x="16942000" y="0"/>
                  </a:lnTo>
                  <a:lnTo>
                    <a:pt x="16942000" y="1386798"/>
                  </a:lnTo>
                  <a:lnTo>
                    <a:pt x="0" y="138679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8041" r="0" b="-18804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16942003" cy="1415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2A1E16"/>
                  </a:solidFill>
                  <a:latin typeface="Poppins"/>
                  <a:ea typeface="Poppins"/>
                  <a:cs typeface="Poppins"/>
                  <a:sym typeface="Poppins"/>
                </a:rPr>
                <a:t>Turns a published event into a named part, a quantity and a date — then a costed plan, with compatibility verified by rules rather than similarity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43000" y="7515225"/>
            <a:ext cx="2762402" cy="1040101"/>
            <a:chOff x="0" y="0"/>
            <a:chExt cx="3683203" cy="138680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683254" cy="1386840"/>
            </a:xfrm>
            <a:custGeom>
              <a:avLst/>
              <a:gdLst/>
              <a:ahLst/>
              <a:cxnLst/>
              <a:rect r="r" b="b" t="t" l="l"/>
              <a:pathLst>
                <a:path h="1386840" w="3683254">
                  <a:moveTo>
                    <a:pt x="0" y="0"/>
                  </a:moveTo>
                  <a:lnTo>
                    <a:pt x="3683254" y="0"/>
                  </a:lnTo>
                  <a:lnTo>
                    <a:pt x="3683254" y="1386840"/>
                  </a:lnTo>
                  <a:lnTo>
                    <a:pt x="0" y="1386840"/>
                  </a:lnTo>
                  <a:close/>
                </a:path>
              </a:pathLst>
            </a:custGeom>
            <a:solidFill>
              <a:srgbClr val="DFE8EA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71600" y="7515225"/>
            <a:ext cx="2305202" cy="1040101"/>
            <a:chOff x="0" y="0"/>
            <a:chExt cx="3073603" cy="138680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073600" cy="1386800"/>
            </a:xfrm>
            <a:custGeom>
              <a:avLst/>
              <a:gdLst/>
              <a:ahLst/>
              <a:cxnLst/>
              <a:rect r="r" b="b" t="t" l="l"/>
              <a:pathLst>
                <a:path h="1386800" w="3073600">
                  <a:moveTo>
                    <a:pt x="0" y="0"/>
                  </a:moveTo>
                  <a:lnTo>
                    <a:pt x="3073600" y="0"/>
                  </a:lnTo>
                  <a:lnTo>
                    <a:pt x="3073600" y="1386800"/>
                  </a:lnTo>
                  <a:lnTo>
                    <a:pt x="0" y="1386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90" t="0" r="-7890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3073603" cy="1386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b="true" sz="3200">
                  <a:solidFill>
                    <a:srgbClr val="F0592B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Unlike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3905250" y="7515225"/>
            <a:ext cx="13239902" cy="1040101"/>
            <a:chOff x="0" y="0"/>
            <a:chExt cx="17653203" cy="138680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7653254" cy="1386840"/>
            </a:xfrm>
            <a:custGeom>
              <a:avLst/>
              <a:gdLst/>
              <a:ahLst/>
              <a:cxnLst/>
              <a:rect r="r" b="b" t="t" l="l"/>
              <a:pathLst>
                <a:path h="1386840" w="17653254">
                  <a:moveTo>
                    <a:pt x="0" y="0"/>
                  </a:moveTo>
                  <a:lnTo>
                    <a:pt x="17653254" y="0"/>
                  </a:lnTo>
                  <a:lnTo>
                    <a:pt x="17653254" y="1386840"/>
                  </a:lnTo>
                  <a:lnTo>
                    <a:pt x="0" y="1386840"/>
                  </a:lnTo>
                  <a:close/>
                </a:path>
              </a:pathLst>
            </a:custGeom>
            <a:solidFill>
              <a:srgbClr val="DFE8EA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4171950" y="7515225"/>
            <a:ext cx="12706502" cy="1040100"/>
            <a:chOff x="0" y="0"/>
            <a:chExt cx="16942003" cy="1386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6942000" cy="1386798"/>
            </a:xfrm>
            <a:custGeom>
              <a:avLst/>
              <a:gdLst/>
              <a:ahLst/>
              <a:cxnLst/>
              <a:rect r="r" b="b" t="t" l="l"/>
              <a:pathLst>
                <a:path h="1386798" w="16942000">
                  <a:moveTo>
                    <a:pt x="0" y="0"/>
                  </a:moveTo>
                  <a:lnTo>
                    <a:pt x="16942000" y="0"/>
                  </a:lnTo>
                  <a:lnTo>
                    <a:pt x="16942000" y="1386798"/>
                  </a:lnTo>
                  <a:lnTo>
                    <a:pt x="0" y="138679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8041" r="0" b="-18804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16942003" cy="1415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2A1E16"/>
                  </a:solidFill>
                  <a:latin typeface="Poppins"/>
                  <a:ea typeface="Poppins"/>
                  <a:cs typeface="Poppins"/>
                  <a:sym typeface="Poppins"/>
                </a:rPr>
                <a:t>SAP IBP, Oracle SCM and Blue Yonder, which plan from internal signals — and spreadsheets, which cannot react at all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43000" y="8553450"/>
            <a:ext cx="2762402" cy="1040101"/>
            <a:chOff x="0" y="0"/>
            <a:chExt cx="3683203" cy="138680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683254" cy="1386840"/>
            </a:xfrm>
            <a:custGeom>
              <a:avLst/>
              <a:gdLst/>
              <a:ahLst/>
              <a:cxnLst/>
              <a:rect r="r" b="b" t="t" l="l"/>
              <a:pathLst>
                <a:path h="1386840" w="3683254">
                  <a:moveTo>
                    <a:pt x="0" y="0"/>
                  </a:moveTo>
                  <a:lnTo>
                    <a:pt x="3683254" y="0"/>
                  </a:lnTo>
                  <a:lnTo>
                    <a:pt x="3683254" y="1386840"/>
                  </a:lnTo>
                  <a:lnTo>
                    <a:pt x="0" y="1386840"/>
                  </a:lnTo>
                  <a:close/>
                </a:path>
              </a:pathLst>
            </a:custGeom>
            <a:solidFill>
              <a:srgbClr val="E7EDEE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371600" y="8553450"/>
            <a:ext cx="2305202" cy="1040101"/>
            <a:chOff x="0" y="0"/>
            <a:chExt cx="3073603" cy="138680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073600" cy="1386800"/>
            </a:xfrm>
            <a:custGeom>
              <a:avLst/>
              <a:gdLst/>
              <a:ahLst/>
              <a:cxnLst/>
              <a:rect r="r" b="b" t="t" l="l"/>
              <a:pathLst>
                <a:path h="1386800" w="3073600">
                  <a:moveTo>
                    <a:pt x="0" y="0"/>
                  </a:moveTo>
                  <a:lnTo>
                    <a:pt x="3073600" y="0"/>
                  </a:lnTo>
                  <a:lnTo>
                    <a:pt x="3073600" y="1386800"/>
                  </a:lnTo>
                  <a:lnTo>
                    <a:pt x="0" y="1386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90" t="0" r="-7890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073603" cy="1386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b="true" sz="3200">
                  <a:solidFill>
                    <a:srgbClr val="F0592B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We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3905250" y="8553450"/>
            <a:ext cx="13239902" cy="1040101"/>
            <a:chOff x="0" y="0"/>
            <a:chExt cx="17653203" cy="138680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7653254" cy="1386840"/>
            </a:xfrm>
            <a:custGeom>
              <a:avLst/>
              <a:gdLst/>
              <a:ahLst/>
              <a:cxnLst/>
              <a:rect r="r" b="b" t="t" l="l"/>
              <a:pathLst>
                <a:path h="1386840" w="17653254">
                  <a:moveTo>
                    <a:pt x="0" y="0"/>
                  </a:moveTo>
                  <a:lnTo>
                    <a:pt x="17653254" y="0"/>
                  </a:lnTo>
                  <a:lnTo>
                    <a:pt x="17653254" y="1386840"/>
                  </a:lnTo>
                  <a:lnTo>
                    <a:pt x="0" y="1386840"/>
                  </a:lnTo>
                  <a:close/>
                </a:path>
              </a:pathLst>
            </a:custGeom>
            <a:solidFill>
              <a:srgbClr val="E7EDEE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4171950" y="8553450"/>
            <a:ext cx="12706502" cy="1040100"/>
            <a:chOff x="0" y="0"/>
            <a:chExt cx="16942003" cy="1386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6942000" cy="1386798"/>
            </a:xfrm>
            <a:custGeom>
              <a:avLst/>
              <a:gdLst/>
              <a:ahLst/>
              <a:cxnLst/>
              <a:rect r="r" b="b" t="t" l="l"/>
              <a:pathLst>
                <a:path h="1386798" w="16942000">
                  <a:moveTo>
                    <a:pt x="0" y="0"/>
                  </a:moveTo>
                  <a:lnTo>
                    <a:pt x="16942000" y="0"/>
                  </a:lnTo>
                  <a:lnTo>
                    <a:pt x="16942000" y="1386798"/>
                  </a:lnTo>
                  <a:lnTo>
                    <a:pt x="0" y="138679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8041" r="0" b="-18804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6942003" cy="1415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>
                  <a:solidFill>
                    <a:srgbClr val="F059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Resolve the outside world against your own bill of materials</a:t>
              </a:r>
              <a:r>
                <a:rPr lang="en-US" b="true" sz="2000">
                  <a:solidFill>
                    <a:srgbClr val="2A1E1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— and stop at a person before anything is ordered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3000" y="723852"/>
            <a:ext cx="3810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SECTION 03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954250" y="742902"/>
            <a:ext cx="2190902" cy="637804"/>
            <a:chOff x="0" y="0"/>
            <a:chExt cx="2921203" cy="8504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1254" cy="850392"/>
            </a:xfrm>
            <a:custGeom>
              <a:avLst/>
              <a:gdLst/>
              <a:ahLst/>
              <a:cxnLst/>
              <a:rect r="r" b="b" t="t" l="l"/>
              <a:pathLst>
                <a:path h="850392" w="2921254">
                  <a:moveTo>
                    <a:pt x="0" y="0"/>
                  </a:moveTo>
                  <a:lnTo>
                    <a:pt x="2921254" y="0"/>
                  </a:lnTo>
                  <a:lnTo>
                    <a:pt x="2921254" y="850392"/>
                  </a:lnTo>
                  <a:lnTo>
                    <a:pt x="0" y="850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9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43000" y="1580559"/>
            <a:ext cx="95250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1"/>
              </a:lnSpc>
            </a:pPr>
            <a:r>
              <a:rPr lang="en-US" b="true" sz="4718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Core user journey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2442315"/>
            <a:ext cx="9525000" cy="461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Trigger to outcome, in seven steps.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43000" y="3113799"/>
            <a:ext cx="16002000" cy="15897"/>
            <a:chOff x="0" y="0"/>
            <a:chExt cx="21336000" cy="211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6000" cy="21209"/>
            </a:xfrm>
            <a:custGeom>
              <a:avLst/>
              <a:gdLst/>
              <a:ahLst/>
              <a:cxnLst/>
              <a:rect r="r" b="b" t="t" l="l"/>
              <a:pathLst>
                <a:path h="21209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1209"/>
                  </a:lnTo>
                  <a:lnTo>
                    <a:pt x="0" y="21209"/>
                  </a:lnTo>
                  <a:close/>
                </a:path>
              </a:pathLst>
            </a:custGeom>
            <a:solidFill>
              <a:srgbClr val="C9D7D9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43000" y="3339198"/>
            <a:ext cx="212219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Trigger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55670" y="3339198"/>
            <a:ext cx="212219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User entry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69292" y="3339198"/>
            <a:ext cx="212219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User action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81962" y="3339198"/>
            <a:ext cx="212219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/ AI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95585" y="3339198"/>
            <a:ext cx="212219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Result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08255" y="3339198"/>
            <a:ext cx="212219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User action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21877" y="3339198"/>
            <a:ext cx="212219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Outcome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33475" y="3843338"/>
            <a:ext cx="2143201" cy="5767502"/>
            <a:chOff x="0" y="0"/>
            <a:chExt cx="2857602" cy="769000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57627" cy="7689977"/>
            </a:xfrm>
            <a:custGeom>
              <a:avLst/>
              <a:gdLst/>
              <a:ahLst/>
              <a:cxnLst/>
              <a:rect r="r" b="b" t="t" l="l"/>
              <a:pathLst>
                <a:path h="7689977" w="2857627">
                  <a:moveTo>
                    <a:pt x="0" y="0"/>
                  </a:moveTo>
                  <a:lnTo>
                    <a:pt x="2857627" y="0"/>
                  </a:lnTo>
                  <a:lnTo>
                    <a:pt x="2857627" y="7689977"/>
                  </a:lnTo>
                  <a:lnTo>
                    <a:pt x="0" y="768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33500" y="4023370"/>
            <a:ext cx="1741199" cy="5387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Supplier delay detected or demand suddenly increases.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448050" y="3843338"/>
            <a:ext cx="2138401" cy="5767502"/>
            <a:chOff x="0" y="0"/>
            <a:chExt cx="2851201" cy="769000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851150" cy="7689977"/>
            </a:xfrm>
            <a:custGeom>
              <a:avLst/>
              <a:gdLst/>
              <a:ahLst/>
              <a:cxnLst/>
              <a:rect r="r" b="b" t="t" l="l"/>
              <a:pathLst>
                <a:path h="7689977" w="2851150">
                  <a:moveTo>
                    <a:pt x="0" y="0"/>
                  </a:moveTo>
                  <a:lnTo>
                    <a:pt x="2851150" y="0"/>
                  </a:lnTo>
                  <a:lnTo>
                    <a:pt x="2851150" y="7689977"/>
                  </a:lnTo>
                  <a:lnTo>
                    <a:pt x="0" y="768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3646170" y="4023370"/>
            <a:ext cx="1741199" cy="5387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Supply Chain Control Tower.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757862" y="3843338"/>
            <a:ext cx="2143201" cy="5767502"/>
            <a:chOff x="0" y="0"/>
            <a:chExt cx="2857602" cy="769000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57627" cy="7689977"/>
            </a:xfrm>
            <a:custGeom>
              <a:avLst/>
              <a:gdLst/>
              <a:ahLst/>
              <a:cxnLst/>
              <a:rect r="r" b="b" t="t" l="l"/>
              <a:pathLst>
                <a:path h="7689977" w="2857627">
                  <a:moveTo>
                    <a:pt x="0" y="0"/>
                  </a:moveTo>
                  <a:lnTo>
                    <a:pt x="2857627" y="0"/>
                  </a:lnTo>
                  <a:lnTo>
                    <a:pt x="2857627" y="7689977"/>
                  </a:lnTo>
                  <a:lnTo>
                    <a:pt x="0" y="768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959792" y="4023370"/>
            <a:ext cx="1741199" cy="5387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Select the affected supplier or component.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072438" y="3843338"/>
            <a:ext cx="2143201" cy="5767502"/>
            <a:chOff x="0" y="0"/>
            <a:chExt cx="2857602" cy="769000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857627" cy="7689977"/>
            </a:xfrm>
            <a:custGeom>
              <a:avLst/>
              <a:gdLst/>
              <a:ahLst/>
              <a:cxnLst/>
              <a:rect r="r" b="b" t="t" l="l"/>
              <a:pathLst>
                <a:path h="7689977" w="2857627">
                  <a:moveTo>
                    <a:pt x="0" y="0"/>
                  </a:moveTo>
                  <a:lnTo>
                    <a:pt x="2857627" y="0"/>
                  </a:lnTo>
                  <a:lnTo>
                    <a:pt x="2857627" y="7689977"/>
                  </a:lnTo>
                  <a:lnTo>
                    <a:pt x="0" y="768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1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8272462" y="4023370"/>
            <a:ext cx="1741199" cy="5387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2451C"/>
                </a:solidFill>
                <a:latin typeface="Poppins"/>
                <a:ea typeface="Poppins"/>
                <a:cs typeface="Poppins"/>
                <a:sym typeface="Poppins"/>
              </a:rPr>
              <a:t>Analyses BOM, inventory, PO, demand, lead time and production data.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387012" y="3843338"/>
            <a:ext cx="2138401" cy="5767502"/>
            <a:chOff x="0" y="0"/>
            <a:chExt cx="2851201" cy="769000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51150" cy="7689977"/>
            </a:xfrm>
            <a:custGeom>
              <a:avLst/>
              <a:gdLst/>
              <a:ahLst/>
              <a:cxnLst/>
              <a:rect r="r" b="b" t="t" l="l"/>
              <a:pathLst>
                <a:path h="7689977" w="2851150">
                  <a:moveTo>
                    <a:pt x="0" y="0"/>
                  </a:moveTo>
                  <a:lnTo>
                    <a:pt x="2851150" y="0"/>
                  </a:lnTo>
                  <a:lnTo>
                    <a:pt x="2851150" y="7689977"/>
                  </a:lnTo>
                  <a:lnTo>
                    <a:pt x="0" y="768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0586085" y="4023370"/>
            <a:ext cx="1741199" cy="5387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Shortage risk, expected shortage date, and affected products, factories and customers.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696825" y="3843338"/>
            <a:ext cx="2143201" cy="5767502"/>
            <a:chOff x="0" y="0"/>
            <a:chExt cx="2857602" cy="769000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857627" cy="7689977"/>
            </a:xfrm>
            <a:custGeom>
              <a:avLst/>
              <a:gdLst/>
              <a:ahLst/>
              <a:cxnLst/>
              <a:rect r="r" b="b" t="t" l="l"/>
              <a:pathLst>
                <a:path h="7689977" w="2857627">
                  <a:moveTo>
                    <a:pt x="0" y="0"/>
                  </a:moveTo>
                  <a:lnTo>
                    <a:pt x="2857627" y="0"/>
                  </a:lnTo>
                  <a:lnTo>
                    <a:pt x="2857627" y="7689977"/>
                  </a:lnTo>
                  <a:lnTo>
                    <a:pt x="0" y="768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2898755" y="4023370"/>
            <a:ext cx="1741199" cy="5387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Review the AI recommendation and supporting evidence.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5013943" y="3843985"/>
            <a:ext cx="2138077" cy="5765073"/>
            <a:chOff x="0" y="0"/>
            <a:chExt cx="2850769" cy="768676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850769" cy="7686802"/>
            </a:xfrm>
            <a:custGeom>
              <a:avLst/>
              <a:gdLst/>
              <a:ahLst/>
              <a:cxnLst/>
              <a:rect r="r" b="b" t="t" l="l"/>
              <a:pathLst>
                <a:path h="7686802" w="2850769">
                  <a:moveTo>
                    <a:pt x="0" y="0"/>
                  </a:moveTo>
                  <a:lnTo>
                    <a:pt x="2850769" y="0"/>
                  </a:lnTo>
                  <a:lnTo>
                    <a:pt x="2850769" y="7686802"/>
                  </a:lnTo>
                  <a:lnTo>
                    <a:pt x="0" y="7686802"/>
                  </a:lnTo>
                  <a:close/>
                </a:path>
              </a:pathLst>
            </a:custGeom>
            <a:solidFill>
              <a:srgbClr val="FDF0E8"/>
            </a:solidFill>
            <a:ln w="15875" cap="sq">
              <a:solidFill>
                <a:srgbClr val="F0592B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5212377" y="4023370"/>
            <a:ext cx="1741199" cy="5387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2451C"/>
                </a:solidFill>
                <a:latin typeface="Poppins"/>
                <a:ea typeface="Poppins"/>
                <a:cs typeface="Poppins"/>
                <a:sym typeface="Poppins"/>
              </a:rPr>
              <a:t>Approve action early and prevent production disruption.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3000" y="723900"/>
            <a:ext cx="28575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SECTION 04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954250" y="742950"/>
            <a:ext cx="2190902" cy="637804"/>
            <a:chOff x="0" y="0"/>
            <a:chExt cx="2921203" cy="8504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1254" cy="850392"/>
            </a:xfrm>
            <a:custGeom>
              <a:avLst/>
              <a:gdLst/>
              <a:ahLst/>
              <a:cxnLst/>
              <a:rect r="r" b="b" t="t" l="l"/>
              <a:pathLst>
                <a:path h="850392" w="2921254">
                  <a:moveTo>
                    <a:pt x="0" y="0"/>
                  </a:moveTo>
                  <a:lnTo>
                    <a:pt x="2921254" y="0"/>
                  </a:lnTo>
                  <a:lnTo>
                    <a:pt x="2921254" y="850392"/>
                  </a:lnTo>
                  <a:lnTo>
                    <a:pt x="0" y="850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9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43000" y="1581150"/>
            <a:ext cx="95250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1"/>
              </a:lnSpc>
            </a:pPr>
            <a:r>
              <a:rPr lang="en-US" b="true" sz="4718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Core 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2438400"/>
            <a:ext cx="160020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Every feature traces back to a problem found in Phase 1. All four are built and running.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43000" y="3114675"/>
            <a:ext cx="16002000" cy="19202"/>
            <a:chOff x="0" y="0"/>
            <a:chExt cx="21336000" cy="256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6000" cy="25654"/>
            </a:xfrm>
            <a:custGeom>
              <a:avLst/>
              <a:gdLst/>
              <a:ahLst/>
              <a:cxnLst/>
              <a:rect r="r" b="b" t="t" l="l"/>
              <a:pathLst>
                <a:path h="2565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654"/>
                  </a:lnTo>
                  <a:lnTo>
                    <a:pt x="0" y="25654"/>
                  </a:lnTo>
                  <a:close/>
                </a:path>
              </a:pathLst>
            </a:custGeom>
            <a:solidFill>
              <a:srgbClr val="C9D7D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1600" y="3448050"/>
            <a:ext cx="5238902" cy="381000"/>
            <a:chOff x="0" y="0"/>
            <a:chExt cx="6985203" cy="50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85200" cy="508000"/>
            </a:xfrm>
            <a:custGeom>
              <a:avLst/>
              <a:gdLst/>
              <a:ahLst/>
              <a:cxnLst/>
              <a:rect r="r" b="b" t="t" l="l"/>
              <a:pathLst>
                <a:path h="508000" w="6985200">
                  <a:moveTo>
                    <a:pt x="0" y="0"/>
                  </a:moveTo>
                  <a:lnTo>
                    <a:pt x="6985200" y="0"/>
                  </a:lnTo>
                  <a:lnTo>
                    <a:pt x="6985200" y="508000"/>
                  </a:lnTo>
                  <a:lnTo>
                    <a:pt x="0" y="508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7927" r="0" b="-21792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985203" cy="527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A393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FEATURE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62800" y="3448050"/>
            <a:ext cx="7143902" cy="381000"/>
            <a:chOff x="0" y="0"/>
            <a:chExt cx="9525203" cy="508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25200" cy="508000"/>
            </a:xfrm>
            <a:custGeom>
              <a:avLst/>
              <a:gdLst/>
              <a:ahLst/>
              <a:cxnLst/>
              <a:rect r="r" b="b" t="t" l="l"/>
              <a:pathLst>
                <a:path h="508000" w="9525200">
                  <a:moveTo>
                    <a:pt x="0" y="0"/>
                  </a:moveTo>
                  <a:lnTo>
                    <a:pt x="9525200" y="0"/>
                  </a:lnTo>
                  <a:lnTo>
                    <a:pt x="9525200" y="508000"/>
                  </a:lnTo>
                  <a:lnTo>
                    <a:pt x="0" y="508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5352" r="0" b="-31535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9525203" cy="527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A393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 SOLVED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897100" y="3448050"/>
            <a:ext cx="2095500" cy="440893"/>
            <a:chOff x="0" y="0"/>
            <a:chExt cx="2794000" cy="5878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94000" cy="587858"/>
            </a:xfrm>
            <a:custGeom>
              <a:avLst/>
              <a:gdLst/>
              <a:ahLst/>
              <a:cxnLst/>
              <a:rect r="r" b="b" t="t" l="l"/>
              <a:pathLst>
                <a:path h="587858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587858"/>
                  </a:lnTo>
                  <a:lnTo>
                    <a:pt x="0" y="58785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9401" r="0" b="-3581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794000" cy="606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16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A393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STATUS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rot="4080">
            <a:off x="1133465" y="3876675"/>
            <a:ext cx="16021060" cy="0"/>
          </a:xfrm>
          <a:prstGeom prst="line">
            <a:avLst/>
          </a:prstGeom>
          <a:ln cap="rnd" w="19050">
            <a:solidFill>
              <a:srgbClr val="2A1E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143000" y="3905250"/>
            <a:ext cx="16002000" cy="1428902"/>
            <a:chOff x="0" y="0"/>
            <a:chExt cx="21336000" cy="19052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336000" cy="1905254"/>
            </a:xfrm>
            <a:custGeom>
              <a:avLst/>
              <a:gdLst/>
              <a:ahLst/>
              <a:cxnLst/>
              <a:rect r="r" b="b" t="t" l="l"/>
              <a:pathLst>
                <a:path h="190525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905254"/>
                  </a:lnTo>
                  <a:lnTo>
                    <a:pt x="0" y="1905254"/>
                  </a:lnTo>
                  <a:close/>
                </a:path>
              </a:pathLst>
            </a:custGeom>
            <a:solidFill>
              <a:srgbClr val="DFE8E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71600" y="4048125"/>
            <a:ext cx="5238902" cy="1143000"/>
            <a:chOff x="0" y="0"/>
            <a:chExt cx="6985203" cy="1524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852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6985200">
                  <a:moveTo>
                    <a:pt x="0" y="0"/>
                  </a:moveTo>
                  <a:lnTo>
                    <a:pt x="6985200" y="0"/>
                  </a:lnTo>
                  <a:lnTo>
                    <a:pt x="698520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309" r="0" b="-3930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6985203" cy="1552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>
                  <a:solidFill>
                    <a:srgbClr val="2A1E1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Supply Chain Dependency Graph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162800" y="4048125"/>
            <a:ext cx="7143902" cy="1143000"/>
            <a:chOff x="0" y="0"/>
            <a:chExt cx="9525203" cy="1524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5252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9525200">
                  <a:moveTo>
                    <a:pt x="0" y="0"/>
                  </a:moveTo>
                  <a:lnTo>
                    <a:pt x="9525200" y="0"/>
                  </a:lnTo>
                  <a:lnTo>
                    <a:pt x="952520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1784" r="0" b="-7178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9525203" cy="1552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7A6A5B"/>
                  </a:solidFill>
                  <a:latin typeface="Poppins"/>
                  <a:ea typeface="Poppins"/>
                  <a:cs typeface="Poppins"/>
                  <a:sym typeface="Poppins"/>
                </a:rPr>
                <a:t>Traces vendor and component dependencies to show affected products and production.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668500" y="4048125"/>
            <a:ext cx="2476500" cy="1143000"/>
            <a:chOff x="0" y="0"/>
            <a:chExt cx="3302000" cy="1524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30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3302000" cy="154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trike="noStrike" u="none">
                  <a:solidFill>
                    <a:srgbClr val="F059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BUILT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rot="2040">
            <a:off x="1138238" y="5319712"/>
            <a:ext cx="16011525" cy="0"/>
          </a:xfrm>
          <a:prstGeom prst="line">
            <a:avLst/>
          </a:prstGeom>
          <a:ln cap="rnd" w="9525">
            <a:solidFill>
              <a:srgbClr val="B9CAC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371600" y="5476875"/>
            <a:ext cx="5238902" cy="1143000"/>
            <a:chOff x="0" y="0"/>
            <a:chExt cx="6985203" cy="1524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9852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6985200">
                  <a:moveTo>
                    <a:pt x="0" y="0"/>
                  </a:moveTo>
                  <a:lnTo>
                    <a:pt x="6985200" y="0"/>
                  </a:lnTo>
                  <a:lnTo>
                    <a:pt x="698520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309" r="0" b="-3930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6985203" cy="1552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>
                  <a:solidFill>
                    <a:srgbClr val="2A1E1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Shortage Risk Prediction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162800" y="5476875"/>
            <a:ext cx="7143902" cy="1143000"/>
            <a:chOff x="0" y="0"/>
            <a:chExt cx="9525203" cy="1524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5252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9525200">
                  <a:moveTo>
                    <a:pt x="0" y="0"/>
                  </a:moveTo>
                  <a:lnTo>
                    <a:pt x="9525200" y="0"/>
                  </a:lnTo>
                  <a:lnTo>
                    <a:pt x="952520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1784" r="0" b="-7178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9525203" cy="1552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040"/>
                </a:lnSpc>
                <a:spcBef>
                  <a:spcPct val="0"/>
                </a:spcBef>
              </a:pPr>
              <a:r>
                <a:rPr lang="en-US" sz="1700" strike="noStrike" u="none">
                  <a:solidFill>
                    <a:srgbClr val="7A6A5B"/>
                  </a:solidFill>
                  <a:latin typeface="Poppins"/>
                  <a:ea typeface="Poppins"/>
                  <a:cs typeface="Poppins"/>
                  <a:sym typeface="Poppins"/>
                </a:rPr>
                <a:t>Runs a month-by-month stock ledger over demand, stock, open POs and lead times to show what runs out, and when.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668500" y="5476875"/>
            <a:ext cx="2476500" cy="1143000"/>
            <a:chOff x="0" y="0"/>
            <a:chExt cx="3302000" cy="1524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30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3302000" cy="154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trike="noStrike" u="none">
                  <a:solidFill>
                    <a:srgbClr val="F059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BUILT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 rot="2040">
            <a:off x="1138238" y="6738938"/>
            <a:ext cx="16011525" cy="0"/>
          </a:xfrm>
          <a:prstGeom prst="line">
            <a:avLst/>
          </a:prstGeom>
          <a:ln cap="rnd" w="9525">
            <a:solidFill>
              <a:srgbClr val="B9CAC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1143000" y="6753225"/>
            <a:ext cx="16002000" cy="1428902"/>
            <a:chOff x="0" y="0"/>
            <a:chExt cx="21336000" cy="190520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336000" cy="1905254"/>
            </a:xfrm>
            <a:custGeom>
              <a:avLst/>
              <a:gdLst/>
              <a:ahLst/>
              <a:cxnLst/>
              <a:rect r="r" b="b" t="t" l="l"/>
              <a:pathLst>
                <a:path h="190525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905254"/>
                  </a:lnTo>
                  <a:lnTo>
                    <a:pt x="0" y="1905254"/>
                  </a:lnTo>
                  <a:close/>
                </a:path>
              </a:pathLst>
            </a:custGeom>
            <a:solidFill>
              <a:srgbClr val="DFE8E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71600" y="6896100"/>
            <a:ext cx="5238902" cy="1143000"/>
            <a:chOff x="0" y="0"/>
            <a:chExt cx="6985203" cy="1524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9852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6985200">
                  <a:moveTo>
                    <a:pt x="0" y="0"/>
                  </a:moveTo>
                  <a:lnTo>
                    <a:pt x="6985200" y="0"/>
                  </a:lnTo>
                  <a:lnTo>
                    <a:pt x="698520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309" r="0" b="-3930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6985203" cy="1552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>
                  <a:solidFill>
                    <a:srgbClr val="2A1E1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Explainable AI Recommendations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162800" y="6896100"/>
            <a:ext cx="7143902" cy="1143000"/>
            <a:chOff x="0" y="0"/>
            <a:chExt cx="9525203" cy="1524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5252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9525200">
                  <a:moveTo>
                    <a:pt x="0" y="0"/>
                  </a:moveTo>
                  <a:lnTo>
                    <a:pt x="9525200" y="0"/>
                  </a:lnTo>
                  <a:lnTo>
                    <a:pt x="952520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1784" r="0" b="-7178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9525203" cy="1552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040"/>
                </a:lnSpc>
                <a:spcBef>
                  <a:spcPct val="0"/>
                </a:spcBef>
              </a:pPr>
              <a:r>
                <a:rPr lang="en-US" sz="1700" strike="noStrike" u="none">
                  <a:solidFill>
                    <a:srgbClr val="7A6A5B"/>
                  </a:solidFill>
                  <a:latin typeface="Poppins"/>
                  <a:ea typeface="Poppins"/>
                  <a:cs typeface="Poppins"/>
                  <a:sym typeface="Poppins"/>
                </a:rPr>
                <a:t>Recommends a costed plan and shows the options it rejected, with the reason for each.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4668500" y="6896100"/>
            <a:ext cx="2476500" cy="1143000"/>
            <a:chOff x="0" y="0"/>
            <a:chExt cx="3302000" cy="15240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30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3302000" cy="154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trike="noStrike" u="none">
                  <a:solidFill>
                    <a:srgbClr val="F059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BUILT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2040">
            <a:off x="1138238" y="8167688"/>
            <a:ext cx="16011525" cy="0"/>
          </a:xfrm>
          <a:prstGeom prst="line">
            <a:avLst/>
          </a:prstGeom>
          <a:ln cap="rnd" w="9525">
            <a:solidFill>
              <a:srgbClr val="B9CAC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371600" y="8324850"/>
            <a:ext cx="5238902" cy="1143000"/>
            <a:chOff x="0" y="0"/>
            <a:chExt cx="6985203" cy="1524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9852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6985200">
                  <a:moveTo>
                    <a:pt x="0" y="0"/>
                  </a:moveTo>
                  <a:lnTo>
                    <a:pt x="6985200" y="0"/>
                  </a:lnTo>
                  <a:lnTo>
                    <a:pt x="698520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309" r="0" b="-3930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6985203" cy="1552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>
                  <a:solidFill>
                    <a:srgbClr val="2A1E1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Supplier &amp; Inventory Intelligence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162800" y="8324850"/>
            <a:ext cx="7143902" cy="1143000"/>
            <a:chOff x="0" y="0"/>
            <a:chExt cx="9525203" cy="15240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5252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9525200">
                  <a:moveTo>
                    <a:pt x="0" y="0"/>
                  </a:moveTo>
                  <a:lnTo>
                    <a:pt x="9525200" y="0"/>
                  </a:lnTo>
                  <a:lnTo>
                    <a:pt x="952520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1784" r="0" b="-7178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9525203" cy="1552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7A6A5B"/>
                  </a:solidFill>
                  <a:latin typeface="Poppins"/>
                  <a:ea typeface="Poppins"/>
                  <a:cs typeface="Poppins"/>
                  <a:sym typeface="Poppins"/>
                </a:rPr>
                <a:t>Scores supplier risk and identifies usable inventory and lead-time issues.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668500" y="8324850"/>
            <a:ext cx="2476500" cy="1143000"/>
            <a:chOff x="0" y="0"/>
            <a:chExt cx="3302000" cy="1524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30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3302000" cy="154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trike="noStrike" u="none">
                  <a:solidFill>
                    <a:srgbClr val="F059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BUILT</a:t>
              </a:r>
            </a:p>
          </p:txBody>
        </p:sp>
      </p:grpSp>
      <p:sp>
        <p:nvSpPr>
          <p:cNvPr name="AutoShape 63" id="63"/>
          <p:cNvSpPr/>
          <p:nvPr/>
        </p:nvSpPr>
        <p:spPr>
          <a:xfrm rot="2040">
            <a:off x="1138238" y="9586912"/>
            <a:ext cx="16011525" cy="0"/>
          </a:xfrm>
          <a:prstGeom prst="line">
            <a:avLst/>
          </a:prstGeom>
          <a:ln cap="rnd" w="9525">
            <a:solidFill>
              <a:srgbClr val="B9CAC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54250" y="742902"/>
            <a:ext cx="2190750" cy="637670"/>
            <a:chOff x="0" y="0"/>
            <a:chExt cx="2921000" cy="85022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921000" cy="850265"/>
            </a:xfrm>
            <a:custGeom>
              <a:avLst/>
              <a:gdLst/>
              <a:ahLst/>
              <a:cxnLst/>
              <a:rect r="r" b="b" t="t" l="l"/>
              <a:pathLst>
                <a:path h="850265" w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850265"/>
                  </a:lnTo>
                  <a:lnTo>
                    <a:pt x="0" y="850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" y="3113799"/>
            <a:ext cx="16002000" cy="15878"/>
            <a:chOff x="0" y="0"/>
            <a:chExt cx="21336000" cy="211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336000" cy="21209"/>
            </a:xfrm>
            <a:custGeom>
              <a:avLst/>
              <a:gdLst/>
              <a:ahLst/>
              <a:cxnLst/>
              <a:rect r="r" b="b" t="t" l="l"/>
              <a:pathLst>
                <a:path h="21209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1209"/>
                  </a:lnTo>
                  <a:lnTo>
                    <a:pt x="0" y="21209"/>
                  </a:lnTo>
                  <a:close/>
                </a:path>
              </a:pathLst>
            </a:custGeom>
            <a:solidFill>
              <a:srgbClr val="C9D7D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68403" y="3364592"/>
            <a:ext cx="4035428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Screen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64153" y="3364592"/>
            <a:ext cx="4035428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Screen 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17236" y="3253502"/>
            <a:ext cx="9426869" cy="2603511"/>
            <a:chOff x="0" y="0"/>
            <a:chExt cx="34913854" cy="96425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913853" cy="9642504"/>
            </a:xfrm>
            <a:custGeom>
              <a:avLst/>
              <a:gdLst/>
              <a:ahLst/>
              <a:cxnLst/>
              <a:rect r="r" b="b" t="t" l="l"/>
              <a:pathLst>
                <a:path h="9642504" w="34913853">
                  <a:moveTo>
                    <a:pt x="0" y="0"/>
                  </a:moveTo>
                  <a:lnTo>
                    <a:pt x="34913853" y="0"/>
                  </a:lnTo>
                  <a:lnTo>
                    <a:pt x="34913853" y="9642504"/>
                  </a:lnTo>
                  <a:lnTo>
                    <a:pt x="0" y="9642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294" r="0" b="-329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17236" y="6467135"/>
            <a:ext cx="9426869" cy="3181568"/>
          </a:xfrm>
          <a:custGeom>
            <a:avLst/>
            <a:gdLst/>
            <a:ahLst/>
            <a:cxnLst/>
            <a:rect r="r" b="b" t="t" l="l"/>
            <a:pathLst>
              <a:path h="3181568" w="9426869">
                <a:moveTo>
                  <a:pt x="0" y="0"/>
                </a:moveTo>
                <a:lnTo>
                  <a:pt x="9426869" y="0"/>
                </a:lnTo>
                <a:lnTo>
                  <a:pt x="9426869" y="3181568"/>
                </a:lnTo>
                <a:lnTo>
                  <a:pt x="0" y="31815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363195" y="3253502"/>
            <a:ext cx="6724204" cy="3213633"/>
          </a:xfrm>
          <a:custGeom>
            <a:avLst/>
            <a:gdLst/>
            <a:ahLst/>
            <a:cxnLst/>
            <a:rect r="r" b="b" t="t" l="l"/>
            <a:pathLst>
              <a:path h="3213633" w="6724204">
                <a:moveTo>
                  <a:pt x="0" y="0"/>
                </a:moveTo>
                <a:lnTo>
                  <a:pt x="6724204" y="0"/>
                </a:lnTo>
                <a:lnTo>
                  <a:pt x="6724204" y="3213633"/>
                </a:lnTo>
                <a:lnTo>
                  <a:pt x="0" y="32136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917" r="0" b="-1917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324272" y="6915984"/>
            <a:ext cx="6605689" cy="2832189"/>
          </a:xfrm>
          <a:custGeom>
            <a:avLst/>
            <a:gdLst/>
            <a:ahLst/>
            <a:cxnLst/>
            <a:rect r="r" b="b" t="t" l="l"/>
            <a:pathLst>
              <a:path h="2832189" w="6605689">
                <a:moveTo>
                  <a:pt x="0" y="0"/>
                </a:moveTo>
                <a:lnTo>
                  <a:pt x="6605689" y="0"/>
                </a:lnTo>
                <a:lnTo>
                  <a:pt x="6605689" y="2832189"/>
                </a:lnTo>
                <a:lnTo>
                  <a:pt x="0" y="28321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68403" y="749246"/>
            <a:ext cx="1863319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SECTION 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8403" y="1805978"/>
            <a:ext cx="17551403" cy="55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5"/>
              </a:lnSpc>
            </a:pPr>
            <a:r>
              <a:rPr lang="en-US" b="true" sz="5550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Wireframes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8403" y="2467718"/>
            <a:ext cx="17551403" cy="411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Four key screens. Low fidelity is acceptable — show how the product works.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3000" y="723900"/>
            <a:ext cx="3810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SECTION 06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954250" y="742950"/>
            <a:ext cx="2190902" cy="637804"/>
            <a:chOff x="0" y="0"/>
            <a:chExt cx="2921203" cy="8504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1254" cy="850392"/>
            </a:xfrm>
            <a:custGeom>
              <a:avLst/>
              <a:gdLst/>
              <a:ahLst/>
              <a:cxnLst/>
              <a:rect r="r" b="b" t="t" l="l"/>
              <a:pathLst>
                <a:path h="850392" w="2921254">
                  <a:moveTo>
                    <a:pt x="0" y="0"/>
                  </a:moveTo>
                  <a:lnTo>
                    <a:pt x="2921254" y="0"/>
                  </a:lnTo>
                  <a:lnTo>
                    <a:pt x="2921254" y="850392"/>
                  </a:lnTo>
                  <a:lnTo>
                    <a:pt x="0" y="850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9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43000" y="1581150"/>
            <a:ext cx="160020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1"/>
              </a:lnSpc>
            </a:pPr>
            <a:r>
              <a:rPr lang="en-US" b="true" sz="4718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AI strategy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2438400"/>
            <a:ext cx="16002000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Where AI sits in the product logic — not where it decorates the interface.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43000" y="3114675"/>
            <a:ext cx="16002000" cy="19202"/>
            <a:chOff x="0" y="0"/>
            <a:chExt cx="21336000" cy="256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6000" cy="25654"/>
            </a:xfrm>
            <a:custGeom>
              <a:avLst/>
              <a:gdLst/>
              <a:ahLst/>
              <a:cxnLst/>
              <a:rect r="r" b="b" t="t" l="l"/>
              <a:pathLst>
                <a:path h="2565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654"/>
                  </a:lnTo>
                  <a:lnTo>
                    <a:pt x="0" y="25654"/>
                  </a:lnTo>
                  <a:close/>
                </a:path>
              </a:pathLst>
            </a:custGeom>
            <a:solidFill>
              <a:srgbClr val="C9D7D9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43000" y="3343275"/>
            <a:ext cx="504840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AI input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10350" y="3343275"/>
            <a:ext cx="504840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What AI does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87225" y="3343275"/>
            <a:ext cx="504840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AI output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33475" y="3838575"/>
            <a:ext cx="5076901" cy="5034001"/>
            <a:chOff x="0" y="0"/>
            <a:chExt cx="6769202" cy="67120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69227" cy="6711950"/>
            </a:xfrm>
            <a:custGeom>
              <a:avLst/>
              <a:gdLst/>
              <a:ahLst/>
              <a:cxnLst/>
              <a:rect r="r" b="b" t="t" l="l"/>
              <a:pathLst>
                <a:path h="6711950" w="6769227">
                  <a:moveTo>
                    <a:pt x="0" y="0"/>
                  </a:moveTo>
                  <a:lnTo>
                    <a:pt x="6769227" y="0"/>
                  </a:lnTo>
                  <a:lnTo>
                    <a:pt x="6769227" y="6711950"/>
                  </a:lnTo>
                  <a:lnTo>
                    <a:pt x="0" y="671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81125" y="4067175"/>
            <a:ext cx="4572000" cy="449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BOM documents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(PDF, Excel, CAD, etc.)</a:t>
            </a:r>
          </a:p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Inventory data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Current stock levels</a:t>
            </a:r>
          </a:p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Purchase orders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Open POs and order status</a:t>
            </a:r>
          </a:p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Supplier data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Lead times, capacity, availability</a:t>
            </a:r>
          </a:p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Demand / production plans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Forecasts and requirements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153150" y="3848100"/>
            <a:ext cx="495300" cy="5048402"/>
            <a:chOff x="0" y="0"/>
            <a:chExt cx="660400" cy="67312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0400" cy="6731200"/>
            </a:xfrm>
            <a:custGeom>
              <a:avLst/>
              <a:gdLst/>
              <a:ahLst/>
              <a:cxnLst/>
              <a:rect r="r" b="b" t="t" l="l"/>
              <a:pathLst>
                <a:path h="6731200" w="660400">
                  <a:moveTo>
                    <a:pt x="0" y="0"/>
                  </a:moveTo>
                  <a:lnTo>
                    <a:pt x="660400" y="0"/>
                  </a:lnTo>
                  <a:lnTo>
                    <a:pt x="660400" y="6731200"/>
                  </a:lnTo>
                  <a:lnTo>
                    <a:pt x="0" y="6731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257748" t="0" r="-1257748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660400" cy="67597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0592B"/>
                  </a:solidFill>
                  <a:latin typeface="Poppins"/>
                  <a:ea typeface="Poppins"/>
                  <a:cs typeface="Poppins"/>
                  <a:sym typeface="Poppins"/>
                </a:rPr>
                <a:t>→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600825" y="3838575"/>
            <a:ext cx="5076901" cy="5034001"/>
            <a:chOff x="0" y="0"/>
            <a:chExt cx="6769202" cy="671200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69227" cy="6711950"/>
            </a:xfrm>
            <a:custGeom>
              <a:avLst/>
              <a:gdLst/>
              <a:ahLst/>
              <a:cxnLst/>
              <a:rect r="r" b="b" t="t" l="l"/>
              <a:pathLst>
                <a:path h="6711950" w="6769227">
                  <a:moveTo>
                    <a:pt x="0" y="0"/>
                  </a:moveTo>
                  <a:lnTo>
                    <a:pt x="6769227" y="0"/>
                  </a:lnTo>
                  <a:lnTo>
                    <a:pt x="6769227" y="6711950"/>
                  </a:lnTo>
                  <a:lnTo>
                    <a:pt x="0" y="671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848475" y="4067175"/>
            <a:ext cx="4572000" cy="449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C2451C"/>
                </a:solidFill>
                <a:latin typeface="Poppins Bold"/>
                <a:ea typeface="Poppins Bold"/>
                <a:cs typeface="Poppins Bold"/>
                <a:sym typeface="Poppins Bold"/>
              </a:rPr>
              <a:t>BOM Parsing Agent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Extracts components, quantities and structure from documents</a:t>
            </a:r>
          </a:p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C2451C"/>
                </a:solidFill>
                <a:latin typeface="Poppins Bold"/>
                <a:ea typeface="Poppins Bold"/>
                <a:cs typeface="Poppins Bold"/>
                <a:sym typeface="Poppins Bold"/>
              </a:rPr>
              <a:t>Supply &amp; Inventory Agent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Checks inventory, open POs, supplier availability and requirements</a:t>
            </a:r>
          </a:p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C2451C"/>
                </a:solidFill>
                <a:latin typeface="Poppins Bold"/>
                <a:ea typeface="Poppins Bold"/>
                <a:cs typeface="Poppins Bold"/>
                <a:sym typeface="Poppins Bold"/>
              </a:rPr>
              <a:t>Procurement Decision Agent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Identifies shortages and determines action (reorder, expedite or wait)</a:t>
            </a:r>
          </a:p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C2451C"/>
                </a:solidFill>
                <a:latin typeface="Poppins Bold"/>
                <a:ea typeface="Poppins Bold"/>
                <a:cs typeface="Poppins Bold"/>
                <a:sym typeface="Poppins Bold"/>
              </a:rPr>
              <a:t>LLM Reasoning Layer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Explains the analysis, justifies the recommendation and generates alerts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630025" y="3848100"/>
            <a:ext cx="495300" cy="5048402"/>
            <a:chOff x="0" y="0"/>
            <a:chExt cx="660400" cy="67312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60400" cy="6731200"/>
            </a:xfrm>
            <a:custGeom>
              <a:avLst/>
              <a:gdLst/>
              <a:ahLst/>
              <a:cxnLst/>
              <a:rect r="r" b="b" t="t" l="l"/>
              <a:pathLst>
                <a:path h="6731200" w="660400">
                  <a:moveTo>
                    <a:pt x="0" y="0"/>
                  </a:moveTo>
                  <a:lnTo>
                    <a:pt x="660400" y="0"/>
                  </a:lnTo>
                  <a:lnTo>
                    <a:pt x="660400" y="6731200"/>
                  </a:lnTo>
                  <a:lnTo>
                    <a:pt x="0" y="6731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257748" t="0" r="-1257748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660400" cy="67597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0592B"/>
                  </a:solidFill>
                  <a:latin typeface="Poppins"/>
                  <a:ea typeface="Poppins"/>
                  <a:cs typeface="Poppins"/>
                  <a:sym typeface="Poppins"/>
                </a:rPr>
                <a:t>→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77700" y="3838575"/>
            <a:ext cx="5076901" cy="5034001"/>
            <a:chOff x="0" y="0"/>
            <a:chExt cx="6769202" cy="671200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69227" cy="6711950"/>
            </a:xfrm>
            <a:custGeom>
              <a:avLst/>
              <a:gdLst/>
              <a:ahLst/>
              <a:cxnLst/>
              <a:rect r="r" b="b" t="t" l="l"/>
              <a:pathLst>
                <a:path h="6711950" w="6769227">
                  <a:moveTo>
                    <a:pt x="0" y="0"/>
                  </a:moveTo>
                  <a:lnTo>
                    <a:pt x="6769227" y="0"/>
                  </a:lnTo>
                  <a:lnTo>
                    <a:pt x="6769227" y="6711950"/>
                  </a:lnTo>
                  <a:lnTo>
                    <a:pt x="0" y="671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325350" y="4067175"/>
            <a:ext cx="4572000" cy="449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Shortage / inventory alerts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Components at risk</a:t>
            </a:r>
          </a:p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Recommended purchase orders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What to buy, how much, when</a:t>
            </a:r>
          </a:p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Supplier recommendations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Best available suppliers</a:t>
            </a:r>
          </a:p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Expected inventory impact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Projected stock levels and timelines</a:t>
            </a:r>
          </a:p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Explainable reasoning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Why the alert was raised and evidence used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43000" y="9020175"/>
            <a:ext cx="16002000" cy="19202"/>
            <a:chOff x="0" y="0"/>
            <a:chExt cx="21336000" cy="256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336000" cy="25654"/>
            </a:xfrm>
            <a:custGeom>
              <a:avLst/>
              <a:gdLst/>
              <a:ahLst/>
              <a:cxnLst/>
              <a:rect r="r" b="b" t="t" l="l"/>
              <a:pathLst>
                <a:path h="2565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654"/>
                  </a:lnTo>
                  <a:lnTo>
                    <a:pt x="0" y="25654"/>
                  </a:lnTo>
                  <a:close/>
                </a:path>
              </a:pathLst>
            </a:custGeom>
            <a:solidFill>
              <a:srgbClr val="C9D7D9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43000" y="9220200"/>
            <a:ext cx="2381402" cy="381000"/>
            <a:chOff x="0" y="0"/>
            <a:chExt cx="3175203" cy="508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75254" cy="508000"/>
            </a:xfrm>
            <a:custGeom>
              <a:avLst/>
              <a:gdLst/>
              <a:ahLst/>
              <a:cxnLst/>
              <a:rect r="r" b="b" t="t" l="l"/>
              <a:pathLst>
                <a:path h="508000" w="3175254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3099054" y="0"/>
                  </a:lnTo>
                  <a:cubicBezTo>
                    <a:pt x="3141091" y="0"/>
                    <a:pt x="3175254" y="34163"/>
                    <a:pt x="3175254" y="76200"/>
                  </a:cubicBezTo>
                  <a:lnTo>
                    <a:pt x="3175254" y="431800"/>
                  </a:lnTo>
                  <a:cubicBezTo>
                    <a:pt x="3175254" y="473837"/>
                    <a:pt x="3141091" y="508000"/>
                    <a:pt x="3099054" y="508000"/>
                  </a:cubicBezTo>
                  <a:lnTo>
                    <a:pt x="76200" y="508000"/>
                  </a:lnTo>
                  <a:cubicBezTo>
                    <a:pt x="34163" y="508000"/>
                    <a:pt x="0" y="473837"/>
                    <a:pt x="0" y="431800"/>
                  </a:cubicBezTo>
                  <a:close/>
                </a:path>
              </a:pathLst>
            </a:custGeom>
            <a:solidFill>
              <a:srgbClr val="F0592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43000" y="9220200"/>
            <a:ext cx="2381402" cy="381000"/>
            <a:chOff x="0" y="0"/>
            <a:chExt cx="3175203" cy="508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175200" cy="508000"/>
            </a:xfrm>
            <a:custGeom>
              <a:avLst/>
              <a:gdLst/>
              <a:ahLst/>
              <a:cxnLst/>
              <a:rect r="r" b="b" t="t" l="l"/>
              <a:pathLst>
                <a:path h="508000" w="3175200">
                  <a:moveTo>
                    <a:pt x="0" y="0"/>
                  </a:moveTo>
                  <a:lnTo>
                    <a:pt x="3175200" y="0"/>
                  </a:lnTo>
                  <a:lnTo>
                    <a:pt x="3175200" y="508000"/>
                  </a:lnTo>
                  <a:lnTo>
                    <a:pt x="0" y="508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1789" r="0" b="-7178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3175203" cy="527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80"/>
                </a:lnSpc>
              </a:pPr>
              <a:r>
                <a:rPr lang="en-US" b="true" sz="14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HUMAN INVOLVEMENT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714750" y="9220200"/>
            <a:ext cx="13430402" cy="381000"/>
            <a:chOff x="0" y="0"/>
            <a:chExt cx="17907203" cy="508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907200" cy="508000"/>
            </a:xfrm>
            <a:custGeom>
              <a:avLst/>
              <a:gdLst/>
              <a:ahLst/>
              <a:cxnLst/>
              <a:rect r="r" b="b" t="t" l="l"/>
              <a:pathLst>
                <a:path h="508000" w="17907200">
                  <a:moveTo>
                    <a:pt x="0" y="0"/>
                  </a:moveTo>
                  <a:lnTo>
                    <a:pt x="17907200" y="0"/>
                  </a:lnTo>
                  <a:lnTo>
                    <a:pt x="17907200" y="508000"/>
                  </a:lnTo>
                  <a:lnTo>
                    <a:pt x="0" y="508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36855" r="0" b="-63685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17907203" cy="527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b="true" sz="1599">
                  <a:solidFill>
                    <a:srgbClr val="2A1E1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AI recommends; humans review the evidence, validate the recommendation and approve or modify the purchase order.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3000" y="723900"/>
            <a:ext cx="3810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SECTION 07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954250" y="742950"/>
            <a:ext cx="2190902" cy="637804"/>
            <a:chOff x="0" y="0"/>
            <a:chExt cx="2921203" cy="8504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1254" cy="850392"/>
            </a:xfrm>
            <a:custGeom>
              <a:avLst/>
              <a:gdLst/>
              <a:ahLst/>
              <a:cxnLst/>
              <a:rect r="r" b="b" t="t" l="l"/>
              <a:pathLst>
                <a:path h="850392" w="2921254">
                  <a:moveTo>
                    <a:pt x="0" y="0"/>
                  </a:moveTo>
                  <a:lnTo>
                    <a:pt x="2921254" y="0"/>
                  </a:lnTo>
                  <a:lnTo>
                    <a:pt x="2921254" y="850392"/>
                  </a:lnTo>
                  <a:lnTo>
                    <a:pt x="0" y="850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9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43000" y="1581150"/>
            <a:ext cx="160020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1"/>
              </a:lnSpc>
            </a:pPr>
            <a:r>
              <a:rPr lang="en-US" b="true" sz="4718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2438400"/>
            <a:ext cx="16002000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Your stack. Name real tools — write “undecided” if it is still open.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43000" y="3114675"/>
            <a:ext cx="16002000" cy="19202"/>
            <a:chOff x="0" y="0"/>
            <a:chExt cx="21336000" cy="256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6000" cy="25654"/>
            </a:xfrm>
            <a:custGeom>
              <a:avLst/>
              <a:gdLst/>
              <a:ahLst/>
              <a:cxnLst/>
              <a:rect r="r" b="b" t="t" l="l"/>
              <a:pathLst>
                <a:path h="2565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654"/>
                  </a:lnTo>
                  <a:lnTo>
                    <a:pt x="0" y="25654"/>
                  </a:lnTo>
                  <a:close/>
                </a:path>
              </a:pathLst>
            </a:custGeom>
            <a:solidFill>
              <a:srgbClr val="C9D7D9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43000" y="3333750"/>
            <a:ext cx="497220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33475" y="3800475"/>
            <a:ext cx="4991100" cy="2495702"/>
            <a:chOff x="0" y="0"/>
            <a:chExt cx="6654800" cy="33276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54800" cy="3327654"/>
            </a:xfrm>
            <a:custGeom>
              <a:avLst/>
              <a:gdLst/>
              <a:ahLst/>
              <a:cxnLst/>
              <a:rect r="r" b="b" t="t" l="l"/>
              <a:pathLst>
                <a:path h="3327654" w="6654800">
                  <a:moveTo>
                    <a:pt x="0" y="0"/>
                  </a:moveTo>
                  <a:lnTo>
                    <a:pt x="6654800" y="0"/>
                  </a:lnTo>
                  <a:lnTo>
                    <a:pt x="6654800" y="3327654"/>
                  </a:lnTo>
                  <a:lnTo>
                    <a:pt x="0" y="3327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09700" y="4067175"/>
            <a:ext cx="4438802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• Next.js 16 (React, App Router)</a:t>
            </a:r>
          </a:p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• TypeScript</a:t>
            </a:r>
          </a:p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• Plain CSS with design tokens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48450" y="3333750"/>
            <a:ext cx="497220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38925" y="3800475"/>
            <a:ext cx="4991100" cy="2495702"/>
            <a:chOff x="0" y="0"/>
            <a:chExt cx="6654800" cy="33276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54800" cy="3327654"/>
            </a:xfrm>
            <a:custGeom>
              <a:avLst/>
              <a:gdLst/>
              <a:ahLst/>
              <a:cxnLst/>
              <a:rect r="r" b="b" t="t" l="l"/>
              <a:pathLst>
                <a:path h="3327654" w="6654800">
                  <a:moveTo>
                    <a:pt x="0" y="0"/>
                  </a:moveTo>
                  <a:lnTo>
                    <a:pt x="6654800" y="0"/>
                  </a:lnTo>
                  <a:lnTo>
                    <a:pt x="6654800" y="3327654"/>
                  </a:lnTo>
                  <a:lnTo>
                    <a:pt x="0" y="3327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15150" y="4067175"/>
            <a:ext cx="4438802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• Python</a:t>
            </a:r>
          </a:p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• FastAPI (server-sent events)</a:t>
            </a:r>
          </a:p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• psycopg 3</a:t>
            </a:r>
          </a:p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• statsmodels (Holt-Winters)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63425" y="3333750"/>
            <a:ext cx="497220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AI / MODELS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153900" y="3800475"/>
            <a:ext cx="4991100" cy="2495702"/>
            <a:chOff x="0" y="0"/>
            <a:chExt cx="6654800" cy="332760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54800" cy="3327654"/>
            </a:xfrm>
            <a:custGeom>
              <a:avLst/>
              <a:gdLst/>
              <a:ahLst/>
              <a:cxnLst/>
              <a:rect r="r" b="b" t="t" l="l"/>
              <a:pathLst>
                <a:path h="3327654" w="6654800">
                  <a:moveTo>
                    <a:pt x="0" y="0"/>
                  </a:moveTo>
                  <a:lnTo>
                    <a:pt x="6654800" y="0"/>
                  </a:lnTo>
                  <a:lnTo>
                    <a:pt x="6654800" y="3327654"/>
                  </a:lnTo>
                  <a:lnTo>
                    <a:pt x="0" y="3327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1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430125" y="4067175"/>
            <a:ext cx="4438802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• Groq — openai/gpt-oss-120b</a:t>
            </a:r>
          </a:p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• JSON-schema constrained decoding</a:t>
            </a:r>
          </a:p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• Deterministic rule engine for</a:t>
            </a:r>
          </a:p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  compatibility (no model)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3000" y="6648450"/>
            <a:ext cx="497220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33475" y="7115175"/>
            <a:ext cx="4991100" cy="2495702"/>
            <a:chOff x="0" y="0"/>
            <a:chExt cx="6654800" cy="33276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54800" cy="3327654"/>
            </a:xfrm>
            <a:custGeom>
              <a:avLst/>
              <a:gdLst/>
              <a:ahLst/>
              <a:cxnLst/>
              <a:rect r="r" b="b" t="t" l="l"/>
              <a:pathLst>
                <a:path h="3327654" w="6654800">
                  <a:moveTo>
                    <a:pt x="0" y="0"/>
                  </a:moveTo>
                  <a:lnTo>
                    <a:pt x="6654800" y="0"/>
                  </a:lnTo>
                  <a:lnTo>
                    <a:pt x="6654800" y="3327654"/>
                  </a:lnTo>
                  <a:lnTo>
                    <a:pt x="0" y="3327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1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409700" y="7381875"/>
            <a:ext cx="4438802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• PostgreSQL 17</a:t>
            </a:r>
          </a:p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• Two schemas: erp (read-only</a:t>
            </a:r>
          </a:p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  mirror) + platform</a:t>
            </a:r>
          </a:p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• Restricted read-only role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648450" y="6648450"/>
            <a:ext cx="497220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APIs / INTEGRATIONS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638925" y="7115175"/>
            <a:ext cx="4991100" cy="2495702"/>
            <a:chOff x="0" y="0"/>
            <a:chExt cx="6654800" cy="332760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54800" cy="3327654"/>
            </a:xfrm>
            <a:custGeom>
              <a:avLst/>
              <a:gdLst/>
              <a:ahLst/>
              <a:cxnLst/>
              <a:rect r="r" b="b" t="t" l="l"/>
              <a:pathLst>
                <a:path h="3327654" w="6654800">
                  <a:moveTo>
                    <a:pt x="0" y="0"/>
                  </a:moveTo>
                  <a:lnTo>
                    <a:pt x="6654800" y="0"/>
                  </a:lnTo>
                  <a:lnTo>
                    <a:pt x="6654800" y="3327654"/>
                  </a:lnTo>
                  <a:lnTo>
                    <a:pt x="0" y="3327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1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6915150" y="7381875"/>
            <a:ext cx="4438802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• Groq API</a:t>
            </a:r>
          </a:p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• pdfplumber, openpyxl, pypdf</a:t>
            </a:r>
          </a:p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  (BOM parsing)</a:t>
            </a:r>
          </a:p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• News feed: seeded fixtures,</a:t>
            </a:r>
          </a:p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  not yet live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63425" y="6648450"/>
            <a:ext cx="497220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DEPLOYMENT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153900" y="7115175"/>
            <a:ext cx="4991100" cy="2495702"/>
            <a:chOff x="0" y="0"/>
            <a:chExt cx="6654800" cy="332760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654800" cy="3327654"/>
            </a:xfrm>
            <a:custGeom>
              <a:avLst/>
              <a:gdLst/>
              <a:ahLst/>
              <a:cxnLst/>
              <a:rect r="r" b="b" t="t" l="l"/>
              <a:pathLst>
                <a:path h="3327654" w="6654800">
                  <a:moveTo>
                    <a:pt x="0" y="0"/>
                  </a:moveTo>
                  <a:lnTo>
                    <a:pt x="6654800" y="0"/>
                  </a:lnTo>
                  <a:lnTo>
                    <a:pt x="6654800" y="3327654"/>
                  </a:lnTo>
                  <a:lnTo>
                    <a:pt x="0" y="3327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1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2430125" y="7381875"/>
            <a:ext cx="4438802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• Render (live)</a:t>
            </a:r>
          </a:p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• circuit-mind.onrender.com</a:t>
            </a:r>
          </a:p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• team-satyatma.onrender.com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3000" y="723900"/>
            <a:ext cx="3810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SECTION 08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954250" y="742950"/>
            <a:ext cx="2190902" cy="637804"/>
            <a:chOff x="0" y="0"/>
            <a:chExt cx="2921203" cy="8504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1254" cy="850392"/>
            </a:xfrm>
            <a:custGeom>
              <a:avLst/>
              <a:gdLst/>
              <a:ahLst/>
              <a:cxnLst/>
              <a:rect r="r" b="b" t="t" l="l"/>
              <a:pathLst>
                <a:path h="850392" w="2921254">
                  <a:moveTo>
                    <a:pt x="0" y="0"/>
                  </a:moveTo>
                  <a:lnTo>
                    <a:pt x="2921254" y="0"/>
                  </a:lnTo>
                  <a:lnTo>
                    <a:pt x="2921254" y="850392"/>
                  </a:lnTo>
                  <a:lnTo>
                    <a:pt x="0" y="850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9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43000" y="1581150"/>
            <a:ext cx="160020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1"/>
              </a:lnSpc>
            </a:pPr>
            <a:r>
              <a:rPr lang="en-US" b="true" sz="4718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MVP scope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2438400"/>
            <a:ext cx="160020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What shipped, and what we deliberately left out.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43000" y="3114675"/>
            <a:ext cx="16002000" cy="15897"/>
            <a:chOff x="0" y="0"/>
            <a:chExt cx="21336000" cy="211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6000" cy="21209"/>
            </a:xfrm>
            <a:custGeom>
              <a:avLst/>
              <a:gdLst/>
              <a:ahLst/>
              <a:cxnLst/>
              <a:rect r="r" b="b" t="t" l="l"/>
              <a:pathLst>
                <a:path h="21209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1209"/>
                  </a:lnTo>
                  <a:lnTo>
                    <a:pt x="0" y="21209"/>
                  </a:lnTo>
                  <a:close/>
                </a:path>
              </a:pathLst>
            </a:custGeom>
            <a:solidFill>
              <a:srgbClr val="C9D7D9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43000" y="3343275"/>
            <a:ext cx="371490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b="true" sz="1950" strike="noStrike" u="none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SHIPPED — CORE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33475" y="3876675"/>
            <a:ext cx="3733800" cy="5738698"/>
            <a:chOff x="0" y="0"/>
            <a:chExt cx="4978400" cy="76515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78400" cy="7651623"/>
            </a:xfrm>
            <a:custGeom>
              <a:avLst/>
              <a:gdLst/>
              <a:ahLst/>
              <a:cxnLst/>
              <a:rect r="r" b="b" t="t" l="l"/>
              <a:pathLst>
                <a:path h="7651623" w="4978400">
                  <a:moveTo>
                    <a:pt x="0" y="0"/>
                  </a:moveTo>
                  <a:lnTo>
                    <a:pt x="4978400" y="0"/>
                  </a:lnTo>
                  <a:lnTo>
                    <a:pt x="4978400" y="7651623"/>
                  </a:lnTo>
                  <a:lnTo>
                    <a:pt x="0" y="7651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81125" y="4133850"/>
            <a:ext cx="3238500" cy="5200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>
                <a:solidFill>
                  <a:srgbClr val="C2451C"/>
                </a:solidFill>
                <a:latin typeface="Poppins Bold"/>
                <a:ea typeface="Poppins Bold"/>
                <a:cs typeface="Poppins Bold"/>
                <a:sym typeface="Poppins Bold"/>
              </a:rPr>
              <a:t>• BOM parsing </a:t>
            </a:r>
            <a:r>
              <a:rPr lang="en-US" b="true" sz="1650">
                <a:solidFill>
                  <a:srgbClr val="7A6A5B"/>
                </a:solidFill>
                <a:latin typeface="Poppins Bold"/>
                <a:ea typeface="Poppins Bold"/>
                <a:cs typeface="Poppins Bold"/>
                <a:sym typeface="Poppins Bold"/>
              </a:rPr>
              <a:t>and component extraction</a:t>
            </a:r>
          </a:p>
          <a:p>
            <a:pPr algn="l">
              <a:lnSpc>
                <a:spcPts val="1980"/>
              </a:lnSpc>
            </a:pPr>
            <a:r>
              <a:rPr lang="en-US" b="true" sz="1650">
                <a:solidFill>
                  <a:srgbClr val="C2451C"/>
                </a:solidFill>
                <a:latin typeface="Poppins Bold"/>
                <a:ea typeface="Poppins Bold"/>
                <a:cs typeface="Poppins Bold"/>
                <a:sym typeface="Poppins Bold"/>
              </a:rPr>
              <a:t>• Inventory &amp; PO </a:t>
            </a:r>
            <a:r>
              <a:rPr lang="en-US" b="true" sz="1650">
                <a:solidFill>
                  <a:srgbClr val="7A6A5B"/>
                </a:solidFill>
                <a:latin typeface="Poppins Bold"/>
                <a:ea typeface="Poppins Bold"/>
                <a:cs typeface="Poppins Bold"/>
                <a:sym typeface="Poppins Bold"/>
              </a:rPr>
              <a:t>visibility</a:t>
            </a:r>
          </a:p>
          <a:p>
            <a:pPr algn="l">
              <a:lnSpc>
                <a:spcPts val="1980"/>
              </a:lnSpc>
            </a:pPr>
            <a:r>
              <a:rPr lang="en-US" b="true" sz="1650">
                <a:solidFill>
                  <a:srgbClr val="C2451C"/>
                </a:solidFill>
                <a:latin typeface="Poppins Bold"/>
                <a:ea typeface="Poppins Bold"/>
                <a:cs typeface="Poppins Bold"/>
                <a:sym typeface="Poppins Bold"/>
              </a:rPr>
              <a:t>• Shortage </a:t>
            </a:r>
            <a:r>
              <a:rPr lang="en-US" b="true" sz="1650">
                <a:solidFill>
                  <a:srgbClr val="7A6A5B"/>
                </a:solidFill>
                <a:latin typeface="Poppins Bold"/>
                <a:ea typeface="Poppins Bold"/>
                <a:cs typeface="Poppins Bold"/>
                <a:sym typeface="Poppins Bold"/>
              </a:rPr>
              <a:t>/ risk alerts</a:t>
            </a:r>
          </a:p>
          <a:p>
            <a:pPr algn="l">
              <a:lnSpc>
                <a:spcPts val="1980"/>
              </a:lnSpc>
            </a:pPr>
            <a:r>
              <a:rPr lang="en-US" b="true" sz="1650">
                <a:solidFill>
                  <a:srgbClr val="C2451C"/>
                </a:solidFill>
                <a:latin typeface="Poppins Bold"/>
                <a:ea typeface="Poppins Bold"/>
                <a:cs typeface="Poppins Bold"/>
                <a:sym typeface="Poppins Bold"/>
              </a:rPr>
              <a:t>• Dependency </a:t>
            </a:r>
            <a:r>
              <a:rPr lang="en-US" b="true" sz="1650">
                <a:solidFill>
                  <a:srgbClr val="7A6A5B"/>
                </a:solidFill>
                <a:latin typeface="Poppins Bold"/>
                <a:ea typeface="Poppins Bold"/>
                <a:cs typeface="Poppins Bold"/>
                <a:sym typeface="Poppins Bold"/>
              </a:rPr>
              <a:t>&amp; impact analysis</a:t>
            </a:r>
          </a:p>
          <a:p>
            <a:pPr algn="l">
              <a:lnSpc>
                <a:spcPts val="1980"/>
              </a:lnSpc>
            </a:pPr>
            <a:r>
              <a:rPr lang="en-US" b="true" sz="1650">
                <a:solidFill>
                  <a:srgbClr val="C2451C"/>
                </a:solidFill>
                <a:latin typeface="Poppins Bold"/>
                <a:ea typeface="Poppins Bold"/>
                <a:cs typeface="Poppins Bold"/>
                <a:sym typeface="Poppins Bold"/>
              </a:rPr>
              <a:t>• AI procurement </a:t>
            </a:r>
            <a:r>
              <a:rPr lang="en-US" b="true" sz="1650">
                <a:solidFill>
                  <a:srgbClr val="7A6A5B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38750" y="3343275"/>
            <a:ext cx="371490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b="true" sz="1950" strike="noStrike" u="none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SHIPPED — SUPPORTING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229225" y="3876675"/>
            <a:ext cx="3733800" cy="5738698"/>
            <a:chOff x="0" y="0"/>
            <a:chExt cx="4978400" cy="76515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78400" cy="7651623"/>
            </a:xfrm>
            <a:custGeom>
              <a:avLst/>
              <a:gdLst/>
              <a:ahLst/>
              <a:cxnLst/>
              <a:rect r="r" b="b" t="t" l="l"/>
              <a:pathLst>
                <a:path h="7651623" w="4978400">
                  <a:moveTo>
                    <a:pt x="0" y="0"/>
                  </a:moveTo>
                  <a:lnTo>
                    <a:pt x="4978400" y="0"/>
                  </a:lnTo>
                  <a:lnTo>
                    <a:pt x="4978400" y="7651623"/>
                  </a:lnTo>
                  <a:lnTo>
                    <a:pt x="0" y="7651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476875" y="4133850"/>
            <a:ext cx="3238500" cy="5200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4A3C31"/>
                </a:solidFill>
                <a:latin typeface="Poppins"/>
                <a:ea typeface="Poppins"/>
                <a:cs typeface="Poppins"/>
                <a:sym typeface="Poppins"/>
              </a:rPr>
              <a:t>• Supplier risk </a:t>
            </a:r>
            <a:r>
              <a:rPr lang="en-US" sz="165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scoring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4A3C31"/>
                </a:solidFill>
                <a:latin typeface="Poppins"/>
                <a:ea typeface="Poppins"/>
                <a:cs typeface="Poppins"/>
                <a:sym typeface="Poppins"/>
              </a:rPr>
              <a:t>• Lead-time </a:t>
            </a:r>
            <a:r>
              <a:rPr lang="en-US" sz="165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analysis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4A3C31"/>
                </a:solidFill>
                <a:latin typeface="Poppins"/>
                <a:ea typeface="Poppins"/>
                <a:cs typeface="Poppins"/>
                <a:sym typeface="Poppins"/>
              </a:rPr>
              <a:t>• Usable inventory </a:t>
            </a:r>
            <a:r>
              <a:rPr lang="en-US" sz="165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analysis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34500" y="3343275"/>
            <a:ext cx="371490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b="true" sz="1950" strike="noStrike" u="none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SHIPPED — BEYOND PLAN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324975" y="3876675"/>
            <a:ext cx="3733800" cy="5738698"/>
            <a:chOff x="0" y="0"/>
            <a:chExt cx="4978400" cy="765159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78400" cy="7651623"/>
            </a:xfrm>
            <a:custGeom>
              <a:avLst/>
              <a:gdLst/>
              <a:ahLst/>
              <a:cxnLst/>
              <a:rect r="r" b="b" t="t" l="l"/>
              <a:pathLst>
                <a:path h="7651623" w="4978400">
                  <a:moveTo>
                    <a:pt x="0" y="0"/>
                  </a:moveTo>
                  <a:lnTo>
                    <a:pt x="4978400" y="0"/>
                  </a:lnTo>
                  <a:lnTo>
                    <a:pt x="4978400" y="7651623"/>
                  </a:lnTo>
                  <a:lnTo>
                    <a:pt x="0" y="7651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572625" y="4133850"/>
            <a:ext cx="323850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4A3C31"/>
                </a:solidFill>
                <a:latin typeface="Poppins"/>
                <a:ea typeface="Poppins"/>
                <a:cs typeface="Poppins"/>
                <a:sym typeface="Poppins"/>
              </a:rPr>
              <a:t>• Alternative supplier </a:t>
            </a:r>
            <a:r>
              <a:rPr lang="en-US" sz="165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suggestions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4A3C31"/>
                </a:solidFill>
                <a:latin typeface="Poppins"/>
                <a:ea typeface="Poppins"/>
                <a:cs typeface="Poppins"/>
                <a:sym typeface="Poppins"/>
              </a:rPr>
              <a:t>• Per-supplier </a:t>
            </a:r>
            <a:r>
              <a:rPr lang="en-US" sz="165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purchase orders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4A3C31"/>
                </a:solidFill>
                <a:latin typeface="Poppins"/>
                <a:ea typeface="Poppins"/>
                <a:cs typeface="Poppins"/>
                <a:sym typeface="Poppins"/>
              </a:rPr>
              <a:t>• Natural-language </a:t>
            </a:r>
            <a:r>
              <a:rPr lang="en-US" sz="165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queries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30250" y="3343275"/>
            <a:ext cx="371490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b="true" sz="1950" strike="noStrike" u="none">
                <a:solidFill>
                  <a:srgbClr val="7A6A5B"/>
                </a:solidFill>
                <a:latin typeface="Poppins Bold"/>
                <a:ea typeface="Poppins Bold"/>
                <a:cs typeface="Poppins Bold"/>
                <a:sym typeface="Poppins Bold"/>
              </a:rPr>
              <a:t>NOT BUILT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420725" y="3876675"/>
            <a:ext cx="3733800" cy="5738698"/>
            <a:chOff x="0" y="0"/>
            <a:chExt cx="4978400" cy="765159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78400" cy="7651623"/>
            </a:xfrm>
            <a:custGeom>
              <a:avLst/>
              <a:gdLst/>
              <a:ahLst/>
              <a:cxnLst/>
              <a:rect r="r" b="b" t="t" l="l"/>
              <a:pathLst>
                <a:path h="7651623" w="4978400">
                  <a:moveTo>
                    <a:pt x="0" y="0"/>
                  </a:moveTo>
                  <a:lnTo>
                    <a:pt x="4978400" y="0"/>
                  </a:lnTo>
                  <a:lnTo>
                    <a:pt x="4978400" y="7651623"/>
                  </a:lnTo>
                  <a:lnTo>
                    <a:pt x="0" y="7651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3668375" y="4133850"/>
            <a:ext cx="3238500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• Autonomous purchasing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• Full ERP replacement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• Real enterprise integrations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• Production execution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• What-if simulation — not reached</a:t>
            </a:r>
          </a:p>
          <a:p>
            <a:pPr algn="l">
              <a:lnSpc>
                <a:spcPts val="1980"/>
              </a:lnSpc>
            </a:pPr>
            <a:r>
              <a:rPr lang="en-US" sz="1650" i="true">
                <a:solidFill>
                  <a:srgbClr val="7A6A5B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The first four are out of scope by design.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749246"/>
            <a:ext cx="1858699" cy="34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SECTION 09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954250" y="742902"/>
            <a:ext cx="2190750" cy="637670"/>
            <a:chOff x="0" y="0"/>
            <a:chExt cx="2921000" cy="850227"/>
          </a:xfrm>
        </p:grpSpPr>
        <p:sp>
          <p:nvSpPr>
            <p:cNvPr name="Freeform 4" id="4" descr="preencoded.png"/>
            <p:cNvSpPr/>
            <p:nvPr/>
          </p:nvSpPr>
          <p:spPr>
            <a:xfrm flipH="false" flipV="false" rot="0">
              <a:off x="0" y="0"/>
              <a:ext cx="2921000" cy="850265"/>
            </a:xfrm>
            <a:custGeom>
              <a:avLst/>
              <a:gdLst/>
              <a:ahLst/>
              <a:cxnLst/>
              <a:rect r="r" b="b" t="t" l="l"/>
              <a:pathLst>
                <a:path h="850265" w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850265"/>
                  </a:lnTo>
                  <a:lnTo>
                    <a:pt x="0" y="850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68403" y="1805978"/>
            <a:ext cx="17551403" cy="553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5"/>
              </a:lnSpc>
            </a:pPr>
            <a:r>
              <a:rPr lang="en-US" b="true" sz="5550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Validation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8403" y="2467718"/>
            <a:ext cx="1755140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Who we showed it to, what they told us, and what we changed as a result.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43000" y="3113799"/>
            <a:ext cx="16002000" cy="15897"/>
            <a:chOff x="0" y="0"/>
            <a:chExt cx="21336000" cy="211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336000" cy="21209"/>
            </a:xfrm>
            <a:custGeom>
              <a:avLst/>
              <a:gdLst/>
              <a:ahLst/>
              <a:cxnLst/>
              <a:rect r="r" b="b" t="t" l="l"/>
              <a:pathLst>
                <a:path h="21209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1209"/>
                  </a:lnTo>
                  <a:lnTo>
                    <a:pt x="0" y="21209"/>
                  </a:lnTo>
                  <a:close/>
                </a:path>
              </a:pathLst>
            </a:custGeom>
            <a:solidFill>
              <a:srgbClr val="C9D7D9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35066" y="3859854"/>
            <a:ext cx="4994377" cy="5749176"/>
            <a:chOff x="0" y="0"/>
            <a:chExt cx="6659169" cy="76655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59118" cy="7665593"/>
            </a:xfrm>
            <a:custGeom>
              <a:avLst/>
              <a:gdLst/>
              <a:ahLst/>
              <a:cxnLst/>
              <a:rect r="r" b="b" t="t" l="l"/>
              <a:pathLst>
                <a:path h="7665593" w="6659118">
                  <a:moveTo>
                    <a:pt x="0" y="0"/>
                  </a:moveTo>
                  <a:lnTo>
                    <a:pt x="6659118" y="0"/>
                  </a:lnTo>
                  <a:lnTo>
                    <a:pt x="6659118" y="7665593"/>
                  </a:lnTo>
                  <a:lnTo>
                    <a:pt x="0" y="7665593"/>
                  </a:lnTo>
                  <a:close/>
                </a:path>
              </a:pathLst>
            </a:custGeom>
            <a:solidFill>
              <a:srgbClr val="DCE6E8"/>
            </a:solidFill>
            <a:ln w="15875" cap="sq">
              <a:solidFill>
                <a:srgbClr val="B9CACD"/>
              </a:solidFill>
              <a:prstDash val="dash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646850" y="3859854"/>
            <a:ext cx="4994377" cy="5749176"/>
            <a:chOff x="0" y="0"/>
            <a:chExt cx="6659169" cy="76655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59118" cy="7665593"/>
            </a:xfrm>
            <a:custGeom>
              <a:avLst/>
              <a:gdLst/>
              <a:ahLst/>
              <a:cxnLst/>
              <a:rect r="r" b="b" t="t" l="l"/>
              <a:pathLst>
                <a:path h="7665593" w="6659118">
                  <a:moveTo>
                    <a:pt x="0" y="0"/>
                  </a:moveTo>
                  <a:lnTo>
                    <a:pt x="6659118" y="0"/>
                  </a:lnTo>
                  <a:lnTo>
                    <a:pt x="6659118" y="7665593"/>
                  </a:lnTo>
                  <a:lnTo>
                    <a:pt x="0" y="7665593"/>
                  </a:lnTo>
                  <a:close/>
                </a:path>
              </a:pathLst>
            </a:custGeom>
            <a:solidFill>
              <a:srgbClr val="DCE6E8"/>
            </a:solidFill>
            <a:ln w="15875" cap="sq">
              <a:solidFill>
                <a:srgbClr val="B9CACD"/>
              </a:solidFill>
              <a:prstDash val="dash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158634" y="3859863"/>
            <a:ext cx="4994377" cy="5749176"/>
            <a:chOff x="0" y="0"/>
            <a:chExt cx="6659169" cy="76655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59118" cy="7665593"/>
            </a:xfrm>
            <a:custGeom>
              <a:avLst/>
              <a:gdLst/>
              <a:ahLst/>
              <a:cxnLst/>
              <a:rect r="r" b="b" t="t" l="l"/>
              <a:pathLst>
                <a:path h="7665593" w="6659118">
                  <a:moveTo>
                    <a:pt x="0" y="0"/>
                  </a:moveTo>
                  <a:lnTo>
                    <a:pt x="6659118" y="0"/>
                  </a:lnTo>
                  <a:lnTo>
                    <a:pt x="6659118" y="7665593"/>
                  </a:lnTo>
                  <a:lnTo>
                    <a:pt x="0" y="7665593"/>
                  </a:lnTo>
                  <a:close/>
                </a:path>
              </a:pathLst>
            </a:custGeom>
            <a:solidFill>
              <a:srgbClr val="FDF0E8"/>
            </a:solidFill>
            <a:ln w="15875" cap="sq">
              <a:solidFill>
                <a:srgbClr val="F0592B"/>
              </a:solidFill>
              <a:prstDash val="dash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143000" y="3333750"/>
            <a:ext cx="4978498" cy="41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WHO WE TESTED WITH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28750" y="4076700"/>
            <a:ext cx="4406998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T Prabhanjan Kumar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Schneider Electric. Discussed the shortage problem and our approach to it.</a:t>
            </a:r>
          </a:p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Faculty &amp; Industry Mentors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Discussed the concept and demo with academic mentors and industry advisors.</a:t>
            </a:r>
          </a:p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Engineering &amp; Operations Peers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Validated the workflow with peers familiar with BOMs and inventory.</a:t>
            </a:r>
          </a:p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What we put in front of them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Walked through real BOM samples and end-to-end flow from parsing to PO.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54784" y="3333750"/>
            <a:ext cx="4978498" cy="41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WHAT WE LEARNED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40534" y="4076700"/>
            <a:ext cx="4406998" cy="516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Better Visibility Need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Users need clear visibility of component shortages and excess stock.</a:t>
            </a:r>
          </a:p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BOMs Are Complex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Often unstructured and hard to convert into actionable purchases.</a:t>
            </a:r>
          </a:p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Decisions Have Multi-Factors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Based on supplier dependency, lead time, stock, and alternatives.</a:t>
            </a:r>
          </a:p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Explanation Matters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Preferred clear explanations and reasons instead of raw data.</a:t>
            </a:r>
          </a:p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Unified View is Valuable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A single view connecting BOM, inventory, and POs is highly preferred.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66568" y="3333750"/>
            <a:ext cx="4978498" cy="41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WHAT WE CHANGED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52318" y="4076700"/>
            <a:ext cx="4406998" cy="39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C2451C"/>
                </a:solidFill>
                <a:latin typeface="Poppins Bold"/>
                <a:ea typeface="Poppins Bold"/>
                <a:cs typeface="Poppins Bold"/>
                <a:sym typeface="Poppins Bold"/>
              </a:rPr>
              <a:t>Added BOM Parsing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Reads PDF, XLSX, CSV and TXT bills of materials into named parts.</a:t>
            </a:r>
          </a:p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C2451C"/>
                </a:solidFill>
                <a:latin typeface="Poppins Bold"/>
                <a:ea typeface="Poppins Bold"/>
                <a:cs typeface="Poppins Bold"/>
                <a:sym typeface="Poppins Bold"/>
              </a:rPr>
              <a:t>Supplier Dependency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Traces which of your parts and boards a supplier's failure reaches.</a:t>
            </a:r>
          </a:p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C2451C"/>
                </a:solidFill>
                <a:latin typeface="Poppins Bold"/>
                <a:ea typeface="Poppins Bold"/>
                <a:cs typeface="Poppins Bold"/>
                <a:sym typeface="Poppins Bold"/>
              </a:rPr>
              <a:t>Inventory Alerts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A month-by-month stock ledger names what runs out, and when.</a:t>
            </a:r>
          </a:p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C2451C"/>
                </a:solidFill>
                <a:latin typeface="Poppins Bold"/>
                <a:ea typeface="Poppins Bold"/>
                <a:cs typeface="Poppins Bold"/>
                <a:sym typeface="Poppins Bold"/>
              </a:rPr>
              <a:t>Purchase Orders, Gated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Builds one PO per supplier, released only after a person approves.</a:t>
            </a:r>
          </a:p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C2451C"/>
                </a:solidFill>
                <a:latin typeface="Poppins Bold"/>
                <a:ea typeface="Poppins Bold"/>
                <a:cs typeface="Poppins Bold"/>
                <a:sym typeface="Poppins Bold"/>
              </a:rPr>
              <a:t>LLM-based Explanations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Explains decision reasons instead of presenting flat tables.</a:t>
            </a:r>
          </a:p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C2451C"/>
                </a:solidFill>
                <a:latin typeface="Poppins Bold"/>
                <a:ea typeface="Poppins Bold"/>
                <a:cs typeface="Poppins Bold"/>
                <a:sym typeface="Poppins Bold"/>
              </a:rPr>
              <a:t>Simplified Dashboard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Redesigned UI focusing on Action → Reason → Impact flow.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749246"/>
            <a:ext cx="1792395" cy="34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SECTION 10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954250" y="742902"/>
            <a:ext cx="2190750" cy="637670"/>
            <a:chOff x="0" y="0"/>
            <a:chExt cx="2921000" cy="850227"/>
          </a:xfrm>
        </p:grpSpPr>
        <p:sp>
          <p:nvSpPr>
            <p:cNvPr name="Freeform 4" id="4" descr="preencoded.png"/>
            <p:cNvSpPr/>
            <p:nvPr/>
          </p:nvSpPr>
          <p:spPr>
            <a:xfrm flipH="false" flipV="false" rot="0">
              <a:off x="0" y="0"/>
              <a:ext cx="2921000" cy="850265"/>
            </a:xfrm>
            <a:custGeom>
              <a:avLst/>
              <a:gdLst/>
              <a:ahLst/>
              <a:cxnLst/>
              <a:rect r="r" b="b" t="t" l="l"/>
              <a:pathLst>
                <a:path h="850265" w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850265"/>
                  </a:lnTo>
                  <a:lnTo>
                    <a:pt x="0" y="850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68403" y="1805978"/>
            <a:ext cx="17551403" cy="553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5"/>
              </a:lnSpc>
            </a:pPr>
            <a:r>
              <a:rPr lang="en-US" b="true" sz="5550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Differentiation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8403" y="2467718"/>
            <a:ext cx="17551403" cy="411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Why your approach, and not what already exists.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43000" y="3113799"/>
            <a:ext cx="16002000" cy="15897"/>
            <a:chOff x="0" y="0"/>
            <a:chExt cx="21336000" cy="211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336000" cy="21209"/>
            </a:xfrm>
            <a:custGeom>
              <a:avLst/>
              <a:gdLst/>
              <a:ahLst/>
              <a:cxnLst/>
              <a:rect r="r" b="b" t="t" l="l"/>
              <a:pathLst>
                <a:path h="21209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1209"/>
                  </a:lnTo>
                  <a:lnTo>
                    <a:pt x="0" y="21209"/>
                  </a:lnTo>
                  <a:close/>
                </a:path>
              </a:pathLst>
            </a:custGeom>
            <a:solidFill>
              <a:srgbClr val="C9D7D9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68403" y="3364592"/>
            <a:ext cx="5425402" cy="36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1875">
                <a:solidFill>
                  <a:srgbClr val="7A6A5B"/>
                </a:solidFill>
                <a:latin typeface="Poppins Bold"/>
                <a:ea typeface="Poppins Bold"/>
                <a:cs typeface="Poppins Bold"/>
                <a:sym typeface="Poppins Bold"/>
              </a:rPr>
              <a:t>EXISTING SOLUTIONS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35066" y="3859854"/>
            <a:ext cx="4994377" cy="5749176"/>
            <a:chOff x="0" y="0"/>
            <a:chExt cx="6659169" cy="76655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59118" cy="7665593"/>
            </a:xfrm>
            <a:custGeom>
              <a:avLst/>
              <a:gdLst/>
              <a:ahLst/>
              <a:cxnLst/>
              <a:rect r="r" b="b" t="t" l="l"/>
              <a:pathLst>
                <a:path h="7665593" w="6659118">
                  <a:moveTo>
                    <a:pt x="0" y="0"/>
                  </a:moveTo>
                  <a:lnTo>
                    <a:pt x="6659118" y="0"/>
                  </a:lnTo>
                  <a:lnTo>
                    <a:pt x="6659118" y="7665593"/>
                  </a:lnTo>
                  <a:lnTo>
                    <a:pt x="0" y="7665593"/>
                  </a:lnTo>
                  <a:close/>
                </a:path>
              </a:pathLst>
            </a:custGeom>
            <a:solidFill>
              <a:srgbClr val="DCE6E8"/>
            </a:solidFill>
            <a:ln w="15875" cap="sq">
              <a:solidFill>
                <a:srgbClr val="B9CACD"/>
              </a:solidFill>
              <a:prstDash val="dash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463678" y="4131316"/>
            <a:ext cx="4486504" cy="321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SAP IBP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Plans from internal signals: orders, stock, lead times</a:t>
            </a:r>
          </a:p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Oracle SCM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Detects shortages from internal data; the substitute is left to a buyer</a:t>
            </a:r>
          </a:p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Blue Yonder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Optimises the forecast; does not read a trade notice</a:t>
            </a:r>
          </a:p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ERP / Spreadsheets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Records what happened; cannot react on its own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80187" y="3364592"/>
            <a:ext cx="5425402" cy="36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1875">
                <a:solidFill>
                  <a:srgbClr val="7A6A5B"/>
                </a:solidFill>
                <a:latin typeface="Poppins Bold"/>
                <a:ea typeface="Poppins Bold"/>
                <a:cs typeface="Poppins Bold"/>
                <a:sym typeface="Poppins Bold"/>
              </a:rPr>
              <a:t>OUR APPROACH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646850" y="3859854"/>
            <a:ext cx="4994377" cy="5749176"/>
            <a:chOff x="0" y="0"/>
            <a:chExt cx="6659169" cy="76655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59118" cy="7665593"/>
            </a:xfrm>
            <a:custGeom>
              <a:avLst/>
              <a:gdLst/>
              <a:ahLst/>
              <a:cxnLst/>
              <a:rect r="r" b="b" t="t" l="l"/>
              <a:pathLst>
                <a:path h="7665593" w="6659118">
                  <a:moveTo>
                    <a:pt x="0" y="0"/>
                  </a:moveTo>
                  <a:lnTo>
                    <a:pt x="6659118" y="0"/>
                  </a:lnTo>
                  <a:lnTo>
                    <a:pt x="6659118" y="7665593"/>
                  </a:lnTo>
                  <a:lnTo>
                    <a:pt x="0" y="7665593"/>
                  </a:lnTo>
                  <a:close/>
                </a:path>
              </a:pathLst>
            </a:custGeom>
            <a:solidFill>
              <a:srgbClr val="DCE6E8"/>
            </a:solidFill>
            <a:ln w="15875" cap="sq">
              <a:solidFill>
                <a:srgbClr val="B9CACD"/>
              </a:solidFill>
              <a:prstDash val="dash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6975462" y="4131316"/>
            <a:ext cx="4486504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Published event → your part number → quantity → date → costed plan → a person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Five agents. The model reads the prose and picks which query to run; the database answers it. Compatibility is decided by a deterministic rule engine, with no model in the path.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91971" y="3364592"/>
            <a:ext cx="5425402" cy="36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1875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WHY IT IS BETTER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158634" y="3859854"/>
            <a:ext cx="4994377" cy="5749176"/>
            <a:chOff x="0" y="0"/>
            <a:chExt cx="6659169" cy="76655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59118" cy="7665593"/>
            </a:xfrm>
            <a:custGeom>
              <a:avLst/>
              <a:gdLst/>
              <a:ahLst/>
              <a:cxnLst/>
              <a:rect r="r" b="b" t="t" l="l"/>
              <a:pathLst>
                <a:path h="7665593" w="6659118">
                  <a:moveTo>
                    <a:pt x="0" y="0"/>
                  </a:moveTo>
                  <a:lnTo>
                    <a:pt x="6659118" y="0"/>
                  </a:lnTo>
                  <a:lnTo>
                    <a:pt x="6659118" y="7665593"/>
                  </a:lnTo>
                  <a:lnTo>
                    <a:pt x="0" y="7665593"/>
                  </a:lnTo>
                  <a:close/>
                </a:path>
              </a:pathLst>
            </a:custGeom>
            <a:solidFill>
              <a:srgbClr val="FDF0E8"/>
            </a:solidFill>
            <a:ln w="15875" cap="sq">
              <a:solidFill>
                <a:srgbClr val="F0592B"/>
              </a:solidFill>
              <a:prstDash val="dash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2487275" y="4131316"/>
            <a:ext cx="4486504" cy="321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It names the part, the quantity and the date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One export notice became: STM32F407VGT6, 5,130 short by 15 October, $56,960.50 across three suppliers, landing 23 days early.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Two look-alike substitutes were rejected on footprint — LQFP144 and LQFP64 against an LQFP100 land pattern. A similarity score would have recommended both.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3000" y="723900"/>
            <a:ext cx="28575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SECTION 11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954250" y="742950"/>
            <a:ext cx="2190902" cy="637804"/>
            <a:chOff x="0" y="0"/>
            <a:chExt cx="2921203" cy="8504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1254" cy="850392"/>
            </a:xfrm>
            <a:custGeom>
              <a:avLst/>
              <a:gdLst/>
              <a:ahLst/>
              <a:cxnLst/>
              <a:rect r="r" b="b" t="t" l="l"/>
              <a:pathLst>
                <a:path h="850392" w="2921254">
                  <a:moveTo>
                    <a:pt x="0" y="0"/>
                  </a:moveTo>
                  <a:lnTo>
                    <a:pt x="2921254" y="0"/>
                  </a:lnTo>
                  <a:lnTo>
                    <a:pt x="2921254" y="850392"/>
                  </a:lnTo>
                  <a:lnTo>
                    <a:pt x="0" y="850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9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43000" y="1581150"/>
            <a:ext cx="160020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1"/>
              </a:lnSpc>
            </a:pPr>
            <a:r>
              <a:rPr lang="en-US" b="true" sz="4718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&amp; impact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2438400"/>
            <a:ext cx="16002000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Who benefits, who would pay, and what this becomes.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43000" y="3114675"/>
            <a:ext cx="16002000" cy="15897"/>
            <a:chOff x="0" y="0"/>
            <a:chExt cx="21336000" cy="211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6000" cy="21209"/>
            </a:xfrm>
            <a:custGeom>
              <a:avLst/>
              <a:gdLst/>
              <a:ahLst/>
              <a:cxnLst/>
              <a:rect r="r" b="b" t="t" l="l"/>
              <a:pathLst>
                <a:path h="21209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1209"/>
                  </a:lnTo>
                  <a:lnTo>
                    <a:pt x="0" y="21209"/>
                  </a:lnTo>
                  <a:close/>
                </a:path>
              </a:pathLst>
            </a:custGeom>
            <a:solidFill>
              <a:srgbClr val="C9D7D9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43000" y="3333750"/>
            <a:ext cx="390540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USERS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33475" y="3857625"/>
            <a:ext cx="3829202" cy="5753100"/>
            <a:chOff x="0" y="0"/>
            <a:chExt cx="5105603" cy="7670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05654" cy="7670800"/>
            </a:xfrm>
            <a:custGeom>
              <a:avLst/>
              <a:gdLst/>
              <a:ahLst/>
              <a:cxnLst/>
              <a:rect r="r" b="b" t="t" l="l"/>
              <a:pathLst>
                <a:path h="7670800" w="5105654">
                  <a:moveTo>
                    <a:pt x="0" y="0"/>
                  </a:moveTo>
                  <a:lnTo>
                    <a:pt x="5105654" y="0"/>
                  </a:lnTo>
                  <a:lnTo>
                    <a:pt x="5105654" y="7670800"/>
                  </a:lnTo>
                  <a:lnTo>
                    <a:pt x="0" y="767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3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28750" y="4133850"/>
            <a:ext cx="3238500" cy="516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Key Stakeholders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The primary day-to-day operators who manage complexity.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Supply Chain Managers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Procurement Managers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Material Planners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Inventory &amp; Ops Teams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Supply Chain Analysts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91125" y="3333750"/>
            <a:ext cx="390540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POTENTIAL CUSTOMERS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181600" y="3857625"/>
            <a:ext cx="3829202" cy="5753100"/>
            <a:chOff x="0" y="0"/>
            <a:chExt cx="5105603" cy="7670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05654" cy="7670800"/>
            </a:xfrm>
            <a:custGeom>
              <a:avLst/>
              <a:gdLst/>
              <a:ahLst/>
              <a:cxnLst/>
              <a:rect r="r" b="b" t="t" l="l"/>
              <a:pathLst>
                <a:path h="7670800" w="5105654">
                  <a:moveTo>
                    <a:pt x="0" y="0"/>
                  </a:moveTo>
                  <a:lnTo>
                    <a:pt x="5105654" y="0"/>
                  </a:lnTo>
                  <a:lnTo>
                    <a:pt x="5105654" y="7670800"/>
                  </a:lnTo>
                  <a:lnTo>
                    <a:pt x="0" y="767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3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476875" y="4133850"/>
            <a:ext cx="3238500" cy="516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Segments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High-value industries with complex manufacturing needs.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Semiconductor Mfrs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Electronics Mfrs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Automotive Electronics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OEMs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EMS / ODM Manufacturers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39250" y="3333750"/>
            <a:ext cx="390540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MODEL / IMPACT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229725" y="3857625"/>
            <a:ext cx="3829202" cy="5753100"/>
            <a:chOff x="0" y="0"/>
            <a:chExt cx="5105603" cy="7670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05654" cy="7670800"/>
            </a:xfrm>
            <a:custGeom>
              <a:avLst/>
              <a:gdLst/>
              <a:ahLst/>
              <a:cxnLst/>
              <a:rect r="r" b="b" t="t" l="l"/>
              <a:pathLst>
                <a:path h="7670800" w="5105654">
                  <a:moveTo>
                    <a:pt x="0" y="0"/>
                  </a:moveTo>
                  <a:lnTo>
                    <a:pt x="5105654" y="0"/>
                  </a:lnTo>
                  <a:lnTo>
                    <a:pt x="5105654" y="7670800"/>
                  </a:lnTo>
                  <a:lnTo>
                    <a:pt x="0" y="767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3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525000" y="4133850"/>
            <a:ext cx="3238500" cy="516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B2B SaaS Platform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Enterprise subscriptions based on facilities, users, volume, and complexity.</a:t>
            </a:r>
          </a:p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Impact Outcomes: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b="true" sz="1599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Fewer disruptions</a:t>
            </a: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 in production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Reduced excess</a:t>
            </a: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 &amp; shortage stock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Faster</a:t>
            </a: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 procurement decisions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Improved</a:t>
            </a: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 supplier resilience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b="true" sz="1599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Lower</a:t>
            </a: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 operational costs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287375" y="3333750"/>
            <a:ext cx="390540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LONG-TERM OPPORTUNITY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277850" y="3857625"/>
            <a:ext cx="3876599" cy="5753100"/>
            <a:chOff x="0" y="0"/>
            <a:chExt cx="5168798" cy="767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68773" cy="7670800"/>
            </a:xfrm>
            <a:custGeom>
              <a:avLst/>
              <a:gdLst/>
              <a:ahLst/>
              <a:cxnLst/>
              <a:rect r="r" b="b" t="t" l="l"/>
              <a:pathLst>
                <a:path h="7670800" w="5168773">
                  <a:moveTo>
                    <a:pt x="0" y="0"/>
                  </a:moveTo>
                  <a:lnTo>
                    <a:pt x="5168773" y="0"/>
                  </a:lnTo>
                  <a:lnTo>
                    <a:pt x="5168773" y="7670800"/>
                  </a:lnTo>
                  <a:lnTo>
                    <a:pt x="0" y="767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3573125" y="4133850"/>
            <a:ext cx="3286201" cy="516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C2451C"/>
                </a:solidFill>
                <a:latin typeface="Poppins Bold"/>
                <a:ea typeface="Poppins Bold"/>
                <a:cs typeface="Poppins Bold"/>
                <a:sym typeface="Poppins Bold"/>
              </a:rPr>
              <a:t>Supply Chain Operating Layer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Building an AI-powered intelligence engine to revolutionize operations.</a:t>
            </a:r>
          </a:p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C2451C"/>
                </a:solidFill>
                <a:latin typeface="Poppins Bold"/>
                <a:ea typeface="Poppins Bold"/>
                <a:cs typeface="Poppins Bold"/>
                <a:sym typeface="Poppins Bold"/>
              </a:rPr>
              <a:t>Evolution Path:</a:t>
            </a:r>
          </a:p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C2451C"/>
                </a:solidFill>
                <a:latin typeface="Poppins Bold"/>
                <a:ea typeface="Poppins Bold"/>
                <a:cs typeface="Poppins Bold"/>
                <a:sym typeface="Poppins Bold"/>
              </a:rPr>
              <a:t>1. Risk Monitoring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Real-time visibility and threat mapping.</a:t>
            </a:r>
          </a:p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C2451C"/>
                </a:solidFill>
                <a:latin typeface="Poppins Bold"/>
                <a:ea typeface="Poppins Bold"/>
                <a:cs typeface="Poppins Bold"/>
                <a:sym typeface="Poppins Bold"/>
              </a:rPr>
              <a:t>2. Scenario Simulation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Evaluate inventory and vendor alternatives.</a:t>
            </a:r>
          </a:p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C2451C"/>
                </a:solidFill>
                <a:latin typeface="Poppins Bold"/>
                <a:ea typeface="Poppins Bold"/>
                <a:cs typeface="Poppins Bold"/>
                <a:sym typeface="Poppins Bold"/>
              </a:rPr>
              <a:t>3. Intelligent Automation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Transition to semi-autonomous operations.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749246"/>
            <a:ext cx="1774307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SECTION 12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954250" y="742902"/>
            <a:ext cx="2190750" cy="637670"/>
            <a:chOff x="0" y="0"/>
            <a:chExt cx="2921000" cy="850227"/>
          </a:xfrm>
        </p:grpSpPr>
        <p:sp>
          <p:nvSpPr>
            <p:cNvPr name="Freeform 4" id="4" descr="preencoded.png"/>
            <p:cNvSpPr/>
            <p:nvPr/>
          </p:nvSpPr>
          <p:spPr>
            <a:xfrm flipH="false" flipV="false" rot="0">
              <a:off x="0" y="0"/>
              <a:ext cx="2921000" cy="850265"/>
            </a:xfrm>
            <a:custGeom>
              <a:avLst/>
              <a:gdLst/>
              <a:ahLst/>
              <a:cxnLst/>
              <a:rect r="r" b="b" t="t" l="l"/>
              <a:pathLst>
                <a:path h="850265" w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850265"/>
                  </a:lnTo>
                  <a:lnTo>
                    <a:pt x="0" y="850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68403" y="1805978"/>
            <a:ext cx="17551403" cy="55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5"/>
              </a:lnSpc>
            </a:pPr>
            <a:r>
              <a:rPr lang="en-US" b="true" sz="5550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8403" y="2467718"/>
            <a:ext cx="17551403" cy="411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One diagram showing how the pieces connect.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43000" y="3113799"/>
            <a:ext cx="16002000" cy="15878"/>
            <a:chOff x="0" y="0"/>
            <a:chExt cx="21336000" cy="211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336000" cy="21209"/>
            </a:xfrm>
            <a:custGeom>
              <a:avLst/>
              <a:gdLst/>
              <a:ahLst/>
              <a:cxnLst/>
              <a:rect r="r" b="b" t="t" l="l"/>
              <a:pathLst>
                <a:path h="21209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1209"/>
                  </a:lnTo>
                  <a:lnTo>
                    <a:pt x="0" y="21209"/>
                  </a:lnTo>
                  <a:close/>
                </a:path>
              </a:pathLst>
            </a:custGeom>
            <a:solidFill>
              <a:srgbClr val="C9D7D9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68403" y="3364592"/>
            <a:ext cx="17551403" cy="36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1875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 DIAGRAM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32362" y="6324571"/>
            <a:ext cx="5023218" cy="355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2"/>
              </a:lnSpc>
            </a:pPr>
            <a:r>
              <a:rPr lang="en-US" sz="1950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</a:rPr>
              <a:t>Drop your architecture diagram here.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7844" y="6817014"/>
            <a:ext cx="14992255" cy="355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2"/>
              </a:lnSpc>
            </a:pPr>
            <a:r>
              <a:rPr lang="en-US" sz="1950">
                <a:solidFill>
                  <a:srgbClr val="C9BCA8"/>
                </a:solidFill>
                <a:latin typeface="Poppins"/>
                <a:ea typeface="Poppins"/>
                <a:cs typeface="Poppins"/>
                <a:sym typeface="Poppins"/>
              </a:rPr>
              <a:t>Show client, backend, AI layer, data store and external services — with the direction of data flow between them.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20779" y="3113799"/>
            <a:ext cx="17646442" cy="7097183"/>
            <a:chOff x="0" y="0"/>
            <a:chExt cx="35590551" cy="143140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590550" cy="14314084"/>
            </a:xfrm>
            <a:custGeom>
              <a:avLst/>
              <a:gdLst/>
              <a:ahLst/>
              <a:cxnLst/>
              <a:rect r="r" b="b" t="t" l="l"/>
              <a:pathLst>
                <a:path h="14314084" w="35590550">
                  <a:moveTo>
                    <a:pt x="0" y="0"/>
                  </a:moveTo>
                  <a:lnTo>
                    <a:pt x="35590550" y="0"/>
                  </a:lnTo>
                  <a:lnTo>
                    <a:pt x="35590550" y="14314084"/>
                  </a:lnTo>
                  <a:lnTo>
                    <a:pt x="0" y="14314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825" r="0" b="-1825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73103"/>
            <a:ext cx="1780651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0592B"/>
                </a:solidFill>
                <a:latin typeface="Poppins Bold"/>
                <a:ea typeface="Poppins Bold"/>
                <a:cs typeface="Poppins Bold"/>
                <a:sym typeface="Poppins Bold"/>
              </a:rPr>
              <a:t>SECTION 13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954250" y="666750"/>
            <a:ext cx="2190750" cy="637670"/>
            <a:chOff x="0" y="0"/>
            <a:chExt cx="2921000" cy="850227"/>
          </a:xfrm>
        </p:grpSpPr>
        <p:sp>
          <p:nvSpPr>
            <p:cNvPr name="Freeform 4" id="4" descr="preencoded.png"/>
            <p:cNvSpPr/>
            <p:nvPr/>
          </p:nvSpPr>
          <p:spPr>
            <a:xfrm flipH="false" flipV="false" rot="0">
              <a:off x="0" y="0"/>
              <a:ext cx="2921000" cy="850265"/>
            </a:xfrm>
            <a:custGeom>
              <a:avLst/>
              <a:gdLst/>
              <a:ahLst/>
              <a:cxnLst/>
              <a:rect r="r" b="b" t="t" l="l"/>
              <a:pathLst>
                <a:path h="850265" w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850265"/>
                  </a:lnTo>
                  <a:lnTo>
                    <a:pt x="0" y="850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68403" y="1672704"/>
            <a:ext cx="17551403" cy="495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b="true" sz="4950">
                <a:solidFill>
                  <a:srgbClr val="2A1E16"/>
                </a:solidFill>
                <a:latin typeface="Poppins Bold"/>
                <a:ea typeface="Poppins Bold"/>
                <a:cs typeface="Poppins Bold"/>
                <a:sym typeface="Poppins Bold"/>
              </a:rPr>
              <a:t>Execution plan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8403" y="2256758"/>
            <a:ext cx="1755140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One named owner per workstream, and the milestone they delivered.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43000" y="2844908"/>
            <a:ext cx="16002000" cy="15878"/>
            <a:chOff x="0" y="0"/>
            <a:chExt cx="21336000" cy="211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336000" cy="21209"/>
            </a:xfrm>
            <a:custGeom>
              <a:avLst/>
              <a:gdLst/>
              <a:ahLst/>
              <a:cxnLst/>
              <a:rect r="r" b="b" t="t" l="l"/>
              <a:pathLst>
                <a:path h="21209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1209"/>
                  </a:lnTo>
                  <a:lnTo>
                    <a:pt x="0" y="21209"/>
                  </a:lnTo>
                  <a:close/>
                </a:path>
              </a:pathLst>
            </a:custGeom>
            <a:solidFill>
              <a:srgbClr val="C9D7D9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43000" y="3525803"/>
            <a:ext cx="4211031" cy="15878"/>
            <a:chOff x="0" y="0"/>
            <a:chExt cx="5614708" cy="211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14670" cy="21209"/>
            </a:xfrm>
            <a:custGeom>
              <a:avLst/>
              <a:gdLst/>
              <a:ahLst/>
              <a:cxnLst/>
              <a:rect r="r" b="b" t="t" l="l"/>
              <a:pathLst>
                <a:path h="21209" w="5614670">
                  <a:moveTo>
                    <a:pt x="0" y="0"/>
                  </a:moveTo>
                  <a:lnTo>
                    <a:pt x="5614670" y="0"/>
                  </a:lnTo>
                  <a:lnTo>
                    <a:pt x="5614670" y="21209"/>
                  </a:lnTo>
                  <a:lnTo>
                    <a:pt x="0" y="21209"/>
                  </a:lnTo>
                  <a:close/>
                </a:path>
              </a:pathLst>
            </a:custGeom>
            <a:solidFill>
              <a:srgbClr val="2A1E16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97003" y="3114742"/>
            <a:ext cx="3829364" cy="347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A3937F"/>
                </a:solidFill>
                <a:latin typeface="Poppins Bold"/>
                <a:ea typeface="Poppins Bold"/>
                <a:cs typeface="Poppins Bold"/>
                <a:sym typeface="Poppins Bold"/>
              </a:rPr>
              <a:t>WORKSTREAM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354031" y="3525803"/>
            <a:ext cx="4211031" cy="15878"/>
            <a:chOff x="0" y="0"/>
            <a:chExt cx="5614708" cy="211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14670" cy="21209"/>
            </a:xfrm>
            <a:custGeom>
              <a:avLst/>
              <a:gdLst/>
              <a:ahLst/>
              <a:cxnLst/>
              <a:rect r="r" b="b" t="t" l="l"/>
              <a:pathLst>
                <a:path h="21209" w="5614670">
                  <a:moveTo>
                    <a:pt x="0" y="0"/>
                  </a:moveTo>
                  <a:lnTo>
                    <a:pt x="5614670" y="0"/>
                  </a:lnTo>
                  <a:lnTo>
                    <a:pt x="5614670" y="21209"/>
                  </a:lnTo>
                  <a:lnTo>
                    <a:pt x="0" y="21209"/>
                  </a:lnTo>
                  <a:close/>
                </a:path>
              </a:pathLst>
            </a:custGeom>
            <a:solidFill>
              <a:srgbClr val="2A1E16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608034" y="3114742"/>
            <a:ext cx="3829364" cy="347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A3937F"/>
                </a:solidFill>
                <a:latin typeface="Poppins Bold"/>
                <a:ea typeface="Poppins Bold"/>
                <a:cs typeface="Poppins Bold"/>
                <a:sym typeface="Poppins Bold"/>
              </a:rPr>
              <a:t>OWNER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565062" y="3525803"/>
            <a:ext cx="7579881" cy="15878"/>
            <a:chOff x="0" y="0"/>
            <a:chExt cx="10106508" cy="211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06533" cy="21209"/>
            </a:xfrm>
            <a:custGeom>
              <a:avLst/>
              <a:gdLst/>
              <a:ahLst/>
              <a:cxnLst/>
              <a:rect r="r" b="b" t="t" l="l"/>
              <a:pathLst>
                <a:path h="21209" w="10106533">
                  <a:moveTo>
                    <a:pt x="0" y="0"/>
                  </a:moveTo>
                  <a:lnTo>
                    <a:pt x="10106533" y="0"/>
                  </a:lnTo>
                  <a:lnTo>
                    <a:pt x="10106533" y="21209"/>
                  </a:lnTo>
                  <a:lnTo>
                    <a:pt x="0" y="21209"/>
                  </a:lnTo>
                  <a:close/>
                </a:path>
              </a:pathLst>
            </a:custGeom>
            <a:solidFill>
              <a:srgbClr val="2A1E16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819056" y="3114742"/>
            <a:ext cx="7299274" cy="347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A3937F"/>
                </a:solidFill>
                <a:latin typeface="Poppins Bold"/>
                <a:ea typeface="Poppins Bold"/>
                <a:cs typeface="Poppins Bold"/>
                <a:sym typeface="Poppins Bold"/>
              </a:rPr>
              <a:t>MILESTONE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43000" y="3541671"/>
            <a:ext cx="4211031" cy="876538"/>
            <a:chOff x="0" y="0"/>
            <a:chExt cx="5614708" cy="116871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14670" cy="1168654"/>
            </a:xfrm>
            <a:custGeom>
              <a:avLst/>
              <a:gdLst/>
              <a:ahLst/>
              <a:cxnLst/>
              <a:rect r="r" b="b" t="t" l="l"/>
              <a:pathLst>
                <a:path h="1168654" w="5614670">
                  <a:moveTo>
                    <a:pt x="0" y="0"/>
                  </a:moveTo>
                  <a:lnTo>
                    <a:pt x="5614670" y="0"/>
                  </a:lnTo>
                  <a:lnTo>
                    <a:pt x="5614670" y="1168654"/>
                  </a:lnTo>
                  <a:lnTo>
                    <a:pt x="0" y="1168654"/>
                  </a:lnTo>
                  <a:close/>
                </a:path>
              </a:pathLst>
            </a:custGeom>
            <a:solidFill>
              <a:srgbClr val="DFE8E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43000" y="4410275"/>
            <a:ext cx="4211031" cy="9525"/>
            <a:chOff x="0" y="0"/>
            <a:chExt cx="5614708" cy="127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14670" cy="12700"/>
            </a:xfrm>
            <a:custGeom>
              <a:avLst/>
              <a:gdLst/>
              <a:ahLst/>
              <a:cxnLst/>
              <a:rect r="r" b="b" t="t" l="l"/>
              <a:pathLst>
                <a:path h="12700" w="5614670">
                  <a:moveTo>
                    <a:pt x="0" y="0"/>
                  </a:moveTo>
                  <a:lnTo>
                    <a:pt x="5614670" y="0"/>
                  </a:lnTo>
                  <a:lnTo>
                    <a:pt x="561467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B9CAC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71600" y="3541671"/>
            <a:ext cx="3880161" cy="906694"/>
            <a:chOff x="0" y="0"/>
            <a:chExt cx="5173548" cy="120892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173547" cy="1208931"/>
            </a:xfrm>
            <a:custGeom>
              <a:avLst/>
              <a:gdLst/>
              <a:ahLst/>
              <a:cxnLst/>
              <a:rect r="r" b="b" t="t" l="l"/>
              <a:pathLst>
                <a:path h="1208931" w="5173547">
                  <a:moveTo>
                    <a:pt x="0" y="0"/>
                  </a:moveTo>
                  <a:lnTo>
                    <a:pt x="5173547" y="0"/>
                  </a:lnTo>
                  <a:lnTo>
                    <a:pt x="5173547" y="1208931"/>
                  </a:lnTo>
                  <a:lnTo>
                    <a:pt x="0" y="12089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385" r="0" b="-3338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5173548" cy="1227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2A1E1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Product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354031" y="3541671"/>
            <a:ext cx="4211031" cy="876538"/>
            <a:chOff x="0" y="0"/>
            <a:chExt cx="5614708" cy="116871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614670" cy="1168654"/>
            </a:xfrm>
            <a:custGeom>
              <a:avLst/>
              <a:gdLst/>
              <a:ahLst/>
              <a:cxnLst/>
              <a:rect r="r" b="b" t="t" l="l"/>
              <a:pathLst>
                <a:path h="1168654" w="5614670">
                  <a:moveTo>
                    <a:pt x="0" y="0"/>
                  </a:moveTo>
                  <a:lnTo>
                    <a:pt x="5614670" y="0"/>
                  </a:lnTo>
                  <a:lnTo>
                    <a:pt x="5614670" y="1168654"/>
                  </a:lnTo>
                  <a:lnTo>
                    <a:pt x="0" y="1168654"/>
                  </a:lnTo>
                  <a:close/>
                </a:path>
              </a:pathLst>
            </a:custGeom>
            <a:solidFill>
              <a:srgbClr val="DFE8E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354031" y="4410275"/>
            <a:ext cx="4211031" cy="9525"/>
            <a:chOff x="0" y="0"/>
            <a:chExt cx="5614708" cy="127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614670" cy="12700"/>
            </a:xfrm>
            <a:custGeom>
              <a:avLst/>
              <a:gdLst/>
              <a:ahLst/>
              <a:cxnLst/>
              <a:rect r="r" b="b" t="t" l="l"/>
              <a:pathLst>
                <a:path h="12700" w="5614670">
                  <a:moveTo>
                    <a:pt x="0" y="0"/>
                  </a:moveTo>
                  <a:lnTo>
                    <a:pt x="5614670" y="0"/>
                  </a:lnTo>
                  <a:lnTo>
                    <a:pt x="561467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B9CACD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582631" y="3541671"/>
            <a:ext cx="3880161" cy="906698"/>
            <a:chOff x="0" y="0"/>
            <a:chExt cx="5173548" cy="12089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73547" cy="1208936"/>
            </a:xfrm>
            <a:custGeom>
              <a:avLst/>
              <a:gdLst/>
              <a:ahLst/>
              <a:cxnLst/>
              <a:rect r="r" b="b" t="t" l="l"/>
              <a:pathLst>
                <a:path h="1208936" w="5173547">
                  <a:moveTo>
                    <a:pt x="0" y="0"/>
                  </a:moveTo>
                  <a:lnTo>
                    <a:pt x="5173547" y="0"/>
                  </a:lnTo>
                  <a:lnTo>
                    <a:pt x="5173547" y="1208936"/>
                  </a:lnTo>
                  <a:lnTo>
                    <a:pt x="0" y="12089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385" r="0" b="-3338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5173548" cy="1227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3C31"/>
                  </a:solidFill>
                  <a:latin typeface="Poppins"/>
                  <a:ea typeface="Poppins"/>
                  <a:cs typeface="Poppins"/>
                  <a:sym typeface="Poppins"/>
                </a:rPr>
                <a:t>Shruthi Joshi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65062" y="3541671"/>
            <a:ext cx="7579881" cy="876538"/>
            <a:chOff x="0" y="0"/>
            <a:chExt cx="10106508" cy="116871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106533" cy="1168654"/>
            </a:xfrm>
            <a:custGeom>
              <a:avLst/>
              <a:gdLst/>
              <a:ahLst/>
              <a:cxnLst/>
              <a:rect r="r" b="b" t="t" l="l"/>
              <a:pathLst>
                <a:path h="1168654" w="10106533">
                  <a:moveTo>
                    <a:pt x="0" y="0"/>
                  </a:moveTo>
                  <a:lnTo>
                    <a:pt x="10106533" y="0"/>
                  </a:lnTo>
                  <a:lnTo>
                    <a:pt x="10106533" y="1168654"/>
                  </a:lnTo>
                  <a:lnTo>
                    <a:pt x="0" y="1168654"/>
                  </a:lnTo>
                  <a:close/>
                </a:path>
              </a:pathLst>
            </a:custGeom>
            <a:solidFill>
              <a:srgbClr val="DFE8E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565062" y="4410275"/>
            <a:ext cx="7579881" cy="9525"/>
            <a:chOff x="0" y="0"/>
            <a:chExt cx="10106508" cy="127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106533" cy="12700"/>
            </a:xfrm>
            <a:custGeom>
              <a:avLst/>
              <a:gdLst/>
              <a:ahLst/>
              <a:cxnLst/>
              <a:rect r="r" b="b" t="t" l="l"/>
              <a:pathLst>
                <a:path h="12700" w="10106533">
                  <a:moveTo>
                    <a:pt x="0" y="0"/>
                  </a:moveTo>
                  <a:lnTo>
                    <a:pt x="10106533" y="0"/>
                  </a:lnTo>
                  <a:lnTo>
                    <a:pt x="1010653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B9CACD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793662" y="3541671"/>
            <a:ext cx="7350071" cy="906698"/>
            <a:chOff x="0" y="0"/>
            <a:chExt cx="9800095" cy="120893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800099" cy="1208936"/>
            </a:xfrm>
            <a:custGeom>
              <a:avLst/>
              <a:gdLst/>
              <a:ahLst/>
              <a:cxnLst/>
              <a:rect r="r" b="b" t="t" l="l"/>
              <a:pathLst>
                <a:path h="1208936" w="9800099">
                  <a:moveTo>
                    <a:pt x="0" y="0"/>
                  </a:moveTo>
                  <a:lnTo>
                    <a:pt x="9800099" y="0"/>
                  </a:lnTo>
                  <a:lnTo>
                    <a:pt x="9800099" y="1208936"/>
                  </a:lnTo>
                  <a:lnTo>
                    <a:pt x="0" y="12089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953" r="0" b="-10795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9800095" cy="1227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16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A3937F"/>
                  </a:solidFill>
                  <a:latin typeface="Poppins"/>
                  <a:ea typeface="Poppins"/>
                  <a:cs typeface="Poppins"/>
                  <a:sym typeface="Poppins"/>
                </a:rPr>
                <a:t>Scope locked: five agents, one human approval gate.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43000" y="5286813"/>
            <a:ext cx="4211031" cy="9525"/>
            <a:chOff x="0" y="0"/>
            <a:chExt cx="5614708" cy="127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614670" cy="12700"/>
            </a:xfrm>
            <a:custGeom>
              <a:avLst/>
              <a:gdLst/>
              <a:ahLst/>
              <a:cxnLst/>
              <a:rect r="r" b="b" t="t" l="l"/>
              <a:pathLst>
                <a:path h="12700" w="5614670">
                  <a:moveTo>
                    <a:pt x="0" y="0"/>
                  </a:moveTo>
                  <a:lnTo>
                    <a:pt x="5614670" y="0"/>
                  </a:lnTo>
                  <a:lnTo>
                    <a:pt x="561467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B9CACD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71600" y="4418209"/>
            <a:ext cx="3880161" cy="906694"/>
            <a:chOff x="0" y="0"/>
            <a:chExt cx="5173548" cy="120892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173547" cy="1208931"/>
            </a:xfrm>
            <a:custGeom>
              <a:avLst/>
              <a:gdLst/>
              <a:ahLst/>
              <a:cxnLst/>
              <a:rect r="r" b="b" t="t" l="l"/>
              <a:pathLst>
                <a:path h="1208931" w="5173547">
                  <a:moveTo>
                    <a:pt x="0" y="0"/>
                  </a:moveTo>
                  <a:lnTo>
                    <a:pt x="5173547" y="0"/>
                  </a:lnTo>
                  <a:lnTo>
                    <a:pt x="5173547" y="1208931"/>
                  </a:lnTo>
                  <a:lnTo>
                    <a:pt x="0" y="12089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385" r="0" b="-3338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5173548" cy="1227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2A1E1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Design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354031" y="5286813"/>
            <a:ext cx="4211031" cy="9525"/>
            <a:chOff x="0" y="0"/>
            <a:chExt cx="5614708" cy="127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614670" cy="12700"/>
            </a:xfrm>
            <a:custGeom>
              <a:avLst/>
              <a:gdLst/>
              <a:ahLst/>
              <a:cxnLst/>
              <a:rect r="r" b="b" t="t" l="l"/>
              <a:pathLst>
                <a:path h="12700" w="5614670">
                  <a:moveTo>
                    <a:pt x="0" y="0"/>
                  </a:moveTo>
                  <a:lnTo>
                    <a:pt x="5614670" y="0"/>
                  </a:lnTo>
                  <a:lnTo>
                    <a:pt x="561467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B9CACD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5582631" y="4418209"/>
            <a:ext cx="3880161" cy="906698"/>
            <a:chOff x="0" y="0"/>
            <a:chExt cx="5173548" cy="120893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173547" cy="1208936"/>
            </a:xfrm>
            <a:custGeom>
              <a:avLst/>
              <a:gdLst/>
              <a:ahLst/>
              <a:cxnLst/>
              <a:rect r="r" b="b" t="t" l="l"/>
              <a:pathLst>
                <a:path h="1208936" w="5173547">
                  <a:moveTo>
                    <a:pt x="0" y="0"/>
                  </a:moveTo>
                  <a:lnTo>
                    <a:pt x="5173547" y="0"/>
                  </a:lnTo>
                  <a:lnTo>
                    <a:pt x="5173547" y="1208936"/>
                  </a:lnTo>
                  <a:lnTo>
                    <a:pt x="0" y="12089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385" r="0" b="-3338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5173548" cy="1227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16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4A3C31"/>
                  </a:solidFill>
                  <a:latin typeface="Poppins"/>
                  <a:ea typeface="Poppins"/>
                  <a:cs typeface="Poppins"/>
                  <a:sym typeface="Poppins"/>
                </a:rPr>
                <a:t>Vishnu Tej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565062" y="5286813"/>
            <a:ext cx="7579881" cy="9525"/>
            <a:chOff x="0" y="0"/>
            <a:chExt cx="10106508" cy="127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106533" cy="12700"/>
            </a:xfrm>
            <a:custGeom>
              <a:avLst/>
              <a:gdLst/>
              <a:ahLst/>
              <a:cxnLst/>
              <a:rect r="r" b="b" t="t" l="l"/>
              <a:pathLst>
                <a:path h="12700" w="10106533">
                  <a:moveTo>
                    <a:pt x="0" y="0"/>
                  </a:moveTo>
                  <a:lnTo>
                    <a:pt x="10106533" y="0"/>
                  </a:lnTo>
                  <a:lnTo>
                    <a:pt x="1010653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B9CACD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793662" y="4418209"/>
            <a:ext cx="7350071" cy="906698"/>
            <a:chOff x="0" y="0"/>
            <a:chExt cx="9800095" cy="120893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800099" cy="1208936"/>
            </a:xfrm>
            <a:custGeom>
              <a:avLst/>
              <a:gdLst/>
              <a:ahLst/>
              <a:cxnLst/>
              <a:rect r="r" b="b" t="t" l="l"/>
              <a:pathLst>
                <a:path h="1208936" w="9800099">
                  <a:moveTo>
                    <a:pt x="0" y="0"/>
                  </a:moveTo>
                  <a:lnTo>
                    <a:pt x="9800099" y="0"/>
                  </a:lnTo>
                  <a:lnTo>
                    <a:pt x="9800099" y="1208936"/>
                  </a:lnTo>
                  <a:lnTo>
                    <a:pt x="0" y="12089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953" r="0" b="-10795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9800095" cy="1227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16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A3937F"/>
                  </a:solidFill>
                  <a:latin typeface="Poppins"/>
                  <a:ea typeface="Poppins"/>
                  <a:cs typeface="Poppins"/>
                  <a:sym typeface="Poppins"/>
                </a:rPr>
                <a:t>Wireframes for dashboard, BOM intake and recommendation review.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43000" y="5294747"/>
            <a:ext cx="4211031" cy="876538"/>
            <a:chOff x="0" y="0"/>
            <a:chExt cx="5614708" cy="116871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614670" cy="1168654"/>
            </a:xfrm>
            <a:custGeom>
              <a:avLst/>
              <a:gdLst/>
              <a:ahLst/>
              <a:cxnLst/>
              <a:rect r="r" b="b" t="t" l="l"/>
              <a:pathLst>
                <a:path h="1168654" w="5614670">
                  <a:moveTo>
                    <a:pt x="0" y="0"/>
                  </a:moveTo>
                  <a:lnTo>
                    <a:pt x="5614670" y="0"/>
                  </a:lnTo>
                  <a:lnTo>
                    <a:pt x="5614670" y="1168654"/>
                  </a:lnTo>
                  <a:lnTo>
                    <a:pt x="0" y="1168654"/>
                  </a:lnTo>
                  <a:close/>
                </a:path>
              </a:pathLst>
            </a:custGeom>
            <a:solidFill>
              <a:srgbClr val="DFE8E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43000" y="6163342"/>
            <a:ext cx="4211031" cy="9525"/>
            <a:chOff x="0" y="0"/>
            <a:chExt cx="5614708" cy="127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614670" cy="12700"/>
            </a:xfrm>
            <a:custGeom>
              <a:avLst/>
              <a:gdLst/>
              <a:ahLst/>
              <a:cxnLst/>
              <a:rect r="r" b="b" t="t" l="l"/>
              <a:pathLst>
                <a:path h="12700" w="5614670">
                  <a:moveTo>
                    <a:pt x="0" y="0"/>
                  </a:moveTo>
                  <a:lnTo>
                    <a:pt x="5614670" y="0"/>
                  </a:lnTo>
                  <a:lnTo>
                    <a:pt x="561467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B9CACD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71600" y="5294747"/>
            <a:ext cx="3880161" cy="906694"/>
            <a:chOff x="0" y="0"/>
            <a:chExt cx="5173548" cy="120892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173547" cy="1208931"/>
            </a:xfrm>
            <a:custGeom>
              <a:avLst/>
              <a:gdLst/>
              <a:ahLst/>
              <a:cxnLst/>
              <a:rect r="r" b="b" t="t" l="l"/>
              <a:pathLst>
                <a:path h="1208931" w="5173547">
                  <a:moveTo>
                    <a:pt x="0" y="0"/>
                  </a:moveTo>
                  <a:lnTo>
                    <a:pt x="5173547" y="0"/>
                  </a:lnTo>
                  <a:lnTo>
                    <a:pt x="5173547" y="1208931"/>
                  </a:lnTo>
                  <a:lnTo>
                    <a:pt x="0" y="12089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385" r="0" b="-3338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5173548" cy="1227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2A1E1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Frontend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5354031" y="5294747"/>
            <a:ext cx="4211031" cy="876538"/>
            <a:chOff x="0" y="0"/>
            <a:chExt cx="5614708" cy="116871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614670" cy="1168654"/>
            </a:xfrm>
            <a:custGeom>
              <a:avLst/>
              <a:gdLst/>
              <a:ahLst/>
              <a:cxnLst/>
              <a:rect r="r" b="b" t="t" l="l"/>
              <a:pathLst>
                <a:path h="1168654" w="5614670">
                  <a:moveTo>
                    <a:pt x="0" y="0"/>
                  </a:moveTo>
                  <a:lnTo>
                    <a:pt x="5614670" y="0"/>
                  </a:lnTo>
                  <a:lnTo>
                    <a:pt x="5614670" y="1168654"/>
                  </a:lnTo>
                  <a:lnTo>
                    <a:pt x="0" y="1168654"/>
                  </a:lnTo>
                  <a:close/>
                </a:path>
              </a:pathLst>
            </a:custGeom>
            <a:solidFill>
              <a:srgbClr val="DFE8EA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5354031" y="6163342"/>
            <a:ext cx="4211031" cy="9525"/>
            <a:chOff x="0" y="0"/>
            <a:chExt cx="5614708" cy="127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614670" cy="12700"/>
            </a:xfrm>
            <a:custGeom>
              <a:avLst/>
              <a:gdLst/>
              <a:ahLst/>
              <a:cxnLst/>
              <a:rect r="r" b="b" t="t" l="l"/>
              <a:pathLst>
                <a:path h="12700" w="5614670">
                  <a:moveTo>
                    <a:pt x="0" y="0"/>
                  </a:moveTo>
                  <a:lnTo>
                    <a:pt x="5614670" y="0"/>
                  </a:lnTo>
                  <a:lnTo>
                    <a:pt x="561467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B9CACD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5582631" y="5294747"/>
            <a:ext cx="3880161" cy="906698"/>
            <a:chOff x="0" y="0"/>
            <a:chExt cx="5173548" cy="120893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173547" cy="1208936"/>
            </a:xfrm>
            <a:custGeom>
              <a:avLst/>
              <a:gdLst/>
              <a:ahLst/>
              <a:cxnLst/>
              <a:rect r="r" b="b" t="t" l="l"/>
              <a:pathLst>
                <a:path h="1208936" w="5173547">
                  <a:moveTo>
                    <a:pt x="0" y="0"/>
                  </a:moveTo>
                  <a:lnTo>
                    <a:pt x="5173547" y="0"/>
                  </a:lnTo>
                  <a:lnTo>
                    <a:pt x="5173547" y="1208936"/>
                  </a:lnTo>
                  <a:lnTo>
                    <a:pt x="0" y="12089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385" r="0" b="-3338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5173548" cy="1227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16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4A3C31"/>
                  </a:solidFill>
                  <a:latin typeface="Poppins"/>
                  <a:ea typeface="Poppins"/>
                  <a:cs typeface="Poppins"/>
                  <a:sym typeface="Poppins"/>
                </a:rPr>
                <a:t>Abhiroop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565062" y="5294747"/>
            <a:ext cx="7579881" cy="876538"/>
            <a:chOff x="0" y="0"/>
            <a:chExt cx="10106508" cy="116871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106533" cy="1168654"/>
            </a:xfrm>
            <a:custGeom>
              <a:avLst/>
              <a:gdLst/>
              <a:ahLst/>
              <a:cxnLst/>
              <a:rect r="r" b="b" t="t" l="l"/>
              <a:pathLst>
                <a:path h="1168654" w="10106533">
                  <a:moveTo>
                    <a:pt x="0" y="0"/>
                  </a:moveTo>
                  <a:lnTo>
                    <a:pt x="10106533" y="0"/>
                  </a:lnTo>
                  <a:lnTo>
                    <a:pt x="10106533" y="1168654"/>
                  </a:lnTo>
                  <a:lnTo>
                    <a:pt x="0" y="1168654"/>
                  </a:lnTo>
                  <a:close/>
                </a:path>
              </a:pathLst>
            </a:custGeom>
            <a:solidFill>
              <a:srgbClr val="DFE8EA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565062" y="6163342"/>
            <a:ext cx="7579881" cy="9525"/>
            <a:chOff x="0" y="0"/>
            <a:chExt cx="10106508" cy="127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106533" cy="12700"/>
            </a:xfrm>
            <a:custGeom>
              <a:avLst/>
              <a:gdLst/>
              <a:ahLst/>
              <a:cxnLst/>
              <a:rect r="r" b="b" t="t" l="l"/>
              <a:pathLst>
                <a:path h="12700" w="10106533">
                  <a:moveTo>
                    <a:pt x="0" y="0"/>
                  </a:moveTo>
                  <a:lnTo>
                    <a:pt x="10106533" y="0"/>
                  </a:lnTo>
                  <a:lnTo>
                    <a:pt x="1010653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B9CACD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793662" y="5294747"/>
            <a:ext cx="7350071" cy="906698"/>
            <a:chOff x="0" y="0"/>
            <a:chExt cx="9800095" cy="120893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800099" cy="1208936"/>
            </a:xfrm>
            <a:custGeom>
              <a:avLst/>
              <a:gdLst/>
              <a:ahLst/>
              <a:cxnLst/>
              <a:rect r="r" b="b" t="t" l="l"/>
              <a:pathLst>
                <a:path h="1208936" w="9800099">
                  <a:moveTo>
                    <a:pt x="0" y="0"/>
                  </a:moveTo>
                  <a:lnTo>
                    <a:pt x="9800099" y="0"/>
                  </a:lnTo>
                  <a:lnTo>
                    <a:pt x="9800099" y="1208936"/>
                  </a:lnTo>
                  <a:lnTo>
                    <a:pt x="0" y="12089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953" r="0" b="-10795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9800095" cy="1227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16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A3937F"/>
                  </a:solidFill>
                  <a:latin typeface="Poppins"/>
                  <a:ea typeface="Poppins"/>
                  <a:cs typeface="Poppins"/>
                  <a:sym typeface="Poppins"/>
                </a:rPr>
                <a:t>Next.js dashboard: recommendations, BOM intake, constraint gate, Ask.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43000" y="7039880"/>
            <a:ext cx="4211031" cy="9525"/>
            <a:chOff x="0" y="0"/>
            <a:chExt cx="5614708" cy="127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614670" cy="12700"/>
            </a:xfrm>
            <a:custGeom>
              <a:avLst/>
              <a:gdLst/>
              <a:ahLst/>
              <a:cxnLst/>
              <a:rect r="r" b="b" t="t" l="l"/>
              <a:pathLst>
                <a:path h="12700" w="5614670">
                  <a:moveTo>
                    <a:pt x="0" y="0"/>
                  </a:moveTo>
                  <a:lnTo>
                    <a:pt x="5614670" y="0"/>
                  </a:lnTo>
                  <a:lnTo>
                    <a:pt x="561467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B9CACD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371600" y="6171286"/>
            <a:ext cx="3880161" cy="906694"/>
            <a:chOff x="0" y="0"/>
            <a:chExt cx="5173548" cy="120892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173547" cy="1208931"/>
            </a:xfrm>
            <a:custGeom>
              <a:avLst/>
              <a:gdLst/>
              <a:ahLst/>
              <a:cxnLst/>
              <a:rect r="r" b="b" t="t" l="l"/>
              <a:pathLst>
                <a:path h="1208931" w="5173547">
                  <a:moveTo>
                    <a:pt x="0" y="0"/>
                  </a:moveTo>
                  <a:lnTo>
                    <a:pt x="5173547" y="0"/>
                  </a:lnTo>
                  <a:lnTo>
                    <a:pt x="5173547" y="1208931"/>
                  </a:lnTo>
                  <a:lnTo>
                    <a:pt x="0" y="12089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385" r="0" b="-3338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5173548" cy="1227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2A1E1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Backend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5354031" y="7039880"/>
            <a:ext cx="4211031" cy="9525"/>
            <a:chOff x="0" y="0"/>
            <a:chExt cx="5614708" cy="127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614670" cy="12700"/>
            </a:xfrm>
            <a:custGeom>
              <a:avLst/>
              <a:gdLst/>
              <a:ahLst/>
              <a:cxnLst/>
              <a:rect r="r" b="b" t="t" l="l"/>
              <a:pathLst>
                <a:path h="12700" w="5614670">
                  <a:moveTo>
                    <a:pt x="0" y="0"/>
                  </a:moveTo>
                  <a:lnTo>
                    <a:pt x="5614670" y="0"/>
                  </a:lnTo>
                  <a:lnTo>
                    <a:pt x="561467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B9CACD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5582631" y="6171286"/>
            <a:ext cx="3880161" cy="906698"/>
            <a:chOff x="0" y="0"/>
            <a:chExt cx="5173548" cy="120893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173547" cy="1208936"/>
            </a:xfrm>
            <a:custGeom>
              <a:avLst/>
              <a:gdLst/>
              <a:ahLst/>
              <a:cxnLst/>
              <a:rect r="r" b="b" t="t" l="l"/>
              <a:pathLst>
                <a:path h="1208936" w="5173547">
                  <a:moveTo>
                    <a:pt x="0" y="0"/>
                  </a:moveTo>
                  <a:lnTo>
                    <a:pt x="5173547" y="0"/>
                  </a:lnTo>
                  <a:lnTo>
                    <a:pt x="5173547" y="1208936"/>
                  </a:lnTo>
                  <a:lnTo>
                    <a:pt x="0" y="12089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385" r="0" b="-33384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9050"/>
              <a:ext cx="5173548" cy="1227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3C31"/>
                  </a:solidFill>
                  <a:latin typeface="Poppins"/>
                  <a:ea typeface="Poppins"/>
                  <a:cs typeface="Poppins"/>
                  <a:sym typeface="Poppins"/>
                </a:rPr>
                <a:t>Phaneesh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565062" y="7039880"/>
            <a:ext cx="7579881" cy="9525"/>
            <a:chOff x="0" y="0"/>
            <a:chExt cx="10106508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106533" cy="12700"/>
            </a:xfrm>
            <a:custGeom>
              <a:avLst/>
              <a:gdLst/>
              <a:ahLst/>
              <a:cxnLst/>
              <a:rect r="r" b="b" t="t" l="l"/>
              <a:pathLst>
                <a:path h="12700" w="10106533">
                  <a:moveTo>
                    <a:pt x="0" y="0"/>
                  </a:moveTo>
                  <a:lnTo>
                    <a:pt x="10106533" y="0"/>
                  </a:lnTo>
                  <a:lnTo>
                    <a:pt x="1010653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B9CACD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9793662" y="6171286"/>
            <a:ext cx="7350071" cy="906698"/>
            <a:chOff x="0" y="0"/>
            <a:chExt cx="9800095" cy="120893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800099" cy="1208936"/>
            </a:xfrm>
            <a:custGeom>
              <a:avLst/>
              <a:gdLst/>
              <a:ahLst/>
              <a:cxnLst/>
              <a:rect r="r" b="b" t="t" l="l"/>
              <a:pathLst>
                <a:path h="1208936" w="9800099">
                  <a:moveTo>
                    <a:pt x="0" y="0"/>
                  </a:moveTo>
                  <a:lnTo>
                    <a:pt x="9800099" y="0"/>
                  </a:lnTo>
                  <a:lnTo>
                    <a:pt x="9800099" y="1208936"/>
                  </a:lnTo>
                  <a:lnTo>
                    <a:pt x="0" y="12089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953" r="0" b="-10795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9800095" cy="1227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16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A3937F"/>
                  </a:solidFill>
                  <a:latin typeface="Poppins"/>
                  <a:ea typeface="Poppins"/>
                  <a:cs typeface="Poppins"/>
                  <a:sym typeface="Poppins"/>
                </a:rPr>
                <a:t>FastAPI over PostgreSQL — 6 routers, two schemas, read-only ERP mirror.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143000" y="7047814"/>
            <a:ext cx="4211031" cy="876538"/>
            <a:chOff x="0" y="0"/>
            <a:chExt cx="5614708" cy="116871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614670" cy="1168654"/>
            </a:xfrm>
            <a:custGeom>
              <a:avLst/>
              <a:gdLst/>
              <a:ahLst/>
              <a:cxnLst/>
              <a:rect r="r" b="b" t="t" l="l"/>
              <a:pathLst>
                <a:path h="1168654" w="5614670">
                  <a:moveTo>
                    <a:pt x="0" y="0"/>
                  </a:moveTo>
                  <a:lnTo>
                    <a:pt x="5614670" y="0"/>
                  </a:lnTo>
                  <a:lnTo>
                    <a:pt x="5614670" y="1168654"/>
                  </a:lnTo>
                  <a:lnTo>
                    <a:pt x="0" y="1168654"/>
                  </a:lnTo>
                  <a:close/>
                </a:path>
              </a:pathLst>
            </a:custGeom>
            <a:solidFill>
              <a:srgbClr val="DFE8EA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143000" y="7916418"/>
            <a:ext cx="4211031" cy="9525"/>
            <a:chOff x="0" y="0"/>
            <a:chExt cx="5614708" cy="127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614670" cy="12700"/>
            </a:xfrm>
            <a:custGeom>
              <a:avLst/>
              <a:gdLst/>
              <a:ahLst/>
              <a:cxnLst/>
              <a:rect r="r" b="b" t="t" l="l"/>
              <a:pathLst>
                <a:path h="12700" w="5614670">
                  <a:moveTo>
                    <a:pt x="0" y="0"/>
                  </a:moveTo>
                  <a:lnTo>
                    <a:pt x="5614670" y="0"/>
                  </a:lnTo>
                  <a:lnTo>
                    <a:pt x="561467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B9CACD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371600" y="7047814"/>
            <a:ext cx="3880161" cy="906694"/>
            <a:chOff x="0" y="0"/>
            <a:chExt cx="5173548" cy="120892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173547" cy="1208931"/>
            </a:xfrm>
            <a:custGeom>
              <a:avLst/>
              <a:gdLst/>
              <a:ahLst/>
              <a:cxnLst/>
              <a:rect r="r" b="b" t="t" l="l"/>
              <a:pathLst>
                <a:path h="1208931" w="5173547">
                  <a:moveTo>
                    <a:pt x="0" y="0"/>
                  </a:moveTo>
                  <a:lnTo>
                    <a:pt x="5173547" y="0"/>
                  </a:lnTo>
                  <a:lnTo>
                    <a:pt x="5173547" y="1208931"/>
                  </a:lnTo>
                  <a:lnTo>
                    <a:pt x="0" y="12089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385" r="0" b="-33384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5173548" cy="1227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2A1E1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AI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5354031" y="7047814"/>
            <a:ext cx="4211031" cy="876538"/>
            <a:chOff x="0" y="0"/>
            <a:chExt cx="5614708" cy="116871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614670" cy="1168654"/>
            </a:xfrm>
            <a:custGeom>
              <a:avLst/>
              <a:gdLst/>
              <a:ahLst/>
              <a:cxnLst/>
              <a:rect r="r" b="b" t="t" l="l"/>
              <a:pathLst>
                <a:path h="1168654" w="5614670">
                  <a:moveTo>
                    <a:pt x="0" y="0"/>
                  </a:moveTo>
                  <a:lnTo>
                    <a:pt x="5614670" y="0"/>
                  </a:lnTo>
                  <a:lnTo>
                    <a:pt x="5614670" y="1168654"/>
                  </a:lnTo>
                  <a:lnTo>
                    <a:pt x="0" y="1168654"/>
                  </a:lnTo>
                  <a:close/>
                </a:path>
              </a:pathLst>
            </a:custGeom>
            <a:solidFill>
              <a:srgbClr val="DFE8EA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354031" y="7916418"/>
            <a:ext cx="4211031" cy="9525"/>
            <a:chOff x="0" y="0"/>
            <a:chExt cx="5614708" cy="127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614670" cy="12700"/>
            </a:xfrm>
            <a:custGeom>
              <a:avLst/>
              <a:gdLst/>
              <a:ahLst/>
              <a:cxnLst/>
              <a:rect r="r" b="b" t="t" l="l"/>
              <a:pathLst>
                <a:path h="12700" w="5614670">
                  <a:moveTo>
                    <a:pt x="0" y="0"/>
                  </a:moveTo>
                  <a:lnTo>
                    <a:pt x="5614670" y="0"/>
                  </a:lnTo>
                  <a:lnTo>
                    <a:pt x="561467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B9CACD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631" y="7047814"/>
            <a:ext cx="3880161" cy="906698"/>
            <a:chOff x="0" y="0"/>
            <a:chExt cx="5173548" cy="120893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173547" cy="1208936"/>
            </a:xfrm>
            <a:custGeom>
              <a:avLst/>
              <a:gdLst/>
              <a:ahLst/>
              <a:cxnLst/>
              <a:rect r="r" b="b" t="t" l="l"/>
              <a:pathLst>
                <a:path h="1208936" w="5173547">
                  <a:moveTo>
                    <a:pt x="0" y="0"/>
                  </a:moveTo>
                  <a:lnTo>
                    <a:pt x="5173547" y="0"/>
                  </a:lnTo>
                  <a:lnTo>
                    <a:pt x="5173547" y="1208936"/>
                  </a:lnTo>
                  <a:lnTo>
                    <a:pt x="0" y="12089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385" r="0" b="-33384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19050"/>
              <a:ext cx="5173548" cy="1227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3C31"/>
                  </a:solidFill>
                  <a:latin typeface="Poppins"/>
                  <a:ea typeface="Poppins"/>
                  <a:cs typeface="Poppins"/>
                  <a:sym typeface="Poppins"/>
                </a:rPr>
                <a:t>Aravind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565062" y="7047814"/>
            <a:ext cx="7579881" cy="876538"/>
            <a:chOff x="0" y="0"/>
            <a:chExt cx="10106508" cy="116871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106533" cy="1168654"/>
            </a:xfrm>
            <a:custGeom>
              <a:avLst/>
              <a:gdLst/>
              <a:ahLst/>
              <a:cxnLst/>
              <a:rect r="r" b="b" t="t" l="l"/>
              <a:pathLst>
                <a:path h="1168654" w="10106533">
                  <a:moveTo>
                    <a:pt x="0" y="0"/>
                  </a:moveTo>
                  <a:lnTo>
                    <a:pt x="10106533" y="0"/>
                  </a:lnTo>
                  <a:lnTo>
                    <a:pt x="10106533" y="1168654"/>
                  </a:lnTo>
                  <a:lnTo>
                    <a:pt x="0" y="1168654"/>
                  </a:lnTo>
                  <a:close/>
                </a:path>
              </a:pathLst>
            </a:custGeom>
            <a:solidFill>
              <a:srgbClr val="DFE8EA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9565062" y="7916418"/>
            <a:ext cx="7579881" cy="9525"/>
            <a:chOff x="0" y="0"/>
            <a:chExt cx="10106508" cy="1270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0106533" cy="12700"/>
            </a:xfrm>
            <a:custGeom>
              <a:avLst/>
              <a:gdLst/>
              <a:ahLst/>
              <a:cxnLst/>
              <a:rect r="r" b="b" t="t" l="l"/>
              <a:pathLst>
                <a:path h="12700" w="10106533">
                  <a:moveTo>
                    <a:pt x="0" y="0"/>
                  </a:moveTo>
                  <a:lnTo>
                    <a:pt x="10106533" y="0"/>
                  </a:lnTo>
                  <a:lnTo>
                    <a:pt x="1010653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B9CACD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9793662" y="7047814"/>
            <a:ext cx="7350071" cy="906698"/>
            <a:chOff x="0" y="0"/>
            <a:chExt cx="9800095" cy="1208931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9800099" cy="1208936"/>
            </a:xfrm>
            <a:custGeom>
              <a:avLst/>
              <a:gdLst/>
              <a:ahLst/>
              <a:cxnLst/>
              <a:rect r="r" b="b" t="t" l="l"/>
              <a:pathLst>
                <a:path h="1208936" w="9800099">
                  <a:moveTo>
                    <a:pt x="0" y="0"/>
                  </a:moveTo>
                  <a:lnTo>
                    <a:pt x="9800099" y="0"/>
                  </a:lnTo>
                  <a:lnTo>
                    <a:pt x="9800099" y="1208936"/>
                  </a:lnTo>
                  <a:lnTo>
                    <a:pt x="0" y="12089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953" r="0" b="-107952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19050"/>
              <a:ext cx="9800095" cy="1227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16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A3937F"/>
                  </a:solidFill>
                  <a:latin typeface="Poppins"/>
                  <a:ea typeface="Poppins"/>
                  <a:cs typeface="Poppins"/>
                  <a:sym typeface="Poppins"/>
                </a:rPr>
                <a:t>Tool-calling agent with 10 read-only tools and an output guard.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143000" y="8792956"/>
            <a:ext cx="4211031" cy="9525"/>
            <a:chOff x="0" y="0"/>
            <a:chExt cx="5614708" cy="127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614670" cy="12700"/>
            </a:xfrm>
            <a:custGeom>
              <a:avLst/>
              <a:gdLst/>
              <a:ahLst/>
              <a:cxnLst/>
              <a:rect r="r" b="b" t="t" l="l"/>
              <a:pathLst>
                <a:path h="12700" w="5614670">
                  <a:moveTo>
                    <a:pt x="0" y="0"/>
                  </a:moveTo>
                  <a:lnTo>
                    <a:pt x="5614670" y="0"/>
                  </a:lnTo>
                  <a:lnTo>
                    <a:pt x="561467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B9CACD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371600" y="7924352"/>
            <a:ext cx="3880161" cy="906694"/>
            <a:chOff x="0" y="0"/>
            <a:chExt cx="5173548" cy="1208926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173547" cy="1208931"/>
            </a:xfrm>
            <a:custGeom>
              <a:avLst/>
              <a:gdLst/>
              <a:ahLst/>
              <a:cxnLst/>
              <a:rect r="r" b="b" t="t" l="l"/>
              <a:pathLst>
                <a:path h="1208931" w="5173547">
                  <a:moveTo>
                    <a:pt x="0" y="0"/>
                  </a:moveTo>
                  <a:lnTo>
                    <a:pt x="5173547" y="0"/>
                  </a:lnTo>
                  <a:lnTo>
                    <a:pt x="5173547" y="1208931"/>
                  </a:lnTo>
                  <a:lnTo>
                    <a:pt x="0" y="12089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385" r="0" b="-33384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19050"/>
              <a:ext cx="5173548" cy="1227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2A1E1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Testing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5354031" y="8792956"/>
            <a:ext cx="4211031" cy="9525"/>
            <a:chOff x="0" y="0"/>
            <a:chExt cx="5614708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614670" cy="12700"/>
            </a:xfrm>
            <a:custGeom>
              <a:avLst/>
              <a:gdLst/>
              <a:ahLst/>
              <a:cxnLst/>
              <a:rect r="r" b="b" t="t" l="l"/>
              <a:pathLst>
                <a:path h="12700" w="5614670">
                  <a:moveTo>
                    <a:pt x="0" y="0"/>
                  </a:moveTo>
                  <a:lnTo>
                    <a:pt x="5614670" y="0"/>
                  </a:lnTo>
                  <a:lnTo>
                    <a:pt x="561467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B9CACD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5582631" y="7924352"/>
            <a:ext cx="3880161" cy="906698"/>
            <a:chOff x="0" y="0"/>
            <a:chExt cx="5173548" cy="1208931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5173547" cy="1208936"/>
            </a:xfrm>
            <a:custGeom>
              <a:avLst/>
              <a:gdLst/>
              <a:ahLst/>
              <a:cxnLst/>
              <a:rect r="r" b="b" t="t" l="l"/>
              <a:pathLst>
                <a:path h="1208936" w="5173547">
                  <a:moveTo>
                    <a:pt x="0" y="0"/>
                  </a:moveTo>
                  <a:lnTo>
                    <a:pt x="5173547" y="0"/>
                  </a:lnTo>
                  <a:lnTo>
                    <a:pt x="5173547" y="1208936"/>
                  </a:lnTo>
                  <a:lnTo>
                    <a:pt x="0" y="12089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385" r="0" b="-33384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19050"/>
              <a:ext cx="5173548" cy="1227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3C31"/>
                  </a:solidFill>
                  <a:latin typeface="Poppins"/>
                  <a:ea typeface="Poppins"/>
                  <a:cs typeface="Poppins"/>
                  <a:sym typeface="Poppins"/>
                </a:rPr>
                <a:t>Abhiroop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9565062" y="8792956"/>
            <a:ext cx="7579881" cy="9525"/>
            <a:chOff x="0" y="0"/>
            <a:chExt cx="10106508" cy="1270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0106533" cy="12700"/>
            </a:xfrm>
            <a:custGeom>
              <a:avLst/>
              <a:gdLst/>
              <a:ahLst/>
              <a:cxnLst/>
              <a:rect r="r" b="b" t="t" l="l"/>
              <a:pathLst>
                <a:path h="12700" w="10106533">
                  <a:moveTo>
                    <a:pt x="0" y="0"/>
                  </a:moveTo>
                  <a:lnTo>
                    <a:pt x="10106533" y="0"/>
                  </a:lnTo>
                  <a:lnTo>
                    <a:pt x="1010653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B9CACD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9793662" y="7924352"/>
            <a:ext cx="7350071" cy="906698"/>
            <a:chOff x="0" y="0"/>
            <a:chExt cx="9800095" cy="1208931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9800099" cy="1208936"/>
            </a:xfrm>
            <a:custGeom>
              <a:avLst/>
              <a:gdLst/>
              <a:ahLst/>
              <a:cxnLst/>
              <a:rect r="r" b="b" t="t" l="l"/>
              <a:pathLst>
                <a:path h="1208936" w="9800099">
                  <a:moveTo>
                    <a:pt x="0" y="0"/>
                  </a:moveTo>
                  <a:lnTo>
                    <a:pt x="9800099" y="0"/>
                  </a:lnTo>
                  <a:lnTo>
                    <a:pt x="9800099" y="1208936"/>
                  </a:lnTo>
                  <a:lnTo>
                    <a:pt x="0" y="12089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953" r="0" b="-107952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19050"/>
              <a:ext cx="9800095" cy="1227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16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A3937F"/>
                  </a:solidFill>
                  <a:latin typeface="Poppins"/>
                  <a:ea typeface="Poppins"/>
                  <a:cs typeface="Poppins"/>
                  <a:sym typeface="Poppins"/>
                </a:rPr>
                <a:t>55 automated tests passing; BOM to PO exercised end to end.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143000" y="8800890"/>
            <a:ext cx="4211031" cy="876538"/>
            <a:chOff x="0" y="0"/>
            <a:chExt cx="5614708" cy="1168718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5614670" cy="1168654"/>
            </a:xfrm>
            <a:custGeom>
              <a:avLst/>
              <a:gdLst/>
              <a:ahLst/>
              <a:cxnLst/>
              <a:rect r="r" b="b" t="t" l="l"/>
              <a:pathLst>
                <a:path h="1168654" w="5614670">
                  <a:moveTo>
                    <a:pt x="0" y="0"/>
                  </a:moveTo>
                  <a:lnTo>
                    <a:pt x="5614670" y="0"/>
                  </a:lnTo>
                  <a:lnTo>
                    <a:pt x="5614670" y="1168654"/>
                  </a:lnTo>
                  <a:lnTo>
                    <a:pt x="0" y="1168654"/>
                  </a:lnTo>
                  <a:close/>
                </a:path>
              </a:pathLst>
            </a:custGeom>
            <a:solidFill>
              <a:srgbClr val="DFE8EA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143000" y="9669485"/>
            <a:ext cx="4211031" cy="9525"/>
            <a:chOff x="0" y="0"/>
            <a:chExt cx="5614708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614670" cy="12700"/>
            </a:xfrm>
            <a:custGeom>
              <a:avLst/>
              <a:gdLst/>
              <a:ahLst/>
              <a:cxnLst/>
              <a:rect r="r" b="b" t="t" l="l"/>
              <a:pathLst>
                <a:path h="12700" w="5614670">
                  <a:moveTo>
                    <a:pt x="0" y="0"/>
                  </a:moveTo>
                  <a:lnTo>
                    <a:pt x="5614670" y="0"/>
                  </a:lnTo>
                  <a:lnTo>
                    <a:pt x="561467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B9CACD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1371600" y="8800890"/>
            <a:ext cx="3880161" cy="906694"/>
            <a:chOff x="0" y="0"/>
            <a:chExt cx="5173548" cy="120892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5173547" cy="1208931"/>
            </a:xfrm>
            <a:custGeom>
              <a:avLst/>
              <a:gdLst/>
              <a:ahLst/>
              <a:cxnLst/>
              <a:rect r="r" b="b" t="t" l="l"/>
              <a:pathLst>
                <a:path h="1208931" w="5173547">
                  <a:moveTo>
                    <a:pt x="0" y="0"/>
                  </a:moveTo>
                  <a:lnTo>
                    <a:pt x="5173547" y="0"/>
                  </a:lnTo>
                  <a:lnTo>
                    <a:pt x="5173547" y="1208931"/>
                  </a:lnTo>
                  <a:lnTo>
                    <a:pt x="0" y="12089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385" r="0" b="-33384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19050"/>
              <a:ext cx="5173548" cy="1227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2A1E1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Pitch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5354031" y="8800890"/>
            <a:ext cx="4211031" cy="876538"/>
            <a:chOff x="0" y="0"/>
            <a:chExt cx="5614708" cy="1168718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5614670" cy="1168654"/>
            </a:xfrm>
            <a:custGeom>
              <a:avLst/>
              <a:gdLst/>
              <a:ahLst/>
              <a:cxnLst/>
              <a:rect r="r" b="b" t="t" l="l"/>
              <a:pathLst>
                <a:path h="1168654" w="5614670">
                  <a:moveTo>
                    <a:pt x="0" y="0"/>
                  </a:moveTo>
                  <a:lnTo>
                    <a:pt x="5614670" y="0"/>
                  </a:lnTo>
                  <a:lnTo>
                    <a:pt x="5614670" y="1168654"/>
                  </a:lnTo>
                  <a:lnTo>
                    <a:pt x="0" y="1168654"/>
                  </a:lnTo>
                  <a:close/>
                </a:path>
              </a:pathLst>
            </a:custGeom>
            <a:solidFill>
              <a:srgbClr val="DFE8EA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5354031" y="9669485"/>
            <a:ext cx="4211031" cy="9525"/>
            <a:chOff x="0" y="0"/>
            <a:chExt cx="5614708" cy="1270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614670" cy="12700"/>
            </a:xfrm>
            <a:custGeom>
              <a:avLst/>
              <a:gdLst/>
              <a:ahLst/>
              <a:cxnLst/>
              <a:rect r="r" b="b" t="t" l="l"/>
              <a:pathLst>
                <a:path h="12700" w="5614670">
                  <a:moveTo>
                    <a:pt x="0" y="0"/>
                  </a:moveTo>
                  <a:lnTo>
                    <a:pt x="5614670" y="0"/>
                  </a:lnTo>
                  <a:lnTo>
                    <a:pt x="561467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B9CACD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5582631" y="8800890"/>
            <a:ext cx="3880161" cy="906698"/>
            <a:chOff x="0" y="0"/>
            <a:chExt cx="5173548" cy="1208931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5173547" cy="1208936"/>
            </a:xfrm>
            <a:custGeom>
              <a:avLst/>
              <a:gdLst/>
              <a:ahLst/>
              <a:cxnLst/>
              <a:rect r="r" b="b" t="t" l="l"/>
              <a:pathLst>
                <a:path h="1208936" w="5173547">
                  <a:moveTo>
                    <a:pt x="0" y="0"/>
                  </a:moveTo>
                  <a:lnTo>
                    <a:pt x="5173547" y="0"/>
                  </a:lnTo>
                  <a:lnTo>
                    <a:pt x="5173547" y="1208936"/>
                  </a:lnTo>
                  <a:lnTo>
                    <a:pt x="0" y="12089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385" r="0" b="-33384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19050"/>
              <a:ext cx="5173548" cy="1227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16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4A3C31"/>
                  </a:solidFill>
                  <a:latin typeface="Poppins"/>
                  <a:ea typeface="Poppins"/>
                  <a:cs typeface="Poppins"/>
                  <a:sym typeface="Poppins"/>
                </a:rPr>
                <a:t>Vishnu Tej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9565062" y="8800890"/>
            <a:ext cx="7579881" cy="876538"/>
            <a:chOff x="0" y="0"/>
            <a:chExt cx="10106508" cy="1168718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0106533" cy="1168654"/>
            </a:xfrm>
            <a:custGeom>
              <a:avLst/>
              <a:gdLst/>
              <a:ahLst/>
              <a:cxnLst/>
              <a:rect r="r" b="b" t="t" l="l"/>
              <a:pathLst>
                <a:path h="1168654" w="10106533">
                  <a:moveTo>
                    <a:pt x="0" y="0"/>
                  </a:moveTo>
                  <a:lnTo>
                    <a:pt x="10106533" y="0"/>
                  </a:lnTo>
                  <a:lnTo>
                    <a:pt x="10106533" y="1168654"/>
                  </a:lnTo>
                  <a:lnTo>
                    <a:pt x="0" y="1168654"/>
                  </a:lnTo>
                  <a:close/>
                </a:path>
              </a:pathLst>
            </a:custGeom>
            <a:solidFill>
              <a:srgbClr val="DFE8EA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9565062" y="9669485"/>
            <a:ext cx="7579881" cy="9525"/>
            <a:chOff x="0" y="0"/>
            <a:chExt cx="10106508" cy="1270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10106533" cy="12700"/>
            </a:xfrm>
            <a:custGeom>
              <a:avLst/>
              <a:gdLst/>
              <a:ahLst/>
              <a:cxnLst/>
              <a:rect r="r" b="b" t="t" l="l"/>
              <a:pathLst>
                <a:path h="12700" w="10106533">
                  <a:moveTo>
                    <a:pt x="0" y="0"/>
                  </a:moveTo>
                  <a:lnTo>
                    <a:pt x="10106533" y="0"/>
                  </a:lnTo>
                  <a:lnTo>
                    <a:pt x="1010653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B9CACD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9793662" y="8800890"/>
            <a:ext cx="7350071" cy="906694"/>
            <a:chOff x="0" y="0"/>
            <a:chExt cx="9800095" cy="120892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9800099" cy="1208931"/>
            </a:xfrm>
            <a:custGeom>
              <a:avLst/>
              <a:gdLst/>
              <a:ahLst/>
              <a:cxnLst/>
              <a:rect r="r" b="b" t="t" l="l"/>
              <a:pathLst>
                <a:path h="1208931" w="9800099">
                  <a:moveTo>
                    <a:pt x="0" y="0"/>
                  </a:moveTo>
                  <a:lnTo>
                    <a:pt x="9800099" y="0"/>
                  </a:lnTo>
                  <a:lnTo>
                    <a:pt x="9800099" y="1208931"/>
                  </a:lnTo>
                  <a:lnTo>
                    <a:pt x="0" y="12089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954" r="0" b="-107953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19050"/>
              <a:ext cx="9800095" cy="1227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3937F"/>
                  </a:solidFill>
                  <a:latin typeface="Poppins"/>
                  <a:ea typeface="Poppins"/>
                  <a:cs typeface="Poppins"/>
                  <a:sym typeface="Poppins"/>
                </a:rPr>
                <a:t>Deck and demo video ready.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DAHUWk-YxG8</dc:identifier>
  <dcterms:modified xsi:type="dcterms:W3CDTF">2011-08-01T06:04:30Z</dcterms:modified>
  <cp:revision>1</cp:revision>
  <dc:title>Ideation &amp; Planning-Final.pptx</dc:title>
</cp:coreProperties>
</file>