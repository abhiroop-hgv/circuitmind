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charset="1" panose="020B0604020202020204"/>
      <p:regular r:id="rId22"/>
    </p:embeddedFont>
    <p:embeddedFont>
      <p:font typeface="Poppins Bold" charset="1" panose="00000800000000000000"/>
      <p:regular r:id="rId23"/>
    </p:embeddedFont>
    <p:embeddedFont>
      <p:font typeface="Georgia Bold" charset="1" panose="02040802050405020203"/>
      <p:regular r:id="rId24"/>
    </p:embeddedFont>
    <p:embeddedFont>
      <p:font typeface="Poppins" charset="1" panose="00000500000000000000"/>
      <p:regular r:id="rId25"/>
    </p:embeddedFont>
    <p:embeddedFont>
      <p:font typeface="Tomorrow" charset="1" panose="00000000000000000000"/>
      <p:regular r:id="rId26"/>
    </p:embeddedFont>
    <p:embeddedFont>
      <p:font typeface="Arimo" charset="1" panose="020B0604020202020204"/>
      <p:regular r:id="rId27"/>
    </p:embeddedFont>
    <p:embeddedFont>
      <p:font typeface="Calibri (MS)" charset="1" panose="020F0502020204030204"/>
      <p:regular r:id="rId28"/>
    </p:embeddedFont>
    <p:embeddedFont>
      <p:font typeface="Tomorrow Bold" charset="1" panose="00000000000000000000"/>
      <p:regular r:id="rId29"/>
    </p:embeddedFont>
    <p:embeddedFont>
      <p:font typeface="Times New Roman" charset="1" panose="020206030504050203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Fill in your team details. Do not change the deck structure.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ithub.com/Udyoga-Pramoda-Hackathon-2026/team-satyatma"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grpSp>
        <p:nvGrpSpPr>
          <p:cNvPr name="Group 4" id="4"/>
          <p:cNvGrpSpPr/>
          <p:nvPr/>
        </p:nvGrpSpPr>
        <p:grpSpPr>
          <a:xfrm rot="0">
            <a:off x="14382750" y="495290"/>
            <a:ext cx="2762250" cy="803986"/>
            <a:chOff x="0" y="0"/>
            <a:chExt cx="3683000" cy="1071982"/>
          </a:xfrm>
        </p:grpSpPr>
        <p:sp>
          <p:nvSpPr>
            <p:cNvPr name="Freeform 5" id="5" descr="preencoded.png"/>
            <p:cNvSpPr/>
            <p:nvPr/>
          </p:nvSpPr>
          <p:spPr>
            <a:xfrm flipH="false" flipV="false" rot="0">
              <a:off x="0" y="0"/>
              <a:ext cx="3683000" cy="1072007"/>
            </a:xfrm>
            <a:custGeom>
              <a:avLst/>
              <a:gdLst/>
              <a:ahLst/>
              <a:cxnLst/>
              <a:rect r="r" b="b" t="t" l="l"/>
              <a:pathLst>
                <a:path h="1072007" w="3683000">
                  <a:moveTo>
                    <a:pt x="0" y="0"/>
                  </a:moveTo>
                  <a:lnTo>
                    <a:pt x="3683000" y="0"/>
                  </a:lnTo>
                  <a:lnTo>
                    <a:pt x="3683000" y="1072007"/>
                  </a:lnTo>
                  <a:lnTo>
                    <a:pt x="0" y="1072007"/>
                  </a:lnTo>
                  <a:lnTo>
                    <a:pt x="0" y="0"/>
                  </a:lnTo>
                  <a:close/>
                </a:path>
              </a:pathLst>
            </a:custGeom>
            <a:blipFill>
              <a:blip r:embed="rId3"/>
              <a:stretch>
                <a:fillRect l="0" t="0" r="0" b="-3"/>
              </a:stretch>
            </a:blipFill>
          </p:spPr>
        </p:sp>
      </p:grpSp>
      <p:grpSp>
        <p:nvGrpSpPr>
          <p:cNvPr name="Group 6" id="6"/>
          <p:cNvGrpSpPr/>
          <p:nvPr/>
        </p:nvGrpSpPr>
        <p:grpSpPr>
          <a:xfrm rot="0">
            <a:off x="1143000" y="3525555"/>
            <a:ext cx="1714500" cy="38100"/>
            <a:chOff x="0" y="0"/>
            <a:chExt cx="2286000" cy="50800"/>
          </a:xfrm>
        </p:grpSpPr>
        <p:sp>
          <p:nvSpPr>
            <p:cNvPr name="Freeform 7" id="7"/>
            <p:cNvSpPr/>
            <p:nvPr/>
          </p:nvSpPr>
          <p:spPr>
            <a:xfrm flipH="false" flipV="false" rot="0">
              <a:off x="0" y="0"/>
              <a:ext cx="2286000" cy="50800"/>
            </a:xfrm>
            <a:custGeom>
              <a:avLst/>
              <a:gdLst/>
              <a:ahLst/>
              <a:cxnLst/>
              <a:rect r="r" b="b" t="t" l="l"/>
              <a:pathLst>
                <a:path h="50800" w="2286000">
                  <a:moveTo>
                    <a:pt x="0" y="0"/>
                  </a:moveTo>
                  <a:lnTo>
                    <a:pt x="2286000" y="0"/>
                  </a:lnTo>
                  <a:lnTo>
                    <a:pt x="2286000" y="50800"/>
                  </a:lnTo>
                  <a:lnTo>
                    <a:pt x="0" y="50800"/>
                  </a:lnTo>
                  <a:close/>
                </a:path>
              </a:pathLst>
            </a:custGeom>
            <a:solidFill>
              <a:srgbClr val="F0592B"/>
            </a:solidFill>
          </p:spPr>
        </p:sp>
      </p:grpSp>
      <p:sp>
        <p:nvSpPr>
          <p:cNvPr name="TextBox 8" id="8"/>
          <p:cNvSpPr txBox="true"/>
          <p:nvPr/>
        </p:nvSpPr>
        <p:spPr>
          <a:xfrm rot="0">
            <a:off x="1159935" y="3799608"/>
            <a:ext cx="17568339" cy="418462"/>
          </a:xfrm>
          <a:prstGeom prst="rect">
            <a:avLst/>
          </a:prstGeom>
        </p:spPr>
        <p:txBody>
          <a:bodyPr anchor="t" rtlCol="false" tIns="0" lIns="0" bIns="0" rIns="0">
            <a:spAutoFit/>
          </a:bodyPr>
          <a:lstStyle/>
          <a:p>
            <a:pPr algn="l">
              <a:lnSpc>
                <a:spcPts val="2520"/>
              </a:lnSpc>
            </a:pPr>
            <a:r>
              <a:rPr lang="en-US" sz="2100" spc="-367">
                <a:solidFill>
                  <a:srgbClr val="F0592B"/>
                </a:solidFill>
                <a:latin typeface="Arial"/>
                <a:ea typeface="Arial"/>
                <a:cs typeface="Arial"/>
                <a:sym typeface="Arial"/>
              </a:rPr>
              <a:t>P H A S E 1 — R E S E A R C H &amp; D I S C O V E R Y</a:t>
            </a:r>
          </a:p>
        </p:txBody>
      </p:sp>
      <p:sp>
        <p:nvSpPr>
          <p:cNvPr name="TextBox 9" id="9"/>
          <p:cNvSpPr txBox="true"/>
          <p:nvPr/>
        </p:nvSpPr>
        <p:spPr>
          <a:xfrm rot="0">
            <a:off x="1159935" y="4671127"/>
            <a:ext cx="17568339" cy="746436"/>
          </a:xfrm>
          <a:prstGeom prst="rect">
            <a:avLst/>
          </a:prstGeom>
        </p:spPr>
        <p:txBody>
          <a:bodyPr anchor="t" rtlCol="false" tIns="0" lIns="0" bIns="0" rIns="0">
            <a:spAutoFit/>
          </a:bodyPr>
          <a:lstStyle/>
          <a:p>
            <a:pPr algn="l">
              <a:lnSpc>
                <a:spcPts val="6121"/>
              </a:lnSpc>
            </a:pPr>
            <a:r>
              <a:rPr lang="en-US" b="true" sz="7800">
                <a:solidFill>
                  <a:srgbClr val="2A1E16"/>
                </a:solidFill>
                <a:latin typeface="Poppins Bold"/>
                <a:ea typeface="Poppins Bold"/>
                <a:cs typeface="Poppins Bold"/>
                <a:sym typeface="Poppins Bold"/>
              </a:rPr>
              <a:t>Satyatma </a:t>
            </a:r>
          </a:p>
        </p:txBody>
      </p:sp>
      <p:sp>
        <p:nvSpPr>
          <p:cNvPr name="TextBox 10" id="10"/>
          <p:cNvSpPr txBox="true"/>
          <p:nvPr/>
        </p:nvSpPr>
        <p:spPr>
          <a:xfrm rot="0">
            <a:off x="1159935" y="5632304"/>
            <a:ext cx="14970770" cy="600075"/>
          </a:xfrm>
          <a:prstGeom prst="rect">
            <a:avLst/>
          </a:prstGeom>
        </p:spPr>
        <p:txBody>
          <a:bodyPr anchor="t" rtlCol="false" tIns="0" lIns="0" bIns="0" rIns="0">
            <a:spAutoFit/>
          </a:bodyPr>
          <a:lstStyle/>
          <a:p>
            <a:pPr algn="l" marL="0" indent="0" lvl="0">
              <a:lnSpc>
                <a:spcPts val="4680"/>
              </a:lnSpc>
              <a:spcBef>
                <a:spcPct val="0"/>
              </a:spcBef>
            </a:pPr>
            <a:r>
              <a:rPr lang="en-US" b="true" sz="3900" strike="noStrike" u="none">
                <a:solidFill>
                  <a:srgbClr val="A3937F"/>
                </a:solidFill>
                <a:latin typeface="Georgia Bold"/>
                <a:ea typeface="Georgia Bold"/>
                <a:cs typeface="Georgia Bold"/>
                <a:sym typeface="Georgia Bold"/>
              </a:rPr>
              <a:t>CircuitMind — AI-powered vendor &amp; inventory intelligence</a:t>
            </a:r>
          </a:p>
        </p:txBody>
      </p:sp>
      <p:grpSp>
        <p:nvGrpSpPr>
          <p:cNvPr name="Group 11" id="11"/>
          <p:cNvGrpSpPr/>
          <p:nvPr/>
        </p:nvGrpSpPr>
        <p:grpSpPr>
          <a:xfrm rot="0">
            <a:off x="1143000" y="8450399"/>
            <a:ext cx="16002000" cy="15897"/>
            <a:chOff x="0" y="0"/>
            <a:chExt cx="21336000" cy="21196"/>
          </a:xfrm>
        </p:grpSpPr>
        <p:sp>
          <p:nvSpPr>
            <p:cNvPr name="Freeform 12" id="12"/>
            <p:cNvSpPr/>
            <p:nvPr/>
          </p:nvSpPr>
          <p:spPr>
            <a:xfrm flipH="false" flipV="false" rot="0">
              <a:off x="0" y="0"/>
              <a:ext cx="21336000" cy="21209"/>
            </a:xfrm>
            <a:custGeom>
              <a:avLst/>
              <a:gdLst/>
              <a:ahLst/>
              <a:cxnLst/>
              <a:rect r="r" b="b" t="t" l="l"/>
              <a:pathLst>
                <a:path h="21209" w="21336000">
                  <a:moveTo>
                    <a:pt x="0" y="0"/>
                  </a:moveTo>
                  <a:lnTo>
                    <a:pt x="21336000" y="0"/>
                  </a:lnTo>
                  <a:lnTo>
                    <a:pt x="21336000" y="21209"/>
                  </a:lnTo>
                  <a:lnTo>
                    <a:pt x="0" y="21209"/>
                  </a:lnTo>
                  <a:close/>
                </a:path>
              </a:pathLst>
            </a:custGeom>
            <a:solidFill>
              <a:srgbClr val="C9D7D9"/>
            </a:solidFill>
          </p:spPr>
        </p:sp>
      </p:grpSp>
      <p:sp>
        <p:nvSpPr>
          <p:cNvPr name="TextBox 13" id="13"/>
          <p:cNvSpPr txBox="true"/>
          <p:nvPr/>
        </p:nvSpPr>
        <p:spPr>
          <a:xfrm rot="0">
            <a:off x="1159935" y="8711775"/>
            <a:ext cx="3926738" cy="364684"/>
          </a:xfrm>
          <a:prstGeom prst="rect">
            <a:avLst/>
          </a:prstGeom>
        </p:spPr>
        <p:txBody>
          <a:bodyPr anchor="t" rtlCol="false" tIns="0" lIns="0" bIns="0" rIns="0">
            <a:spAutoFit/>
          </a:bodyPr>
          <a:lstStyle/>
          <a:p>
            <a:pPr algn="l">
              <a:lnSpc>
                <a:spcPts val="2160"/>
              </a:lnSpc>
            </a:pPr>
            <a:r>
              <a:rPr lang="en-US" b="true" sz="1800">
                <a:solidFill>
                  <a:srgbClr val="7A6A5B"/>
                </a:solidFill>
                <a:latin typeface="Poppins Bold"/>
                <a:ea typeface="Poppins Bold"/>
                <a:cs typeface="Poppins Bold"/>
                <a:sym typeface="Poppins Bold"/>
              </a:rPr>
              <a:t>TEAM MEMBERS</a:t>
            </a:r>
          </a:p>
        </p:txBody>
      </p:sp>
      <p:sp>
        <p:nvSpPr>
          <p:cNvPr name="TextBox 14" id="14"/>
          <p:cNvSpPr txBox="true"/>
          <p:nvPr/>
        </p:nvSpPr>
        <p:spPr>
          <a:xfrm rot="0">
            <a:off x="553383" y="9129236"/>
            <a:ext cx="3926738" cy="1128189"/>
          </a:xfrm>
          <a:prstGeom prst="rect">
            <a:avLst/>
          </a:prstGeom>
        </p:spPr>
        <p:txBody>
          <a:bodyPr anchor="t" rtlCol="false" tIns="0" lIns="0" bIns="0" rIns="0">
            <a:spAutoFit/>
          </a:bodyPr>
          <a:lstStyle/>
          <a:p>
            <a:pPr algn="l">
              <a:lnSpc>
                <a:spcPts val="2399"/>
              </a:lnSpc>
            </a:pPr>
            <a:r>
              <a:rPr lang="en-US" sz="1999">
                <a:solidFill>
                  <a:srgbClr val="A3937F"/>
                </a:solidFill>
                <a:latin typeface="Poppins"/>
                <a:ea typeface="Poppins"/>
                <a:cs typeface="Poppins"/>
                <a:sym typeface="Poppins"/>
              </a:rPr>
              <a:t>Abhiroop, Shruthi, Aravind, Sreephaneesh, Vishnu Tej</a:t>
            </a:r>
          </a:p>
        </p:txBody>
      </p:sp>
      <p:sp>
        <p:nvSpPr>
          <p:cNvPr name="TextBox 15" id="15"/>
          <p:cNvSpPr txBox="true"/>
          <p:nvPr/>
        </p:nvSpPr>
        <p:spPr>
          <a:xfrm rot="0">
            <a:off x="5293757" y="8711775"/>
            <a:ext cx="3926738" cy="364684"/>
          </a:xfrm>
          <a:prstGeom prst="rect">
            <a:avLst/>
          </a:prstGeom>
        </p:spPr>
        <p:txBody>
          <a:bodyPr anchor="t" rtlCol="false" tIns="0" lIns="0" bIns="0" rIns="0">
            <a:spAutoFit/>
          </a:bodyPr>
          <a:lstStyle/>
          <a:p>
            <a:pPr algn="l">
              <a:lnSpc>
                <a:spcPts val="2160"/>
              </a:lnSpc>
            </a:pPr>
            <a:r>
              <a:rPr lang="en-US" b="true" sz="1800">
                <a:solidFill>
                  <a:srgbClr val="7A6A5B"/>
                </a:solidFill>
                <a:latin typeface="Poppins Bold"/>
                <a:ea typeface="Poppins Bold"/>
                <a:cs typeface="Poppins Bold"/>
                <a:sym typeface="Poppins Bold"/>
              </a:rPr>
              <a:t>MENTOR</a:t>
            </a:r>
          </a:p>
        </p:txBody>
      </p:sp>
      <p:sp>
        <p:nvSpPr>
          <p:cNvPr name="TextBox 16" id="16"/>
          <p:cNvSpPr txBox="true"/>
          <p:nvPr/>
        </p:nvSpPr>
        <p:spPr>
          <a:xfrm rot="0">
            <a:off x="4662926" y="9129236"/>
            <a:ext cx="3926738" cy="1128189"/>
          </a:xfrm>
          <a:prstGeom prst="rect">
            <a:avLst/>
          </a:prstGeom>
        </p:spPr>
        <p:txBody>
          <a:bodyPr anchor="t" rtlCol="false" tIns="0" lIns="0" bIns="0" rIns="0">
            <a:spAutoFit/>
          </a:bodyPr>
          <a:lstStyle/>
          <a:p>
            <a:pPr algn="l">
              <a:lnSpc>
                <a:spcPts val="2399"/>
              </a:lnSpc>
            </a:pPr>
            <a:r>
              <a:rPr lang="en-US" sz="1999">
                <a:solidFill>
                  <a:srgbClr val="A3937F"/>
                </a:solidFill>
                <a:latin typeface="Poppins"/>
                <a:ea typeface="Poppins"/>
                <a:cs typeface="Poppins"/>
                <a:sym typeface="Poppins"/>
              </a:rPr>
              <a:t>Pushkar Katti, Vishal Mahuli</a:t>
            </a:r>
          </a:p>
        </p:txBody>
      </p:sp>
      <p:sp>
        <p:nvSpPr>
          <p:cNvPr name="TextBox 17" id="17"/>
          <p:cNvSpPr txBox="true"/>
          <p:nvPr/>
        </p:nvSpPr>
        <p:spPr>
          <a:xfrm rot="0">
            <a:off x="9254261" y="8711775"/>
            <a:ext cx="3926738" cy="364684"/>
          </a:xfrm>
          <a:prstGeom prst="rect">
            <a:avLst/>
          </a:prstGeom>
        </p:spPr>
        <p:txBody>
          <a:bodyPr anchor="t" rtlCol="false" tIns="0" lIns="0" bIns="0" rIns="0">
            <a:spAutoFit/>
          </a:bodyPr>
          <a:lstStyle/>
          <a:p>
            <a:pPr algn="l">
              <a:lnSpc>
                <a:spcPts val="2160"/>
              </a:lnSpc>
            </a:pPr>
            <a:r>
              <a:rPr lang="en-US" b="true" sz="1800">
                <a:solidFill>
                  <a:srgbClr val="7A6A5B"/>
                </a:solidFill>
                <a:latin typeface="Poppins Bold"/>
                <a:ea typeface="Poppins Bold"/>
                <a:cs typeface="Poppins Bold"/>
                <a:sym typeface="Poppins Bold"/>
              </a:rPr>
              <a:t>DATE</a:t>
            </a:r>
          </a:p>
        </p:txBody>
      </p:sp>
      <p:sp>
        <p:nvSpPr>
          <p:cNvPr name="TextBox 18" id="18"/>
          <p:cNvSpPr txBox="true"/>
          <p:nvPr/>
        </p:nvSpPr>
        <p:spPr>
          <a:xfrm rot="0">
            <a:off x="8918086" y="9129236"/>
            <a:ext cx="3926738" cy="436083"/>
          </a:xfrm>
          <a:prstGeom prst="rect">
            <a:avLst/>
          </a:prstGeom>
        </p:spPr>
        <p:txBody>
          <a:bodyPr anchor="t" rtlCol="false" tIns="0" lIns="0" bIns="0" rIns="0">
            <a:spAutoFit/>
          </a:bodyPr>
          <a:lstStyle/>
          <a:p>
            <a:pPr algn="l">
              <a:lnSpc>
                <a:spcPts val="2520"/>
              </a:lnSpc>
            </a:pPr>
            <a:r>
              <a:rPr lang="en-US" sz="2100">
                <a:solidFill>
                  <a:srgbClr val="A3937F"/>
                </a:solidFill>
                <a:latin typeface="Poppins"/>
                <a:ea typeface="Poppins"/>
                <a:cs typeface="Poppins"/>
                <a:sym typeface="Poppins"/>
              </a:rPr>
              <a:t>05-09-2026</a:t>
            </a:r>
          </a:p>
        </p:txBody>
      </p:sp>
      <p:sp>
        <p:nvSpPr>
          <p:cNvPr name="TextBox 19" id="19"/>
          <p:cNvSpPr txBox="true"/>
          <p:nvPr/>
        </p:nvSpPr>
        <p:spPr>
          <a:xfrm rot="0">
            <a:off x="13561409" y="8711775"/>
            <a:ext cx="3926738" cy="364684"/>
          </a:xfrm>
          <a:prstGeom prst="rect">
            <a:avLst/>
          </a:prstGeom>
        </p:spPr>
        <p:txBody>
          <a:bodyPr anchor="t" rtlCol="false" tIns="0" lIns="0" bIns="0" rIns="0">
            <a:spAutoFit/>
          </a:bodyPr>
          <a:lstStyle/>
          <a:p>
            <a:pPr algn="l">
              <a:lnSpc>
                <a:spcPts val="2160"/>
              </a:lnSpc>
            </a:pPr>
            <a:r>
              <a:rPr lang="en-US" b="true" sz="1800">
                <a:solidFill>
                  <a:srgbClr val="7A6A5B"/>
                </a:solidFill>
                <a:latin typeface="Poppins Bold"/>
                <a:ea typeface="Poppins Bold"/>
                <a:cs typeface="Poppins Bold"/>
                <a:sym typeface="Poppins Bold"/>
              </a:rPr>
              <a:t>REPOSITORY</a:t>
            </a:r>
          </a:p>
        </p:txBody>
      </p:sp>
      <p:sp>
        <p:nvSpPr>
          <p:cNvPr name="TextBox 20" id="20"/>
          <p:cNvSpPr txBox="true"/>
          <p:nvPr/>
        </p:nvSpPr>
        <p:spPr>
          <a:xfrm rot="0">
            <a:off x="12759233" y="9129236"/>
            <a:ext cx="4728934" cy="933450"/>
          </a:xfrm>
          <a:prstGeom prst="rect">
            <a:avLst/>
          </a:prstGeom>
        </p:spPr>
        <p:txBody>
          <a:bodyPr anchor="t" rtlCol="false" tIns="0" lIns="0" bIns="0" rIns="0">
            <a:spAutoFit/>
          </a:bodyPr>
          <a:lstStyle/>
          <a:p>
            <a:pPr algn="l" marL="0" indent="0" lvl="0">
              <a:lnSpc>
                <a:spcPts val="2460"/>
              </a:lnSpc>
              <a:spcBef>
                <a:spcPct val="0"/>
              </a:spcBef>
            </a:pPr>
            <a:r>
              <a:rPr lang="en-US" sz="2050" strike="noStrike" u="sng">
                <a:solidFill>
                  <a:srgbClr val="0000FF"/>
                </a:solidFill>
                <a:latin typeface="Poppins"/>
                <a:ea typeface="Poppins"/>
                <a:cs typeface="Poppins"/>
                <a:sym typeface="Poppins"/>
                <a:hlinkClick r:id="rId4" tooltip="https://github.com/Udyoga-Pramoda-Hackathon-2026/team-satyatma"/>
              </a:rPr>
              <a:t>https://github.com/Udyoga-Pramoda-Hackathon-2026/team-satyatma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672590"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1</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Problem definition</a:t>
            </a:r>
          </a:p>
          <a:p>
            <a:pPr algn="l">
              <a:lnSpc>
                <a:spcPts val="2520"/>
              </a:lnSpc>
            </a:pPr>
            <a:r>
              <a:rPr lang="en-US" sz="2100" spc="2">
                <a:solidFill>
                  <a:srgbClr val="7A6A5B"/>
                </a:solidFill>
                <a:latin typeface="Tomorrow"/>
                <a:ea typeface="Tomorrow"/>
                <a:cs typeface="Tomorrow"/>
                <a:sym typeface="Tomorrow"/>
              </a:rPr>
              <a:t>What are we solving, why does it matter, and why now?</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36922"/>
            <a:ext cx="1903095" cy="339728"/>
          </a:xfrm>
          <a:prstGeom prst="rect">
            <a:avLst/>
          </a:prstGeom>
        </p:spPr>
        <p:txBody>
          <a:bodyPr anchor="t" rtlCol="false" tIns="0" lIns="0" bIns="0" rIns="0">
            <a:spAutoFit/>
          </a:bodyPr>
          <a:lstStyle/>
          <a:p>
            <a:pPr algn="l">
              <a:lnSpc>
                <a:spcPts val="2250"/>
              </a:lnSpc>
            </a:pPr>
            <a:r>
              <a:rPr lang="en-US" sz="1875" spc="-37">
                <a:solidFill>
                  <a:srgbClr val="F0592B"/>
                </a:solidFill>
                <a:latin typeface="Arial"/>
                <a:ea typeface="Arial"/>
                <a:cs typeface="Arial"/>
                <a:sym typeface="Arial"/>
              </a:rPr>
              <a:t>THE PROBLEM</a:t>
            </a:r>
          </a:p>
        </p:txBody>
      </p:sp>
      <p:grpSp>
        <p:nvGrpSpPr>
          <p:cNvPr name="Group 11" id="11"/>
          <p:cNvGrpSpPr/>
          <p:nvPr/>
        </p:nvGrpSpPr>
        <p:grpSpPr>
          <a:xfrm rot="0">
            <a:off x="1143000" y="3867150"/>
            <a:ext cx="4981575" cy="4910195"/>
            <a:chOff x="0" y="0"/>
            <a:chExt cx="6642100" cy="6546926"/>
          </a:xfrm>
        </p:grpSpPr>
        <p:sp>
          <p:nvSpPr>
            <p:cNvPr name="Freeform 12" id="12"/>
            <p:cNvSpPr/>
            <p:nvPr/>
          </p:nvSpPr>
          <p:spPr>
            <a:xfrm flipH="false" flipV="false" rot="0">
              <a:off x="0" y="0"/>
              <a:ext cx="6642100" cy="6546977"/>
            </a:xfrm>
            <a:custGeom>
              <a:avLst/>
              <a:gdLst/>
              <a:ahLst/>
              <a:cxnLst/>
              <a:rect r="r" b="b" t="t" l="l"/>
              <a:pathLst>
                <a:path h="6546977" w="6642100">
                  <a:moveTo>
                    <a:pt x="0" y="0"/>
                  </a:moveTo>
                  <a:lnTo>
                    <a:pt x="6642100" y="0"/>
                  </a:lnTo>
                  <a:lnTo>
                    <a:pt x="6642100" y="6546977"/>
                  </a:lnTo>
                  <a:lnTo>
                    <a:pt x="0" y="6546977"/>
                  </a:lnTo>
                  <a:close/>
                </a:path>
              </a:pathLst>
            </a:custGeom>
            <a:solidFill>
              <a:srgbClr val="F7F1E6"/>
            </a:solidFill>
            <a:ln w="19050" cap="sq">
              <a:solidFill>
                <a:srgbClr val="DCCFBB"/>
              </a:solidFill>
              <a:prstDash val="solid"/>
              <a:miter/>
            </a:ln>
          </p:spPr>
        </p:sp>
        <p:sp>
          <p:nvSpPr>
            <p:cNvPr name="TextBox 13" id="13"/>
            <p:cNvSpPr txBox="true"/>
            <p:nvPr/>
          </p:nvSpPr>
          <p:spPr>
            <a:xfrm>
              <a:off x="0" y="-47625"/>
              <a:ext cx="6642100" cy="6594551"/>
            </a:xfrm>
            <a:prstGeom prst="rect">
              <a:avLst/>
            </a:prstGeom>
          </p:spPr>
          <p:txBody>
            <a:bodyPr anchor="t" rtlCol="false" tIns="50800" lIns="50800" bIns="50800" rIns="50800"/>
            <a:lstStyle/>
            <a:p>
              <a:pPr algn="l">
                <a:lnSpc>
                  <a:spcPts val="2441"/>
                </a:lnSpc>
              </a:pPr>
              <a:r>
                <a:rPr lang="en-US" sz="1650" spc="16">
                  <a:solidFill>
                    <a:srgbClr val="A3937F"/>
                  </a:solidFill>
                  <a:latin typeface="Tomorrow"/>
                  <a:ea typeface="Tomorrow"/>
                  <a:cs typeface="Tomorrow"/>
                  <a:sym typeface="Tomorrow"/>
                </a:rPr>
                <a:t>Semiconductor manufacturers and electronics OEMs struggle to maintain the right inventory levels because demand changes rapidly, supplier lead times are uncertain, and critical supply information is fragmented across ERP, procurement, supplier and planning systems. As a result, procurement and supply-chain teams often discover component shortages, supplier delays, and excess or obsolete inventory only after they begin impacting production, customer commitments, and working capital.</a:t>
              </a:r>
            </a:p>
          </p:txBody>
        </p:sp>
      </p:grpSp>
      <p:sp>
        <p:nvSpPr>
          <p:cNvPr name="TextBox 14" id="14"/>
          <p:cNvSpPr txBox="true"/>
          <p:nvPr/>
        </p:nvSpPr>
        <p:spPr>
          <a:xfrm rot="0">
            <a:off x="6635648" y="3336922"/>
            <a:ext cx="2376488" cy="339728"/>
          </a:xfrm>
          <a:prstGeom prst="rect">
            <a:avLst/>
          </a:prstGeom>
        </p:spPr>
        <p:txBody>
          <a:bodyPr anchor="t" rtlCol="false" tIns="0" lIns="0" bIns="0" rIns="0">
            <a:spAutoFit/>
          </a:bodyPr>
          <a:lstStyle/>
          <a:p>
            <a:pPr algn="l">
              <a:lnSpc>
                <a:spcPts val="2250"/>
              </a:lnSpc>
            </a:pPr>
            <a:r>
              <a:rPr lang="en-US" sz="1875" spc="-15">
                <a:solidFill>
                  <a:srgbClr val="F0592B"/>
                </a:solidFill>
                <a:latin typeface="Arial"/>
                <a:ea typeface="Arial"/>
                <a:cs typeface="Arial"/>
                <a:sym typeface="Arial"/>
              </a:rPr>
              <a:t>WHY IT MATTERS</a:t>
            </a:r>
          </a:p>
        </p:txBody>
      </p:sp>
      <p:grpSp>
        <p:nvGrpSpPr>
          <p:cNvPr name="Group 15" id="15"/>
          <p:cNvGrpSpPr/>
          <p:nvPr/>
        </p:nvGrpSpPr>
        <p:grpSpPr>
          <a:xfrm rot="0">
            <a:off x="6657975" y="3867150"/>
            <a:ext cx="4972050" cy="3348714"/>
            <a:chOff x="0" y="0"/>
            <a:chExt cx="6629400" cy="4464952"/>
          </a:xfrm>
        </p:grpSpPr>
        <p:sp>
          <p:nvSpPr>
            <p:cNvPr name="Freeform 16" id="16"/>
            <p:cNvSpPr/>
            <p:nvPr/>
          </p:nvSpPr>
          <p:spPr>
            <a:xfrm flipH="false" flipV="false" rot="0">
              <a:off x="0" y="0"/>
              <a:ext cx="6629400" cy="4464939"/>
            </a:xfrm>
            <a:custGeom>
              <a:avLst/>
              <a:gdLst/>
              <a:ahLst/>
              <a:cxnLst/>
              <a:rect r="r" b="b" t="t" l="l"/>
              <a:pathLst>
                <a:path h="4464939" w="6629400">
                  <a:moveTo>
                    <a:pt x="0" y="0"/>
                  </a:moveTo>
                  <a:lnTo>
                    <a:pt x="6629400" y="0"/>
                  </a:lnTo>
                  <a:lnTo>
                    <a:pt x="6629400" y="4464939"/>
                  </a:lnTo>
                  <a:lnTo>
                    <a:pt x="0" y="4464939"/>
                  </a:lnTo>
                  <a:close/>
                </a:path>
              </a:pathLst>
            </a:custGeom>
            <a:solidFill>
              <a:srgbClr val="F7F1E6"/>
            </a:solidFill>
            <a:ln w="19050" cap="sq">
              <a:solidFill>
                <a:srgbClr val="DCCFBB"/>
              </a:solidFill>
              <a:prstDash val="solid"/>
              <a:miter/>
            </a:ln>
          </p:spPr>
        </p:sp>
        <p:sp>
          <p:nvSpPr>
            <p:cNvPr name="TextBox 17" id="17"/>
            <p:cNvSpPr txBox="true"/>
            <p:nvPr/>
          </p:nvSpPr>
          <p:spPr>
            <a:xfrm>
              <a:off x="0" y="-47625"/>
              <a:ext cx="6629400" cy="4512577"/>
            </a:xfrm>
            <a:prstGeom prst="rect">
              <a:avLst/>
            </a:prstGeom>
          </p:spPr>
          <p:txBody>
            <a:bodyPr anchor="t" rtlCol="false" tIns="50800" lIns="50800" bIns="50800" rIns="50800"/>
            <a:lstStyle/>
            <a:p>
              <a:pPr algn="l">
                <a:lnSpc>
                  <a:spcPts val="2441"/>
                </a:lnSpc>
              </a:pPr>
              <a:r>
                <a:rPr lang="en-US" sz="1650" spc="99">
                  <a:solidFill>
                    <a:srgbClr val="A3937F"/>
                  </a:solidFill>
                  <a:latin typeface="Tomorrow"/>
                  <a:ea typeface="Tomorrow"/>
                  <a:cs typeface="Tomorrow"/>
                  <a:sym typeface="Tomorrow"/>
                </a:rPr>
                <a:t>Semiconductor supply-chain teams face frequent shortages, supplier delays and excess inventory, impacting production, revenue and working capital. Best-in-class companies achieve 2× better supply-chain performance, while poor on-time delivery can contribute to significant revenue loss.</a:t>
              </a:r>
            </a:p>
          </p:txBody>
        </p:sp>
      </p:grpSp>
      <p:sp>
        <p:nvSpPr>
          <p:cNvPr name="TextBox 18" id="18"/>
          <p:cNvSpPr txBox="true"/>
          <p:nvPr/>
        </p:nvSpPr>
        <p:spPr>
          <a:xfrm rot="0">
            <a:off x="12147499" y="3336922"/>
            <a:ext cx="1438275" cy="339728"/>
          </a:xfrm>
          <a:prstGeom prst="rect">
            <a:avLst/>
          </a:prstGeom>
        </p:spPr>
        <p:txBody>
          <a:bodyPr anchor="t" rtlCol="false" tIns="0" lIns="0" bIns="0" rIns="0">
            <a:spAutoFit/>
          </a:bodyPr>
          <a:lstStyle/>
          <a:p>
            <a:pPr algn="l">
              <a:lnSpc>
                <a:spcPts val="2250"/>
              </a:lnSpc>
            </a:pPr>
            <a:r>
              <a:rPr lang="en-US" sz="1875">
                <a:solidFill>
                  <a:srgbClr val="F0592B"/>
                </a:solidFill>
                <a:latin typeface="Arial"/>
                <a:ea typeface="Arial"/>
                <a:cs typeface="Arial"/>
                <a:sym typeface="Arial"/>
              </a:rPr>
              <a:t>WHY NOW</a:t>
            </a:r>
          </a:p>
        </p:txBody>
      </p:sp>
      <p:grpSp>
        <p:nvGrpSpPr>
          <p:cNvPr name="Group 19" id="19"/>
          <p:cNvGrpSpPr/>
          <p:nvPr/>
        </p:nvGrpSpPr>
        <p:grpSpPr>
          <a:xfrm rot="0">
            <a:off x="12163425" y="3867150"/>
            <a:ext cx="4981575" cy="3772770"/>
            <a:chOff x="0" y="0"/>
            <a:chExt cx="6642100" cy="5030360"/>
          </a:xfrm>
        </p:grpSpPr>
        <p:sp>
          <p:nvSpPr>
            <p:cNvPr name="Freeform 20" id="20"/>
            <p:cNvSpPr/>
            <p:nvPr/>
          </p:nvSpPr>
          <p:spPr>
            <a:xfrm flipH="false" flipV="false" rot="0">
              <a:off x="0" y="0"/>
              <a:ext cx="6642100" cy="5030347"/>
            </a:xfrm>
            <a:custGeom>
              <a:avLst/>
              <a:gdLst/>
              <a:ahLst/>
              <a:cxnLst/>
              <a:rect r="r" b="b" t="t" l="l"/>
              <a:pathLst>
                <a:path h="5030347" w="6642100">
                  <a:moveTo>
                    <a:pt x="0" y="0"/>
                  </a:moveTo>
                  <a:lnTo>
                    <a:pt x="6642100" y="0"/>
                  </a:lnTo>
                  <a:lnTo>
                    <a:pt x="6642100" y="5030347"/>
                  </a:lnTo>
                  <a:lnTo>
                    <a:pt x="0" y="5030347"/>
                  </a:lnTo>
                  <a:close/>
                </a:path>
              </a:pathLst>
            </a:custGeom>
            <a:solidFill>
              <a:srgbClr val="F7F1E6"/>
            </a:solidFill>
            <a:ln w="19050" cap="sq">
              <a:solidFill>
                <a:srgbClr val="DCCFBB"/>
              </a:solidFill>
              <a:prstDash val="solid"/>
              <a:miter/>
            </a:ln>
          </p:spPr>
        </p:sp>
        <p:sp>
          <p:nvSpPr>
            <p:cNvPr name="TextBox 21" id="21"/>
            <p:cNvSpPr txBox="true"/>
            <p:nvPr/>
          </p:nvSpPr>
          <p:spPr>
            <a:xfrm>
              <a:off x="0" y="-57150"/>
              <a:ext cx="6642100" cy="5087510"/>
            </a:xfrm>
            <a:prstGeom prst="rect">
              <a:avLst/>
            </a:prstGeom>
          </p:spPr>
          <p:txBody>
            <a:bodyPr anchor="t" rtlCol="false" tIns="50800" lIns="50800" bIns="50800" rIns="50800"/>
            <a:lstStyle/>
            <a:p>
              <a:pPr algn="l" marL="0" indent="0" lvl="0">
                <a:lnSpc>
                  <a:spcPts val="2774"/>
                </a:lnSpc>
                <a:spcBef>
                  <a:spcPct val="0"/>
                </a:spcBef>
              </a:pPr>
              <a:r>
                <a:rPr lang="en-US" sz="1875" spc="114" strike="noStrike" u="none">
                  <a:solidFill>
                    <a:srgbClr val="A3937F"/>
                  </a:solidFill>
                  <a:latin typeface="Tomorrow"/>
                  <a:ea typeface="Tomorrow"/>
                  <a:cs typeface="Tomorrow"/>
                  <a:sym typeface="Tomorrow"/>
                </a:rPr>
                <a:t>AI demand is outpacing semiconductor supply, while geopolitical and capacity risks are making sourcing more unpredictable. With AI now able to read a published event and resolve it against enterprise data, teams can stop discovering shortages weeks late and start acting on them the day they are announced.</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21167"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2</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209">
                <a:solidFill>
                  <a:srgbClr val="2A1E16"/>
                </a:solidFill>
                <a:latin typeface="Arial"/>
                <a:ea typeface="Arial"/>
                <a:cs typeface="Arial"/>
                <a:sym typeface="Arial"/>
              </a:rPr>
              <a:t>Target user</a:t>
            </a:r>
          </a:p>
          <a:p>
            <a:pPr algn="l">
              <a:lnSpc>
                <a:spcPts val="2520"/>
              </a:lnSpc>
            </a:pPr>
            <a:r>
              <a:rPr lang="en-US" sz="2100" spc="2">
                <a:solidFill>
                  <a:srgbClr val="7A6A5B"/>
                </a:solidFill>
                <a:latin typeface="Tomorrow"/>
                <a:ea typeface="Tomorrow"/>
                <a:cs typeface="Tomorrow"/>
                <a:sym typeface="Tomorrow"/>
              </a:rPr>
              <a:t>Who experiences this problem, and who experiences it most strongly?</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36922"/>
            <a:ext cx="2051685" cy="339728"/>
          </a:xfrm>
          <a:prstGeom prst="rect">
            <a:avLst/>
          </a:prstGeom>
        </p:spPr>
        <p:txBody>
          <a:bodyPr anchor="t" rtlCol="false" tIns="0" lIns="0" bIns="0" rIns="0">
            <a:spAutoFit/>
          </a:bodyPr>
          <a:lstStyle/>
          <a:p>
            <a:pPr algn="l">
              <a:lnSpc>
                <a:spcPts val="2250"/>
              </a:lnSpc>
            </a:pPr>
            <a:r>
              <a:rPr lang="en-US" sz="1875">
                <a:solidFill>
                  <a:srgbClr val="F0592B"/>
                </a:solidFill>
                <a:latin typeface="Arial"/>
                <a:ea typeface="Arial"/>
                <a:cs typeface="Arial"/>
                <a:sym typeface="Arial"/>
              </a:rPr>
              <a:t>PRIMARY USER</a:t>
            </a:r>
          </a:p>
        </p:txBody>
      </p:sp>
      <p:grpSp>
        <p:nvGrpSpPr>
          <p:cNvPr name="Group 11" id="11"/>
          <p:cNvGrpSpPr/>
          <p:nvPr/>
        </p:nvGrpSpPr>
        <p:grpSpPr>
          <a:xfrm rot="0">
            <a:off x="1143000" y="3867150"/>
            <a:ext cx="4981575" cy="3417865"/>
            <a:chOff x="0" y="0"/>
            <a:chExt cx="6642100" cy="4557154"/>
          </a:xfrm>
        </p:grpSpPr>
        <p:sp>
          <p:nvSpPr>
            <p:cNvPr name="Freeform 12" id="12"/>
            <p:cNvSpPr/>
            <p:nvPr/>
          </p:nvSpPr>
          <p:spPr>
            <a:xfrm flipH="false" flipV="false" rot="0">
              <a:off x="0" y="0"/>
              <a:ext cx="6642100" cy="4557141"/>
            </a:xfrm>
            <a:custGeom>
              <a:avLst/>
              <a:gdLst/>
              <a:ahLst/>
              <a:cxnLst/>
              <a:rect r="r" b="b" t="t" l="l"/>
              <a:pathLst>
                <a:path h="4557141" w="6642100">
                  <a:moveTo>
                    <a:pt x="0" y="0"/>
                  </a:moveTo>
                  <a:lnTo>
                    <a:pt x="6642100" y="0"/>
                  </a:lnTo>
                  <a:lnTo>
                    <a:pt x="6642100" y="4557141"/>
                  </a:lnTo>
                  <a:lnTo>
                    <a:pt x="0" y="4557141"/>
                  </a:lnTo>
                  <a:close/>
                </a:path>
              </a:pathLst>
            </a:custGeom>
            <a:solidFill>
              <a:srgbClr val="F7F1E6"/>
            </a:solidFill>
            <a:ln w="19050" cap="sq">
              <a:solidFill>
                <a:srgbClr val="DCCFBB"/>
              </a:solidFill>
              <a:prstDash val="solid"/>
              <a:miter/>
            </a:ln>
          </p:spPr>
        </p:sp>
        <p:sp>
          <p:nvSpPr>
            <p:cNvPr name="TextBox 13" id="13"/>
            <p:cNvSpPr txBox="true"/>
            <p:nvPr/>
          </p:nvSpPr>
          <p:spPr>
            <a:xfrm>
              <a:off x="0" y="-57150"/>
              <a:ext cx="6642100" cy="4614304"/>
            </a:xfrm>
            <a:prstGeom prst="rect">
              <a:avLst/>
            </a:prstGeom>
          </p:spPr>
          <p:txBody>
            <a:bodyPr anchor="t" rtlCol="false" tIns="50800" lIns="50800" bIns="50800" rIns="50800"/>
            <a:lstStyle/>
            <a:p>
              <a:pPr algn="l">
                <a:lnSpc>
                  <a:spcPts val="2774"/>
                </a:lnSpc>
              </a:pPr>
              <a:r>
                <a:rPr lang="en-US" sz="1875" spc="1">
                  <a:solidFill>
                    <a:srgbClr val="A3937F"/>
                  </a:solidFill>
                  <a:latin typeface="Tomorrow"/>
                  <a:ea typeface="Tomorrow"/>
                  <a:cs typeface="Tomorrow"/>
                  <a:sym typeface="Tomorrow"/>
                </a:rPr>
                <a:t>Supply Chain Planners manage semiconductor demand, inventory and supplier commitments across complex networks. Today they depend on ERP reports, spreadsheets and supplier updates to manually identify shortages and supply risks, making it difficult to act before production is impacted.</a:t>
              </a:r>
            </a:p>
          </p:txBody>
        </p:sp>
      </p:grpSp>
      <p:sp>
        <p:nvSpPr>
          <p:cNvPr name="TextBox 14" id="14"/>
          <p:cNvSpPr txBox="true"/>
          <p:nvPr/>
        </p:nvSpPr>
        <p:spPr>
          <a:xfrm rot="0">
            <a:off x="6635648" y="3336922"/>
            <a:ext cx="2518410" cy="339728"/>
          </a:xfrm>
          <a:prstGeom prst="rect">
            <a:avLst/>
          </a:prstGeom>
        </p:spPr>
        <p:txBody>
          <a:bodyPr anchor="t" rtlCol="false" tIns="0" lIns="0" bIns="0" rIns="0">
            <a:spAutoFit/>
          </a:bodyPr>
          <a:lstStyle/>
          <a:p>
            <a:pPr algn="l">
              <a:lnSpc>
                <a:spcPts val="2250"/>
              </a:lnSpc>
            </a:pPr>
            <a:r>
              <a:rPr lang="en-US" sz="1875">
                <a:solidFill>
                  <a:srgbClr val="F0592B"/>
                </a:solidFill>
                <a:latin typeface="Arial"/>
                <a:ea typeface="Arial"/>
                <a:cs typeface="Arial"/>
                <a:sym typeface="Arial"/>
              </a:rPr>
              <a:t>SECONDARY USER</a:t>
            </a:r>
          </a:p>
        </p:txBody>
      </p:sp>
      <p:grpSp>
        <p:nvGrpSpPr>
          <p:cNvPr name="Group 15" id="15"/>
          <p:cNvGrpSpPr/>
          <p:nvPr/>
        </p:nvGrpSpPr>
        <p:grpSpPr>
          <a:xfrm rot="0">
            <a:off x="6657975" y="3867150"/>
            <a:ext cx="4972050" cy="3772767"/>
            <a:chOff x="0" y="0"/>
            <a:chExt cx="6629400" cy="5030356"/>
          </a:xfrm>
        </p:grpSpPr>
        <p:sp>
          <p:nvSpPr>
            <p:cNvPr name="Freeform 16" id="16"/>
            <p:cNvSpPr/>
            <p:nvPr/>
          </p:nvSpPr>
          <p:spPr>
            <a:xfrm flipH="false" flipV="false" rot="0">
              <a:off x="0" y="0"/>
              <a:ext cx="6629400" cy="5030343"/>
            </a:xfrm>
            <a:custGeom>
              <a:avLst/>
              <a:gdLst/>
              <a:ahLst/>
              <a:cxnLst/>
              <a:rect r="r" b="b" t="t" l="l"/>
              <a:pathLst>
                <a:path h="5030343" w="6629400">
                  <a:moveTo>
                    <a:pt x="0" y="0"/>
                  </a:moveTo>
                  <a:lnTo>
                    <a:pt x="6629400" y="0"/>
                  </a:lnTo>
                  <a:lnTo>
                    <a:pt x="6629400" y="5030343"/>
                  </a:lnTo>
                  <a:lnTo>
                    <a:pt x="0" y="5030343"/>
                  </a:lnTo>
                  <a:close/>
                </a:path>
              </a:pathLst>
            </a:custGeom>
            <a:solidFill>
              <a:srgbClr val="F7F1E6"/>
            </a:solidFill>
            <a:ln w="19050" cap="sq">
              <a:solidFill>
                <a:srgbClr val="DCCFBB"/>
              </a:solidFill>
              <a:prstDash val="solid"/>
              <a:miter/>
            </a:ln>
          </p:spPr>
        </p:sp>
        <p:sp>
          <p:nvSpPr>
            <p:cNvPr name="TextBox 17" id="17"/>
            <p:cNvSpPr txBox="true"/>
            <p:nvPr/>
          </p:nvSpPr>
          <p:spPr>
            <a:xfrm>
              <a:off x="0" y="-57150"/>
              <a:ext cx="6629400" cy="5087506"/>
            </a:xfrm>
            <a:prstGeom prst="rect">
              <a:avLst/>
            </a:prstGeom>
          </p:spPr>
          <p:txBody>
            <a:bodyPr anchor="t" rtlCol="false" tIns="50800" lIns="50800" bIns="50800" rIns="50800"/>
            <a:lstStyle/>
            <a:p>
              <a:pPr algn="l">
                <a:lnSpc>
                  <a:spcPts val="2774"/>
                </a:lnSpc>
              </a:pPr>
              <a:r>
                <a:rPr lang="en-US" sz="1875" spc="16">
                  <a:solidFill>
                    <a:srgbClr val="A3937F"/>
                  </a:solidFill>
                  <a:latin typeface="Tomorrow"/>
                  <a:ea typeface="Tomorrow"/>
                  <a:cs typeface="Tomorrow"/>
                  <a:sym typeface="Tomorrow"/>
                </a:rPr>
                <a:t>Procurement, Inventory, Vendor and Operations Managers — They are secondary because they depend on supply-chain insights to make procurement, supplier, inventory and production decisions, but the Supply Chain Planner is the primary user identifying and coordinating the initial supply-demand risk.</a:t>
              </a:r>
            </a:p>
          </p:txBody>
        </p:sp>
      </p:grpSp>
      <p:sp>
        <p:nvSpPr>
          <p:cNvPr name="TextBox 18" id="18"/>
          <p:cNvSpPr txBox="true"/>
          <p:nvPr/>
        </p:nvSpPr>
        <p:spPr>
          <a:xfrm rot="0">
            <a:off x="12147499" y="3336922"/>
            <a:ext cx="3569970" cy="339728"/>
          </a:xfrm>
          <a:prstGeom prst="rect">
            <a:avLst/>
          </a:prstGeom>
        </p:spPr>
        <p:txBody>
          <a:bodyPr anchor="t" rtlCol="false" tIns="0" lIns="0" bIns="0" rIns="0">
            <a:spAutoFit/>
          </a:bodyPr>
          <a:lstStyle/>
          <a:p>
            <a:pPr algn="l">
              <a:lnSpc>
                <a:spcPts val="2250"/>
              </a:lnSpc>
            </a:pPr>
            <a:r>
              <a:rPr lang="en-US" sz="1875" spc="-15">
                <a:solidFill>
                  <a:srgbClr val="F0592B"/>
                </a:solidFill>
                <a:latin typeface="Arial"/>
                <a:ea typeface="Arial"/>
                <a:cs typeface="Arial"/>
                <a:sym typeface="Arial"/>
              </a:rPr>
              <a:t>FEELS IT MOST STRONGLY</a:t>
            </a:r>
          </a:p>
        </p:txBody>
      </p:sp>
      <p:grpSp>
        <p:nvGrpSpPr>
          <p:cNvPr name="Group 19" id="19"/>
          <p:cNvGrpSpPr/>
          <p:nvPr/>
        </p:nvGrpSpPr>
        <p:grpSpPr>
          <a:xfrm rot="0">
            <a:off x="12163425" y="3867150"/>
            <a:ext cx="4981575" cy="3417865"/>
            <a:chOff x="0" y="0"/>
            <a:chExt cx="6642100" cy="4557154"/>
          </a:xfrm>
        </p:grpSpPr>
        <p:sp>
          <p:nvSpPr>
            <p:cNvPr name="Freeform 20" id="20"/>
            <p:cNvSpPr/>
            <p:nvPr/>
          </p:nvSpPr>
          <p:spPr>
            <a:xfrm flipH="false" flipV="false" rot="0">
              <a:off x="0" y="0"/>
              <a:ext cx="6642100" cy="4557141"/>
            </a:xfrm>
            <a:custGeom>
              <a:avLst/>
              <a:gdLst/>
              <a:ahLst/>
              <a:cxnLst/>
              <a:rect r="r" b="b" t="t" l="l"/>
              <a:pathLst>
                <a:path h="4557141" w="6642100">
                  <a:moveTo>
                    <a:pt x="0" y="0"/>
                  </a:moveTo>
                  <a:lnTo>
                    <a:pt x="6642100" y="0"/>
                  </a:lnTo>
                  <a:lnTo>
                    <a:pt x="6642100" y="4557141"/>
                  </a:lnTo>
                  <a:lnTo>
                    <a:pt x="0" y="4557141"/>
                  </a:lnTo>
                  <a:close/>
                </a:path>
              </a:pathLst>
            </a:custGeom>
            <a:solidFill>
              <a:srgbClr val="F7F1E6"/>
            </a:solidFill>
            <a:ln w="19050" cap="sq">
              <a:solidFill>
                <a:srgbClr val="DCCFBB"/>
              </a:solidFill>
              <a:prstDash val="solid"/>
              <a:miter/>
            </a:ln>
          </p:spPr>
        </p:sp>
        <p:sp>
          <p:nvSpPr>
            <p:cNvPr name="TextBox 21" id="21"/>
            <p:cNvSpPr txBox="true"/>
            <p:nvPr/>
          </p:nvSpPr>
          <p:spPr>
            <a:xfrm>
              <a:off x="0" y="-57150"/>
              <a:ext cx="6642100" cy="4614304"/>
            </a:xfrm>
            <a:prstGeom prst="rect">
              <a:avLst/>
            </a:prstGeom>
          </p:spPr>
          <p:txBody>
            <a:bodyPr anchor="t" rtlCol="false" tIns="50800" lIns="50800" bIns="50800" rIns="50800"/>
            <a:lstStyle/>
            <a:p>
              <a:pPr algn="l">
                <a:lnSpc>
                  <a:spcPts val="2774"/>
                </a:lnSpc>
              </a:pPr>
              <a:r>
                <a:rPr lang="en-US" sz="1875" spc="76">
                  <a:solidFill>
                    <a:srgbClr val="A3937F"/>
                  </a:solidFill>
                  <a:latin typeface="Tomorrow"/>
                  <a:ea typeface="Tomorrow"/>
                  <a:cs typeface="Tomorrow"/>
                  <a:sym typeface="Tomorrow"/>
                </a:rPr>
                <a:t>Supply Chain Planners feel the problem most strongly because they must continuously balance demand, inventory and supplier supply across thousands of parts. Today, fragmented data and manual analysis make it difficult to identify and act on shortages before production is impacted.</a:t>
              </a:r>
              <a:r>
                <a:rPr lang="en-US" sz="1875" spc="76">
                  <a:solidFill>
                    <a:srgbClr val="C9BCA8"/>
                  </a:solidFill>
                  <a:latin typeface="Tomorrow"/>
                  <a:ea typeface="Tomorrow"/>
                  <a:cs typeface="Tomorrow"/>
                  <a:sym typeface="Tomorrow"/>
                </a:rPr>
                <a: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26883"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3</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User personas</a:t>
            </a:r>
          </a:p>
          <a:p>
            <a:pPr algn="l">
              <a:lnSpc>
                <a:spcPts val="2520"/>
              </a:lnSpc>
            </a:pPr>
            <a:r>
              <a:rPr lang="en-US" sz="2100" spc="2">
                <a:solidFill>
                  <a:srgbClr val="7A6A5B"/>
                </a:solidFill>
                <a:latin typeface="Tomorrow"/>
                <a:ea typeface="Tomorrow"/>
                <a:cs typeface="Tomorrow"/>
                <a:sym typeface="Tomorrow"/>
              </a:rPr>
              <a:t>Name, profile, goal, current behaviour, pain points, alternatives, key quote.</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grpSp>
        <p:nvGrpSpPr>
          <p:cNvPr name="Group 10" id="10"/>
          <p:cNvGrpSpPr/>
          <p:nvPr/>
        </p:nvGrpSpPr>
        <p:grpSpPr>
          <a:xfrm rot="0">
            <a:off x="1156583" y="3487217"/>
            <a:ext cx="1346978" cy="280854"/>
            <a:chOff x="0" y="0"/>
            <a:chExt cx="1795970" cy="374472"/>
          </a:xfrm>
        </p:grpSpPr>
        <p:sp>
          <p:nvSpPr>
            <p:cNvPr name="Freeform 11" id="11"/>
            <p:cNvSpPr/>
            <p:nvPr/>
          </p:nvSpPr>
          <p:spPr>
            <a:xfrm flipH="false" flipV="false" rot="0">
              <a:off x="0" y="0"/>
              <a:ext cx="1795907" cy="374523"/>
            </a:xfrm>
            <a:custGeom>
              <a:avLst/>
              <a:gdLst/>
              <a:ahLst/>
              <a:cxnLst/>
              <a:rect r="r" b="b" t="t" l="l"/>
              <a:pathLst>
                <a:path h="374523" w="1795907">
                  <a:moveTo>
                    <a:pt x="0" y="0"/>
                  </a:moveTo>
                  <a:lnTo>
                    <a:pt x="1795907" y="0"/>
                  </a:lnTo>
                  <a:lnTo>
                    <a:pt x="1795907" y="374523"/>
                  </a:lnTo>
                  <a:lnTo>
                    <a:pt x="0" y="374523"/>
                  </a:lnTo>
                  <a:lnTo>
                    <a:pt x="0" y="0"/>
                  </a:lnTo>
                  <a:close/>
                </a:path>
              </a:pathLst>
            </a:custGeom>
            <a:blipFill>
              <a:blip r:embed="rId3"/>
              <a:stretch>
                <a:fillRect l="-255" t="0" r="-259" b="13"/>
              </a:stretch>
            </a:blipFill>
          </p:spPr>
        </p:sp>
      </p:grpSp>
      <p:grpSp>
        <p:nvGrpSpPr>
          <p:cNvPr name="Group 12" id="12"/>
          <p:cNvGrpSpPr/>
          <p:nvPr/>
        </p:nvGrpSpPr>
        <p:grpSpPr>
          <a:xfrm rot="0">
            <a:off x="2621318" y="3593249"/>
            <a:ext cx="110852" cy="169126"/>
            <a:chOff x="0" y="0"/>
            <a:chExt cx="147803" cy="225501"/>
          </a:xfrm>
        </p:grpSpPr>
        <p:sp>
          <p:nvSpPr>
            <p:cNvPr name="Freeform 13" id="13"/>
            <p:cNvSpPr/>
            <p:nvPr/>
          </p:nvSpPr>
          <p:spPr>
            <a:xfrm flipH="false" flipV="false" rot="0">
              <a:off x="0" y="0"/>
              <a:ext cx="147828" cy="225552"/>
            </a:xfrm>
            <a:custGeom>
              <a:avLst/>
              <a:gdLst/>
              <a:ahLst/>
              <a:cxnLst/>
              <a:rect r="r" b="b" t="t" l="l"/>
              <a:pathLst>
                <a:path h="225552" w="147828">
                  <a:moveTo>
                    <a:pt x="0" y="0"/>
                  </a:moveTo>
                  <a:lnTo>
                    <a:pt x="147828" y="0"/>
                  </a:lnTo>
                  <a:lnTo>
                    <a:pt x="147828" y="225552"/>
                  </a:lnTo>
                  <a:lnTo>
                    <a:pt x="0" y="225552"/>
                  </a:lnTo>
                  <a:lnTo>
                    <a:pt x="0" y="0"/>
                  </a:lnTo>
                  <a:close/>
                </a:path>
              </a:pathLst>
            </a:custGeom>
            <a:blipFill>
              <a:blip r:embed="rId4"/>
              <a:stretch>
                <a:fillRect l="0" t="-2432" r="17" b="-2415"/>
              </a:stretch>
            </a:blipFill>
          </p:spPr>
        </p:sp>
      </p:grpSp>
      <p:grpSp>
        <p:nvGrpSpPr>
          <p:cNvPr name="Group 14" id="14"/>
          <p:cNvGrpSpPr/>
          <p:nvPr/>
        </p:nvGrpSpPr>
        <p:grpSpPr>
          <a:xfrm rot="0">
            <a:off x="1143000" y="4038600"/>
            <a:ext cx="7658100" cy="3204534"/>
            <a:chOff x="0" y="0"/>
            <a:chExt cx="10210800" cy="4272712"/>
          </a:xfrm>
        </p:grpSpPr>
        <p:sp>
          <p:nvSpPr>
            <p:cNvPr name="Freeform 15" id="15"/>
            <p:cNvSpPr/>
            <p:nvPr/>
          </p:nvSpPr>
          <p:spPr>
            <a:xfrm flipH="false" flipV="false" rot="0">
              <a:off x="0" y="0"/>
              <a:ext cx="10210800" cy="4272661"/>
            </a:xfrm>
            <a:custGeom>
              <a:avLst/>
              <a:gdLst/>
              <a:ahLst/>
              <a:cxnLst/>
              <a:rect r="r" b="b" t="t" l="l"/>
              <a:pathLst>
                <a:path h="4272661" w="10210800">
                  <a:moveTo>
                    <a:pt x="0" y="0"/>
                  </a:moveTo>
                  <a:lnTo>
                    <a:pt x="10210800" y="0"/>
                  </a:lnTo>
                  <a:lnTo>
                    <a:pt x="10210800" y="4272661"/>
                  </a:lnTo>
                  <a:lnTo>
                    <a:pt x="0" y="4272661"/>
                  </a:lnTo>
                  <a:close/>
                </a:path>
              </a:pathLst>
            </a:custGeom>
            <a:solidFill>
              <a:srgbClr val="F7F1E6"/>
            </a:solidFill>
            <a:ln w="19050" cap="sq">
              <a:solidFill>
                <a:srgbClr val="DCCFBB"/>
              </a:solidFill>
              <a:prstDash val="solid"/>
              <a:miter/>
            </a:ln>
          </p:spPr>
        </p:sp>
        <p:sp>
          <p:nvSpPr>
            <p:cNvPr name="TextBox 16" id="16"/>
            <p:cNvSpPr txBox="true"/>
            <p:nvPr/>
          </p:nvSpPr>
          <p:spPr>
            <a:xfrm>
              <a:off x="0" y="-9525"/>
              <a:ext cx="10210800" cy="4282237"/>
            </a:xfrm>
            <a:prstGeom prst="rect">
              <a:avLst/>
            </a:prstGeom>
          </p:spPr>
          <p:txBody>
            <a:bodyPr anchor="t" rtlCol="false" tIns="50800" lIns="50800" bIns="50800" rIns="50800"/>
            <a:lstStyle/>
            <a:p>
              <a:pPr algn="l">
                <a:lnSpc>
                  <a:spcPts val="2250"/>
                </a:lnSpc>
              </a:pPr>
            </a:p>
            <a:p>
              <a:pPr algn="l">
                <a:lnSpc>
                  <a:spcPts val="2250"/>
                </a:lnSpc>
              </a:pPr>
              <a:r>
                <a:rPr lang="en-US" sz="1875" spc="106">
                  <a:solidFill>
                    <a:srgbClr val="A3937F"/>
                  </a:solidFill>
                  <a:latin typeface="Tomorrow"/>
                  <a:ea typeface="Tomorrow"/>
                  <a:cs typeface="Tomorrow"/>
                  <a:sym typeface="Tomorrow"/>
                </a:rPr>
                <a:t>Priya | Supply Chain Planner</a:t>
              </a:r>
            </a:p>
            <a:p>
              <a:pPr algn="l">
                <a:lnSpc>
                  <a:spcPts val="2250"/>
                </a:lnSpc>
              </a:pPr>
              <a:r>
                <a:rPr lang="en-US" sz="1875" spc="106">
                  <a:solidFill>
                    <a:srgbClr val="A3937F"/>
                  </a:solidFill>
                  <a:latin typeface="Tomorrow"/>
                  <a:ea typeface="Tomorrow"/>
                  <a:cs typeface="Tomorrow"/>
                  <a:sym typeface="Tomorrow"/>
                </a:rPr>
                <a:t>Goal: Prevent shortages while controlling inventory.</a:t>
              </a:r>
            </a:p>
            <a:p>
              <a:pPr algn="l">
                <a:lnSpc>
                  <a:spcPts val="2250"/>
                </a:lnSpc>
              </a:pPr>
              <a:r>
                <a:rPr lang="en-US" sz="1875" spc="106">
                  <a:solidFill>
                    <a:srgbClr val="A3937F"/>
                  </a:solidFill>
                  <a:latin typeface="Tomorrow"/>
                  <a:ea typeface="Tomorrow"/>
                  <a:cs typeface="Tomorrow"/>
                  <a:sym typeface="Tomorrow"/>
                </a:rPr>
                <a:t>Today: ERP + Excel + supplier updates + manual analysis.</a:t>
              </a:r>
            </a:p>
            <a:p>
              <a:pPr algn="l">
                <a:lnSpc>
                  <a:spcPts val="2250"/>
                </a:lnSpc>
              </a:pPr>
              <a:r>
                <a:rPr lang="en-US" sz="1875" spc="106">
                  <a:solidFill>
                    <a:srgbClr val="A3937F"/>
                  </a:solidFill>
                  <a:latin typeface="Tomorrow"/>
                  <a:ea typeface="Tomorrow"/>
                  <a:cs typeface="Tomorrow"/>
                  <a:sym typeface="Tomorrow"/>
                </a:rPr>
                <a:t>Pain: Fragmented data, changing lead times, late risk detection and slow decision-making.</a:t>
              </a:r>
            </a:p>
            <a:p>
              <a:pPr algn="l">
                <a:lnSpc>
                  <a:spcPts val="2250"/>
                </a:lnSpc>
              </a:pPr>
              <a:r>
                <a:rPr lang="en-US" sz="1875" spc="106">
                  <a:solidFill>
                    <a:srgbClr val="A3937F"/>
                  </a:solidFill>
                  <a:latin typeface="Tomorrow"/>
                  <a:ea typeface="Tomorrow"/>
                  <a:cs typeface="Tomorrow"/>
                  <a:sym typeface="Tomorrow"/>
                </a:rPr>
                <a:t>Alternative: ERP/SCM dashboards and spreadsheets.</a:t>
              </a:r>
            </a:p>
            <a:p>
              <a:pPr algn="l">
                <a:lnSpc>
                  <a:spcPts val="2250"/>
                </a:lnSpc>
              </a:pPr>
              <a:r>
                <a:rPr lang="en-US" sz="1875" spc="106">
                  <a:solidFill>
                    <a:srgbClr val="A3937F"/>
                  </a:solidFill>
                  <a:latin typeface="Tomorrow"/>
                  <a:ea typeface="Tomorrow"/>
                  <a:cs typeface="Tomorrow"/>
                  <a:sym typeface="Tomorrow"/>
                </a:rPr>
                <a:t>Quote: “I have the data, but I spend too much time bringing it together to understand what is actually going to happen.”</a:t>
              </a:r>
            </a:p>
          </p:txBody>
        </p:sp>
      </p:grpSp>
      <p:grpSp>
        <p:nvGrpSpPr>
          <p:cNvPr name="Group 17" id="17"/>
          <p:cNvGrpSpPr/>
          <p:nvPr/>
        </p:nvGrpSpPr>
        <p:grpSpPr>
          <a:xfrm rot="0">
            <a:off x="9500483" y="3487217"/>
            <a:ext cx="1346978" cy="280854"/>
            <a:chOff x="0" y="0"/>
            <a:chExt cx="1795970" cy="374472"/>
          </a:xfrm>
        </p:grpSpPr>
        <p:sp>
          <p:nvSpPr>
            <p:cNvPr name="Freeform 18" id="18"/>
            <p:cNvSpPr/>
            <p:nvPr/>
          </p:nvSpPr>
          <p:spPr>
            <a:xfrm flipH="false" flipV="false" rot="0">
              <a:off x="0" y="0"/>
              <a:ext cx="1795907" cy="374523"/>
            </a:xfrm>
            <a:custGeom>
              <a:avLst/>
              <a:gdLst/>
              <a:ahLst/>
              <a:cxnLst/>
              <a:rect r="r" b="b" t="t" l="l"/>
              <a:pathLst>
                <a:path h="374523" w="1795907">
                  <a:moveTo>
                    <a:pt x="0" y="0"/>
                  </a:moveTo>
                  <a:lnTo>
                    <a:pt x="1795907" y="0"/>
                  </a:lnTo>
                  <a:lnTo>
                    <a:pt x="1795907" y="374523"/>
                  </a:lnTo>
                  <a:lnTo>
                    <a:pt x="0" y="374523"/>
                  </a:lnTo>
                  <a:lnTo>
                    <a:pt x="0" y="0"/>
                  </a:lnTo>
                  <a:close/>
                </a:path>
              </a:pathLst>
            </a:custGeom>
            <a:blipFill>
              <a:blip r:embed="rId5"/>
              <a:stretch>
                <a:fillRect l="-255" t="0" r="-259" b="13"/>
              </a:stretch>
            </a:blipFill>
          </p:spPr>
        </p:sp>
      </p:grpSp>
      <p:grpSp>
        <p:nvGrpSpPr>
          <p:cNvPr name="Group 19" id="19"/>
          <p:cNvGrpSpPr/>
          <p:nvPr/>
        </p:nvGrpSpPr>
        <p:grpSpPr>
          <a:xfrm rot="0">
            <a:off x="10962151" y="3582514"/>
            <a:ext cx="151600" cy="179861"/>
            <a:chOff x="0" y="0"/>
            <a:chExt cx="202133" cy="239814"/>
          </a:xfrm>
        </p:grpSpPr>
        <p:sp>
          <p:nvSpPr>
            <p:cNvPr name="Freeform 20" id="20"/>
            <p:cNvSpPr/>
            <p:nvPr/>
          </p:nvSpPr>
          <p:spPr>
            <a:xfrm flipH="false" flipV="false" rot="0">
              <a:off x="0" y="0"/>
              <a:ext cx="202184" cy="239776"/>
            </a:xfrm>
            <a:custGeom>
              <a:avLst/>
              <a:gdLst/>
              <a:ahLst/>
              <a:cxnLst/>
              <a:rect r="r" b="b" t="t" l="l"/>
              <a:pathLst>
                <a:path h="239776" w="202184">
                  <a:moveTo>
                    <a:pt x="0" y="0"/>
                  </a:moveTo>
                  <a:lnTo>
                    <a:pt x="202184" y="0"/>
                  </a:lnTo>
                  <a:lnTo>
                    <a:pt x="202184" y="239776"/>
                  </a:lnTo>
                  <a:lnTo>
                    <a:pt x="0" y="239776"/>
                  </a:lnTo>
                  <a:lnTo>
                    <a:pt x="0" y="0"/>
                  </a:lnTo>
                  <a:close/>
                </a:path>
              </a:pathLst>
            </a:custGeom>
            <a:blipFill>
              <a:blip r:embed="rId6"/>
              <a:stretch>
                <a:fillRect l="0" t="-2176" r="25" b="-2192"/>
              </a:stretch>
            </a:blipFill>
          </p:spPr>
        </p:sp>
      </p:grpSp>
      <p:grpSp>
        <p:nvGrpSpPr>
          <p:cNvPr name="Group 21" id="21"/>
          <p:cNvGrpSpPr/>
          <p:nvPr/>
        </p:nvGrpSpPr>
        <p:grpSpPr>
          <a:xfrm rot="0">
            <a:off x="9486900" y="4038600"/>
            <a:ext cx="7658100" cy="3300717"/>
            <a:chOff x="0" y="0"/>
            <a:chExt cx="10210800" cy="4400956"/>
          </a:xfrm>
        </p:grpSpPr>
        <p:sp>
          <p:nvSpPr>
            <p:cNvPr name="Freeform 22" id="22"/>
            <p:cNvSpPr/>
            <p:nvPr/>
          </p:nvSpPr>
          <p:spPr>
            <a:xfrm flipH="false" flipV="false" rot="0">
              <a:off x="0" y="0"/>
              <a:ext cx="10210800" cy="4400931"/>
            </a:xfrm>
            <a:custGeom>
              <a:avLst/>
              <a:gdLst/>
              <a:ahLst/>
              <a:cxnLst/>
              <a:rect r="r" b="b" t="t" l="l"/>
              <a:pathLst>
                <a:path h="4400931" w="10210800">
                  <a:moveTo>
                    <a:pt x="0" y="0"/>
                  </a:moveTo>
                  <a:lnTo>
                    <a:pt x="10210800" y="0"/>
                  </a:lnTo>
                  <a:lnTo>
                    <a:pt x="10210800" y="4400931"/>
                  </a:lnTo>
                  <a:lnTo>
                    <a:pt x="0" y="4400931"/>
                  </a:lnTo>
                  <a:close/>
                </a:path>
              </a:pathLst>
            </a:custGeom>
            <a:solidFill>
              <a:srgbClr val="F7F1E6"/>
            </a:solidFill>
            <a:ln w="19050" cap="sq">
              <a:solidFill>
                <a:srgbClr val="DCCFBB"/>
              </a:solidFill>
              <a:prstDash val="solid"/>
              <a:miter/>
            </a:ln>
          </p:spPr>
        </p:sp>
        <p:sp>
          <p:nvSpPr>
            <p:cNvPr name="TextBox 23" id="23"/>
            <p:cNvSpPr txBox="true"/>
            <p:nvPr/>
          </p:nvSpPr>
          <p:spPr>
            <a:xfrm>
              <a:off x="0" y="-9525"/>
              <a:ext cx="10210800" cy="4410481"/>
            </a:xfrm>
            <a:prstGeom prst="rect">
              <a:avLst/>
            </a:prstGeom>
          </p:spPr>
          <p:txBody>
            <a:bodyPr anchor="t" rtlCol="false" tIns="50800" lIns="50800" bIns="50800" rIns="50800"/>
            <a:lstStyle/>
            <a:p>
              <a:pPr algn="l" marL="0" indent="0" lvl="0">
                <a:lnSpc>
                  <a:spcPts val="2250"/>
                </a:lnSpc>
                <a:spcBef>
                  <a:spcPct val="0"/>
                </a:spcBef>
              </a:pPr>
            </a:p>
            <a:p>
              <a:pPr algn="l" marL="0" indent="0" lvl="0">
                <a:lnSpc>
                  <a:spcPts val="2250"/>
                </a:lnSpc>
                <a:spcBef>
                  <a:spcPct val="0"/>
                </a:spcBef>
              </a:pPr>
              <a:r>
                <a:rPr lang="en-US" sz="1875" spc="1" strike="noStrike" u="none">
                  <a:solidFill>
                    <a:srgbClr val="A3937F"/>
                  </a:solidFill>
                  <a:latin typeface="Tomorrow"/>
                  <a:ea typeface="Tomorrow"/>
                  <a:cs typeface="Tomorrow"/>
                  <a:sym typeface="Tomorrow"/>
                </a:rPr>
                <a:t>Rahul | Procurement Manager</a:t>
              </a:r>
            </a:p>
            <a:p>
              <a:pPr algn="l" marL="0" indent="0" lvl="0">
                <a:lnSpc>
                  <a:spcPts val="2250"/>
                </a:lnSpc>
                <a:spcBef>
                  <a:spcPct val="0"/>
                </a:spcBef>
              </a:pPr>
              <a:r>
                <a:rPr lang="en-US" sz="1875" spc="1" strike="noStrike" u="none">
                  <a:solidFill>
                    <a:srgbClr val="A3937F"/>
                  </a:solidFill>
                  <a:latin typeface="Tomorrow"/>
                  <a:ea typeface="Tomorrow"/>
                  <a:cs typeface="Tomorrow"/>
                  <a:sym typeface="Tomorrow"/>
                </a:rPr>
                <a:t>Goal: Secure supply at the right cost and time.</a:t>
              </a:r>
            </a:p>
            <a:p>
              <a:pPr algn="l" marL="0" indent="0" lvl="0">
                <a:lnSpc>
                  <a:spcPts val="2250"/>
                </a:lnSpc>
                <a:spcBef>
                  <a:spcPct val="0"/>
                </a:spcBef>
              </a:pPr>
              <a:r>
                <a:rPr lang="en-US" sz="1875" spc="1" strike="noStrike" u="none">
                  <a:solidFill>
                    <a:srgbClr val="A3937F"/>
                  </a:solidFill>
                  <a:latin typeface="Tomorrow"/>
                  <a:ea typeface="Tomorrow"/>
                  <a:cs typeface="Tomorrow"/>
                  <a:sym typeface="Tomorrow"/>
                </a:rPr>
                <a:t>Today: ERP + supplier portals + Excel + emails/calls.</a:t>
              </a:r>
            </a:p>
            <a:p>
              <a:pPr algn="l" marL="0" indent="0" lvl="0">
                <a:lnSpc>
                  <a:spcPts val="2250"/>
                </a:lnSpc>
                <a:spcBef>
                  <a:spcPct val="0"/>
                </a:spcBef>
              </a:pPr>
              <a:r>
                <a:rPr lang="en-US" sz="1875" spc="1" strike="noStrike" u="none">
                  <a:solidFill>
                    <a:srgbClr val="A3937F"/>
                  </a:solidFill>
                  <a:latin typeface="Tomorrow"/>
                  <a:ea typeface="Tomorrow"/>
                  <a:cs typeface="Tomorrow"/>
                  <a:sym typeface="Tomorrow"/>
                </a:rPr>
                <a:t>Pain: Changing commitments, limited supplier visibility, manual follow-ups and costly expediting.</a:t>
              </a:r>
            </a:p>
            <a:p>
              <a:pPr algn="l" marL="0" indent="0" lvl="0">
                <a:lnSpc>
                  <a:spcPts val="2250"/>
                </a:lnSpc>
                <a:spcBef>
                  <a:spcPct val="0"/>
                </a:spcBef>
              </a:pPr>
              <a:r>
                <a:rPr lang="en-US" sz="1875" spc="1" strike="noStrike" u="none">
                  <a:solidFill>
                    <a:srgbClr val="A3937F"/>
                  </a:solidFill>
                  <a:latin typeface="Tomorrow"/>
                  <a:ea typeface="Tomorrow"/>
                  <a:cs typeface="Tomorrow"/>
                  <a:sym typeface="Tomorrow"/>
                </a:rPr>
                <a:t>Alternatives: ERP procurement tools, spreadsheets and supplier portals.</a:t>
              </a:r>
            </a:p>
            <a:p>
              <a:pPr algn="l" marL="0" indent="0" lvl="0">
                <a:lnSpc>
                  <a:spcPts val="2250"/>
                </a:lnSpc>
                <a:spcBef>
                  <a:spcPct val="0"/>
                </a:spcBef>
              </a:pPr>
              <a:r>
                <a:rPr lang="en-US" sz="1875" spc="1" strike="noStrike" u="none">
                  <a:solidFill>
                    <a:srgbClr val="A3937F"/>
                  </a:solidFill>
                  <a:latin typeface="Tomorrow"/>
                  <a:ea typeface="Tomorrow"/>
                  <a:cs typeface="Tomorrow"/>
                  <a:sym typeface="Tomorrow"/>
                </a:rPr>
                <a:t>Quote: “By the time I know a supplier will miss the delivery, my options are already expensive.”</a:t>
              </a:r>
            </a:p>
          </p:txBody>
        </p:sp>
      </p:grpSp>
      <p:sp>
        <p:nvSpPr>
          <p:cNvPr name="TextBox 24" id="24"/>
          <p:cNvSpPr txBox="true"/>
          <p:nvPr/>
        </p:nvSpPr>
        <p:spPr>
          <a:xfrm rot="0">
            <a:off x="1143000" y="7791450"/>
            <a:ext cx="16002000" cy="514350"/>
          </a:xfrm>
          <a:prstGeom prst="rect">
            <a:avLst/>
          </a:prstGeom>
        </p:spPr>
        <p:txBody>
          <a:bodyPr anchor="t" rtlCol="false" tIns="0" lIns="0" bIns="0" rIns="0">
            <a:spAutoFit/>
          </a:bodyPr>
          <a:lstStyle/>
          <a:p>
            <a:pPr algn="l">
              <a:lnSpc>
                <a:spcPts val="1980"/>
              </a:lnSpc>
            </a:pPr>
            <a:r>
              <a:rPr lang="en-US" sz="1650">
                <a:solidFill>
                  <a:srgbClr val="7A6A5B"/>
                </a:solidFill>
                <a:latin typeface="Arimo"/>
                <a:ea typeface="Arimo"/>
                <a:cs typeface="Arimo"/>
                <a:sym typeface="Arimo"/>
              </a:rPr>
              <a:t>Both personas are drawn from one industry interview — T Prabhanjan Kumar, Schneider Electric — together with faculty mentors and engineering peers familiar with BOMs and inventory.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41170"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4</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59">
                <a:solidFill>
                  <a:srgbClr val="2A1E16"/>
                </a:solidFill>
                <a:latin typeface="Arial"/>
                <a:ea typeface="Arial"/>
                <a:cs typeface="Arial"/>
                <a:sym typeface="Arial"/>
              </a:rPr>
              <a:t>Research</a:t>
            </a:r>
          </a:p>
          <a:p>
            <a:pPr algn="l">
              <a:lnSpc>
                <a:spcPts val="2520"/>
              </a:lnSpc>
            </a:pPr>
            <a:r>
              <a:rPr lang="en-US" sz="2100" spc="2">
                <a:solidFill>
                  <a:srgbClr val="7A6A5B"/>
                </a:solidFill>
                <a:latin typeface="Tomorrow"/>
                <a:ea typeface="Tomorrow"/>
                <a:cs typeface="Tomorrow"/>
                <a:sym typeface="Tomorrow"/>
              </a:rPr>
              <a:t>Method, number of users contacted, sources, and key findings.</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36922"/>
            <a:ext cx="2804160" cy="339728"/>
          </a:xfrm>
          <a:prstGeom prst="rect">
            <a:avLst/>
          </a:prstGeom>
        </p:spPr>
        <p:txBody>
          <a:bodyPr anchor="t" rtlCol="false" tIns="0" lIns="0" bIns="0" rIns="0">
            <a:spAutoFit/>
          </a:bodyPr>
          <a:lstStyle/>
          <a:p>
            <a:pPr algn="l">
              <a:lnSpc>
                <a:spcPts val="2250"/>
              </a:lnSpc>
            </a:pPr>
            <a:r>
              <a:rPr lang="en-US" sz="1875" spc="-15">
                <a:solidFill>
                  <a:srgbClr val="F0592B"/>
                </a:solidFill>
                <a:latin typeface="Arial"/>
                <a:ea typeface="Arial"/>
                <a:cs typeface="Arial"/>
                <a:sym typeface="Arial"/>
              </a:rPr>
              <a:t>PRIMARY RESEARCH</a:t>
            </a:r>
          </a:p>
        </p:txBody>
      </p:sp>
      <p:grpSp>
        <p:nvGrpSpPr>
          <p:cNvPr name="Group 11" id="11"/>
          <p:cNvGrpSpPr/>
          <p:nvPr/>
        </p:nvGrpSpPr>
        <p:grpSpPr>
          <a:xfrm rot="0">
            <a:off x="1143000" y="3867150"/>
            <a:ext cx="7658100" cy="3436620"/>
            <a:chOff x="0" y="0"/>
            <a:chExt cx="10210800" cy="4582160"/>
          </a:xfrm>
        </p:grpSpPr>
        <p:sp>
          <p:nvSpPr>
            <p:cNvPr name="Freeform 12" id="12"/>
            <p:cNvSpPr/>
            <p:nvPr/>
          </p:nvSpPr>
          <p:spPr>
            <a:xfrm flipH="false" flipV="false" rot="0">
              <a:off x="0" y="0"/>
              <a:ext cx="10210800" cy="4582087"/>
            </a:xfrm>
            <a:custGeom>
              <a:avLst/>
              <a:gdLst/>
              <a:ahLst/>
              <a:cxnLst/>
              <a:rect r="r" b="b" t="t" l="l"/>
              <a:pathLst>
                <a:path h="4582087" w="10210800">
                  <a:moveTo>
                    <a:pt x="0" y="0"/>
                  </a:moveTo>
                  <a:lnTo>
                    <a:pt x="10210800" y="0"/>
                  </a:lnTo>
                  <a:lnTo>
                    <a:pt x="10210800" y="4582087"/>
                  </a:lnTo>
                  <a:lnTo>
                    <a:pt x="0" y="4582087"/>
                  </a:lnTo>
                  <a:close/>
                </a:path>
              </a:pathLst>
            </a:custGeom>
            <a:solidFill>
              <a:srgbClr val="F7F1E6"/>
            </a:solidFill>
            <a:ln w="19050" cap="sq">
              <a:solidFill>
                <a:srgbClr val="DCCFBB"/>
              </a:solidFill>
              <a:prstDash val="solid"/>
              <a:miter/>
            </a:ln>
          </p:spPr>
        </p:sp>
        <p:sp>
          <p:nvSpPr>
            <p:cNvPr name="TextBox 13" id="13"/>
            <p:cNvSpPr txBox="true"/>
            <p:nvPr/>
          </p:nvSpPr>
          <p:spPr>
            <a:xfrm>
              <a:off x="0" y="-161925"/>
              <a:ext cx="10210800" cy="4744085"/>
            </a:xfrm>
            <a:prstGeom prst="rect">
              <a:avLst/>
            </a:prstGeom>
          </p:spPr>
          <p:txBody>
            <a:bodyPr anchor="t" rtlCol="false" tIns="50800" lIns="50800" bIns="50800" rIns="50800"/>
            <a:lstStyle/>
            <a:p>
              <a:pPr algn="l" marL="0" indent="0" lvl="0">
                <a:lnSpc>
                  <a:spcPts val="3825"/>
                </a:lnSpc>
                <a:spcBef>
                  <a:spcPct val="0"/>
                </a:spcBef>
              </a:pPr>
              <a:r>
                <a:rPr lang="en-US" sz="1875" spc="1" strike="noStrike" u="none">
                  <a:solidFill>
                    <a:srgbClr val="A3937F"/>
                  </a:solidFill>
                  <a:latin typeface="Tomorrow"/>
                  <a:ea typeface="Tomorrow"/>
                  <a:cs typeface="Tomorrow"/>
                  <a:sym typeface="Tomorrow"/>
                </a:rPr>
                <a:t>Method: Industry interview + secondary research</a:t>
              </a:r>
            </a:p>
            <a:p>
              <a:pPr algn="l" marL="0" indent="0" lvl="0">
                <a:lnSpc>
                  <a:spcPts val="3825"/>
                </a:lnSpc>
                <a:spcBef>
                  <a:spcPct val="0"/>
                </a:spcBef>
              </a:pPr>
              <a:r>
                <a:rPr lang="en-US" sz="1875" spc="1" strike="noStrike" u="none">
                  <a:solidFill>
                    <a:srgbClr val="A3937F"/>
                  </a:solidFill>
                  <a:latin typeface="Tomorrow"/>
                  <a:ea typeface="Tomorrow"/>
                  <a:cs typeface="Tomorrow"/>
                  <a:sym typeface="Tomorrow"/>
                </a:rPr>
                <a:t>Primary research: T Prabhanjan Kumar, Schneider Electric — plus faculty mentors and engineering peers familiar with BOMs and inventory.</a:t>
              </a:r>
            </a:p>
            <a:p>
              <a:pPr algn="l" marL="0" indent="0" lvl="0">
                <a:lnSpc>
                  <a:spcPts val="3825"/>
                </a:lnSpc>
                <a:spcBef>
                  <a:spcPct val="0"/>
                </a:spcBef>
              </a:pPr>
              <a:r>
                <a:rPr lang="en-US" sz="1875" spc="1" strike="noStrike" u="none">
                  <a:solidFill>
                    <a:srgbClr val="A3937F"/>
                  </a:solidFill>
                  <a:latin typeface="Tomorrow"/>
                  <a:ea typeface="Tomorrow"/>
                  <a:cs typeface="Tomorrow"/>
                  <a:sym typeface="Tomorrow"/>
                </a:rPr>
                <a:t>Key findings: Fragmented data, changing supplier commitments, late shortage detection, manual analysis and no actionable recommendations.</a:t>
              </a:r>
            </a:p>
          </p:txBody>
        </p:sp>
      </p:grpSp>
      <p:sp>
        <p:nvSpPr>
          <p:cNvPr name="TextBox 14" id="14"/>
          <p:cNvSpPr txBox="true"/>
          <p:nvPr/>
        </p:nvSpPr>
        <p:spPr>
          <a:xfrm rot="0">
            <a:off x="9467850" y="3336922"/>
            <a:ext cx="3270885" cy="339728"/>
          </a:xfrm>
          <a:prstGeom prst="rect">
            <a:avLst/>
          </a:prstGeom>
        </p:spPr>
        <p:txBody>
          <a:bodyPr anchor="t" rtlCol="false" tIns="0" lIns="0" bIns="0" rIns="0">
            <a:spAutoFit/>
          </a:bodyPr>
          <a:lstStyle/>
          <a:p>
            <a:pPr algn="l">
              <a:lnSpc>
                <a:spcPts val="2250"/>
              </a:lnSpc>
            </a:pPr>
            <a:r>
              <a:rPr lang="en-US" sz="1875">
                <a:solidFill>
                  <a:srgbClr val="F0592B"/>
                </a:solidFill>
                <a:latin typeface="Arial"/>
                <a:ea typeface="Arial"/>
                <a:cs typeface="Arial"/>
                <a:sym typeface="Arial"/>
              </a:rPr>
              <a:t>SECONDARY RESEARCH</a:t>
            </a:r>
          </a:p>
        </p:txBody>
      </p:sp>
      <p:grpSp>
        <p:nvGrpSpPr>
          <p:cNvPr name="Group 15" id="15"/>
          <p:cNvGrpSpPr/>
          <p:nvPr/>
        </p:nvGrpSpPr>
        <p:grpSpPr>
          <a:xfrm rot="0">
            <a:off x="9486900" y="3867150"/>
            <a:ext cx="7658100" cy="3293793"/>
            <a:chOff x="0" y="0"/>
            <a:chExt cx="10210800" cy="4391724"/>
          </a:xfrm>
        </p:grpSpPr>
        <p:sp>
          <p:nvSpPr>
            <p:cNvPr name="Freeform 16" id="16"/>
            <p:cNvSpPr/>
            <p:nvPr/>
          </p:nvSpPr>
          <p:spPr>
            <a:xfrm flipH="false" flipV="false" rot="0">
              <a:off x="0" y="0"/>
              <a:ext cx="10210800" cy="4391787"/>
            </a:xfrm>
            <a:custGeom>
              <a:avLst/>
              <a:gdLst/>
              <a:ahLst/>
              <a:cxnLst/>
              <a:rect r="r" b="b" t="t" l="l"/>
              <a:pathLst>
                <a:path h="4391787" w="10210800">
                  <a:moveTo>
                    <a:pt x="0" y="0"/>
                  </a:moveTo>
                  <a:lnTo>
                    <a:pt x="10210800" y="0"/>
                  </a:lnTo>
                  <a:lnTo>
                    <a:pt x="10210800" y="4391787"/>
                  </a:lnTo>
                  <a:lnTo>
                    <a:pt x="0" y="4391787"/>
                  </a:lnTo>
                  <a:close/>
                </a:path>
              </a:pathLst>
            </a:custGeom>
            <a:solidFill>
              <a:srgbClr val="F7F1E6"/>
            </a:solidFill>
            <a:ln w="19050" cap="sq">
              <a:solidFill>
                <a:srgbClr val="DCCFBB"/>
              </a:solidFill>
              <a:prstDash val="solid"/>
              <a:miter/>
            </a:ln>
          </p:spPr>
        </p:sp>
        <p:sp>
          <p:nvSpPr>
            <p:cNvPr name="TextBox 17" id="17"/>
            <p:cNvSpPr txBox="true"/>
            <p:nvPr/>
          </p:nvSpPr>
          <p:spPr>
            <a:xfrm>
              <a:off x="0" y="-57150"/>
              <a:ext cx="10210800" cy="4448874"/>
            </a:xfrm>
            <a:prstGeom prst="rect">
              <a:avLst/>
            </a:prstGeom>
          </p:spPr>
          <p:txBody>
            <a:bodyPr anchor="t" rtlCol="false" tIns="50800" lIns="50800" bIns="50800" rIns="50800"/>
            <a:lstStyle/>
            <a:p>
              <a:pPr algn="l">
                <a:lnSpc>
                  <a:spcPts val="2774"/>
                </a:lnSpc>
              </a:pPr>
              <a:r>
                <a:rPr lang="en-US" sz="1875" spc="-13">
                  <a:solidFill>
                    <a:srgbClr val="A3937F"/>
                  </a:solidFill>
                  <a:latin typeface="Tomorrow"/>
                  <a:ea typeface="Tomorrow"/>
                  <a:cs typeface="Tomorrow"/>
                  <a:sym typeface="Tomorrow"/>
                </a:rPr>
                <a:t>Sources studied: SEMI–McKinsey Semiconductor Supply Chain Survey 2026; McKinsey Global Supply Chain Leader Survey 2024; SAP IBP; SAP Business Network.</a:t>
              </a:r>
            </a:p>
            <a:p>
              <a:pPr algn="l">
                <a:lnSpc>
                  <a:spcPts val="2774"/>
                </a:lnSpc>
              </a:pPr>
              <a:r>
                <a:rPr lang="en-US" sz="1875" spc="-13">
                  <a:solidFill>
                    <a:srgbClr val="A3937F"/>
                  </a:solidFill>
                  <a:latin typeface="Tomorrow"/>
                  <a:ea typeface="Tomorrow"/>
                  <a:cs typeface="Tomorrow"/>
                  <a:sym typeface="Tomorrow"/>
                </a:rPr>
                <a:t>Key finding: Existing systems provide planning and visibility, but supply-chain teams still need faster, explainable intelligence to identify risks, understand root causes and decide what action to take. </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37360"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5</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Top pain points</a:t>
            </a:r>
          </a:p>
          <a:p>
            <a:pPr algn="l">
              <a:lnSpc>
                <a:spcPts val="2520"/>
              </a:lnSpc>
            </a:pPr>
            <a:r>
              <a:rPr lang="en-US" sz="2100" spc="-12">
                <a:solidFill>
                  <a:srgbClr val="7A6A5B"/>
                </a:solidFill>
                <a:latin typeface="Tomorrow"/>
                <a:ea typeface="Tomorrow"/>
                <a:cs typeface="Tomorrow"/>
                <a:sym typeface="Tomorrow"/>
              </a:rPr>
              <a:t>Three, ranked. Each needs evidence — not an assumption.</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46447"/>
            <a:ext cx="1343025" cy="318773"/>
          </a:xfrm>
          <a:prstGeom prst="rect">
            <a:avLst/>
          </a:prstGeom>
        </p:spPr>
        <p:txBody>
          <a:bodyPr anchor="t" rtlCol="false" tIns="0" lIns="0" bIns="0" rIns="0">
            <a:spAutoFit/>
          </a:bodyPr>
          <a:lstStyle/>
          <a:p>
            <a:pPr algn="l">
              <a:lnSpc>
                <a:spcPts val="2160"/>
              </a:lnSpc>
            </a:pPr>
            <a:r>
              <a:rPr lang="en-US" sz="1800" spc="-67">
                <a:solidFill>
                  <a:srgbClr val="F0592B"/>
                </a:solidFill>
                <a:latin typeface="Arial"/>
                <a:ea typeface="Arial"/>
                <a:cs typeface="Arial"/>
                <a:sym typeface="Arial"/>
              </a:rPr>
              <a:t>Pain point 1</a:t>
            </a:r>
          </a:p>
        </p:txBody>
      </p:sp>
      <p:sp>
        <p:nvSpPr>
          <p:cNvPr name="TextBox 11" id="11"/>
          <p:cNvSpPr txBox="true"/>
          <p:nvPr/>
        </p:nvSpPr>
        <p:spPr>
          <a:xfrm rot="0">
            <a:off x="6635648" y="3346447"/>
            <a:ext cx="1391602" cy="318773"/>
          </a:xfrm>
          <a:prstGeom prst="rect">
            <a:avLst/>
          </a:prstGeom>
        </p:spPr>
        <p:txBody>
          <a:bodyPr anchor="t" rtlCol="false" tIns="0" lIns="0" bIns="0" rIns="0">
            <a:spAutoFit/>
          </a:bodyPr>
          <a:lstStyle/>
          <a:p>
            <a:pPr algn="l">
              <a:lnSpc>
                <a:spcPts val="2160"/>
              </a:lnSpc>
            </a:pPr>
            <a:r>
              <a:rPr lang="en-US" sz="1800" spc="-67">
                <a:solidFill>
                  <a:srgbClr val="F0592B"/>
                </a:solidFill>
                <a:latin typeface="Arial"/>
                <a:ea typeface="Arial"/>
                <a:cs typeface="Arial"/>
                <a:sym typeface="Arial"/>
              </a:rPr>
              <a:t>Pain point 2</a:t>
            </a:r>
          </a:p>
        </p:txBody>
      </p:sp>
      <p:sp>
        <p:nvSpPr>
          <p:cNvPr name="TextBox 12" id="12"/>
          <p:cNvSpPr txBox="true"/>
          <p:nvPr/>
        </p:nvSpPr>
        <p:spPr>
          <a:xfrm rot="0">
            <a:off x="12147499" y="3346447"/>
            <a:ext cx="1397318" cy="318773"/>
          </a:xfrm>
          <a:prstGeom prst="rect">
            <a:avLst/>
          </a:prstGeom>
        </p:spPr>
        <p:txBody>
          <a:bodyPr anchor="t" rtlCol="false" tIns="0" lIns="0" bIns="0" rIns="0">
            <a:spAutoFit/>
          </a:bodyPr>
          <a:lstStyle/>
          <a:p>
            <a:pPr algn="l">
              <a:lnSpc>
                <a:spcPts val="2160"/>
              </a:lnSpc>
            </a:pPr>
            <a:r>
              <a:rPr lang="en-US" sz="1800" spc="-67">
                <a:solidFill>
                  <a:srgbClr val="F0592B"/>
                </a:solidFill>
                <a:latin typeface="Arial"/>
                <a:ea typeface="Arial"/>
                <a:cs typeface="Arial"/>
                <a:sym typeface="Arial"/>
              </a:rPr>
              <a:t>Pain point 3</a:t>
            </a:r>
          </a:p>
        </p:txBody>
      </p:sp>
      <p:grpSp>
        <p:nvGrpSpPr>
          <p:cNvPr name="Group 13" id="13"/>
          <p:cNvGrpSpPr/>
          <p:nvPr/>
        </p:nvGrpSpPr>
        <p:grpSpPr>
          <a:xfrm rot="0">
            <a:off x="1143000" y="3838575"/>
            <a:ext cx="4981575" cy="1931108"/>
            <a:chOff x="0" y="0"/>
            <a:chExt cx="6642100" cy="2574811"/>
          </a:xfrm>
        </p:grpSpPr>
        <p:sp>
          <p:nvSpPr>
            <p:cNvPr name="Freeform 14" id="14"/>
            <p:cNvSpPr/>
            <p:nvPr/>
          </p:nvSpPr>
          <p:spPr>
            <a:xfrm flipH="false" flipV="false" rot="0">
              <a:off x="0" y="0"/>
              <a:ext cx="6642100" cy="2574798"/>
            </a:xfrm>
            <a:custGeom>
              <a:avLst/>
              <a:gdLst/>
              <a:ahLst/>
              <a:cxnLst/>
              <a:rect r="r" b="b" t="t" l="l"/>
              <a:pathLst>
                <a:path h="2574798" w="6642100">
                  <a:moveTo>
                    <a:pt x="0" y="0"/>
                  </a:moveTo>
                  <a:lnTo>
                    <a:pt x="6642100" y="0"/>
                  </a:lnTo>
                  <a:lnTo>
                    <a:pt x="6642100" y="2574798"/>
                  </a:lnTo>
                  <a:lnTo>
                    <a:pt x="0" y="2574798"/>
                  </a:lnTo>
                  <a:close/>
                </a:path>
              </a:pathLst>
            </a:custGeom>
            <a:solidFill>
              <a:srgbClr val="F7F1E6"/>
            </a:solidFill>
            <a:ln w="19050" cap="sq">
              <a:solidFill>
                <a:srgbClr val="DCCFBB"/>
              </a:solidFill>
              <a:prstDash val="solid"/>
              <a:miter/>
            </a:ln>
          </p:spPr>
        </p:sp>
        <p:sp>
          <p:nvSpPr>
            <p:cNvPr name="TextBox 15" id="15"/>
            <p:cNvSpPr txBox="true"/>
            <p:nvPr/>
          </p:nvSpPr>
          <p:spPr>
            <a:xfrm>
              <a:off x="0" y="-9525"/>
              <a:ext cx="6642100" cy="2584336"/>
            </a:xfrm>
            <a:prstGeom prst="rect">
              <a:avLst/>
            </a:prstGeom>
          </p:spPr>
          <p:txBody>
            <a:bodyPr anchor="t" rtlCol="false" tIns="50800" lIns="50800" bIns="50800" rIns="50800"/>
            <a:lstStyle/>
            <a:p>
              <a:pPr algn="l">
                <a:lnSpc>
                  <a:spcPts val="2160"/>
                </a:lnSpc>
              </a:pPr>
              <a:r>
                <a:rPr lang="en-US" sz="1800" spc="1">
                  <a:solidFill>
                    <a:srgbClr val="A3937F"/>
                  </a:solidFill>
                  <a:latin typeface="Tomorrow"/>
                  <a:ea typeface="Tomorrow"/>
                  <a:cs typeface="Tomorrow"/>
                  <a:sym typeface="Tomorrow"/>
                </a:rPr>
                <a:t>Pain: Shortages are often detected too late for planners to respond effectively.</a:t>
              </a:r>
            </a:p>
            <a:p>
              <a:pPr algn="l">
                <a:lnSpc>
                  <a:spcPts val="2160"/>
                </a:lnSpc>
              </a:pPr>
              <a:r>
                <a:rPr lang="en-US" sz="1800" spc="1">
                  <a:solidFill>
                    <a:srgbClr val="A3937F"/>
                  </a:solidFill>
                  <a:latin typeface="Tomorrow"/>
                  <a:ea typeface="Tomorrow"/>
                  <a:cs typeface="Tomorrow"/>
                  <a:sym typeface="Tomorrow"/>
                </a:rPr>
                <a:t>Evidence: 90% of surveyed supply-chain leaders faced challenges; average disruption response took 2 weeks. — McKinsey, 2024</a:t>
              </a:r>
            </a:p>
          </p:txBody>
        </p:sp>
      </p:grpSp>
      <p:grpSp>
        <p:nvGrpSpPr>
          <p:cNvPr name="Group 16" id="16"/>
          <p:cNvGrpSpPr/>
          <p:nvPr/>
        </p:nvGrpSpPr>
        <p:grpSpPr>
          <a:xfrm rot="0">
            <a:off x="6657975" y="3838575"/>
            <a:ext cx="4972050" cy="2208111"/>
            <a:chOff x="0" y="0"/>
            <a:chExt cx="6629400" cy="2944148"/>
          </a:xfrm>
        </p:grpSpPr>
        <p:sp>
          <p:nvSpPr>
            <p:cNvPr name="Freeform 17" id="17"/>
            <p:cNvSpPr/>
            <p:nvPr/>
          </p:nvSpPr>
          <p:spPr>
            <a:xfrm flipH="false" flipV="false" rot="0">
              <a:off x="0" y="0"/>
              <a:ext cx="6629400" cy="2944110"/>
            </a:xfrm>
            <a:custGeom>
              <a:avLst/>
              <a:gdLst/>
              <a:ahLst/>
              <a:cxnLst/>
              <a:rect r="r" b="b" t="t" l="l"/>
              <a:pathLst>
                <a:path h="2944110" w="6629400">
                  <a:moveTo>
                    <a:pt x="0" y="0"/>
                  </a:moveTo>
                  <a:lnTo>
                    <a:pt x="6629400" y="0"/>
                  </a:lnTo>
                  <a:lnTo>
                    <a:pt x="6629400" y="2944110"/>
                  </a:lnTo>
                  <a:lnTo>
                    <a:pt x="0" y="2944110"/>
                  </a:lnTo>
                  <a:close/>
                </a:path>
              </a:pathLst>
            </a:custGeom>
            <a:solidFill>
              <a:srgbClr val="F7F1E6"/>
            </a:solidFill>
            <a:ln w="19050" cap="sq">
              <a:solidFill>
                <a:srgbClr val="DCCFBB"/>
              </a:solidFill>
              <a:prstDash val="solid"/>
              <a:miter/>
            </a:ln>
          </p:spPr>
        </p:sp>
        <p:sp>
          <p:nvSpPr>
            <p:cNvPr name="TextBox 18" id="18"/>
            <p:cNvSpPr txBox="true"/>
            <p:nvPr/>
          </p:nvSpPr>
          <p:spPr>
            <a:xfrm>
              <a:off x="0" y="-9525"/>
              <a:ext cx="6629400" cy="2953673"/>
            </a:xfrm>
            <a:prstGeom prst="rect">
              <a:avLst/>
            </a:prstGeom>
          </p:spPr>
          <p:txBody>
            <a:bodyPr anchor="t" rtlCol="false" tIns="50800" lIns="50800" bIns="50800" rIns="50800"/>
            <a:lstStyle/>
            <a:p>
              <a:pPr algn="l">
                <a:lnSpc>
                  <a:spcPts val="2160"/>
                </a:lnSpc>
              </a:pPr>
              <a:r>
                <a:rPr lang="en-US" sz="1800" spc="1">
                  <a:solidFill>
                    <a:srgbClr val="A3937F"/>
                  </a:solidFill>
                  <a:latin typeface="Tomorrow"/>
                  <a:ea typeface="Tomorrow"/>
                  <a:cs typeface="Tomorrow"/>
                  <a:sym typeface="Tomorrow"/>
                </a:rPr>
                <a:t>Pain: Companies carry excess inventory while still facing shortages of critical parts.</a:t>
              </a:r>
            </a:p>
            <a:p>
              <a:pPr algn="l">
                <a:lnSpc>
                  <a:spcPts val="2160"/>
                </a:lnSpc>
              </a:pPr>
              <a:r>
                <a:rPr lang="en-US" sz="1800" spc="1">
                  <a:solidFill>
                    <a:srgbClr val="A3937F"/>
                  </a:solidFill>
                  <a:latin typeface="Tomorrow"/>
                  <a:ea typeface="Tomorrow"/>
                  <a:cs typeface="Tomorrow"/>
                  <a:sym typeface="Tomorrow"/>
                </a:rPr>
                <a:t>Evidence: Inventory can be high while incorrect inventory positioning contributes to both late deliveries and excess inventory costs. — McKinsey, 2024</a:t>
              </a:r>
            </a:p>
          </p:txBody>
        </p:sp>
      </p:grpSp>
      <p:grpSp>
        <p:nvGrpSpPr>
          <p:cNvPr name="Group 19" id="19"/>
          <p:cNvGrpSpPr/>
          <p:nvPr/>
        </p:nvGrpSpPr>
        <p:grpSpPr>
          <a:xfrm rot="0">
            <a:off x="12163425" y="3838575"/>
            <a:ext cx="4981575" cy="2208114"/>
            <a:chOff x="0" y="0"/>
            <a:chExt cx="6642100" cy="2944152"/>
          </a:xfrm>
        </p:grpSpPr>
        <p:sp>
          <p:nvSpPr>
            <p:cNvPr name="Freeform 20" id="20"/>
            <p:cNvSpPr/>
            <p:nvPr/>
          </p:nvSpPr>
          <p:spPr>
            <a:xfrm flipH="false" flipV="false" rot="0">
              <a:off x="0" y="0"/>
              <a:ext cx="6642100" cy="2944114"/>
            </a:xfrm>
            <a:custGeom>
              <a:avLst/>
              <a:gdLst/>
              <a:ahLst/>
              <a:cxnLst/>
              <a:rect r="r" b="b" t="t" l="l"/>
              <a:pathLst>
                <a:path h="2944114" w="6642100">
                  <a:moveTo>
                    <a:pt x="0" y="0"/>
                  </a:moveTo>
                  <a:lnTo>
                    <a:pt x="6642100" y="0"/>
                  </a:lnTo>
                  <a:lnTo>
                    <a:pt x="6642100" y="2944114"/>
                  </a:lnTo>
                  <a:lnTo>
                    <a:pt x="0" y="2944114"/>
                  </a:lnTo>
                  <a:close/>
                </a:path>
              </a:pathLst>
            </a:custGeom>
            <a:solidFill>
              <a:srgbClr val="F7F1E6"/>
            </a:solidFill>
            <a:ln w="19050" cap="sq">
              <a:solidFill>
                <a:srgbClr val="DCCFBB"/>
              </a:solidFill>
              <a:prstDash val="solid"/>
              <a:miter/>
            </a:ln>
          </p:spPr>
        </p:sp>
        <p:sp>
          <p:nvSpPr>
            <p:cNvPr name="TextBox 21" id="21"/>
            <p:cNvSpPr txBox="true"/>
            <p:nvPr/>
          </p:nvSpPr>
          <p:spPr>
            <a:xfrm>
              <a:off x="0" y="-9525"/>
              <a:ext cx="6642100" cy="2953677"/>
            </a:xfrm>
            <a:prstGeom prst="rect">
              <a:avLst/>
            </a:prstGeom>
          </p:spPr>
          <p:txBody>
            <a:bodyPr anchor="t" rtlCol="false" tIns="50800" lIns="50800" bIns="50800" rIns="50800"/>
            <a:lstStyle/>
            <a:p>
              <a:pPr algn="l">
                <a:lnSpc>
                  <a:spcPts val="2160"/>
                </a:lnSpc>
              </a:pPr>
              <a:r>
                <a:rPr lang="en-US" sz="1800" spc="1">
                  <a:solidFill>
                    <a:srgbClr val="A3937F"/>
                  </a:solidFill>
                  <a:latin typeface="Tomorrow"/>
                  <a:ea typeface="Tomorrow"/>
                  <a:cs typeface="Tomorrow"/>
                  <a:sym typeface="Tomorrow"/>
                </a:rPr>
                <a:t>Pain: Supplier delays and changing commitments make procurement decisions reactive and time-consuming.</a:t>
              </a:r>
            </a:p>
            <a:p>
              <a:pPr algn="l">
                <a:lnSpc>
                  <a:spcPts val="2160"/>
                </a:lnSpc>
              </a:pPr>
              <a:r>
                <a:rPr lang="en-US" sz="1800" spc="1">
                  <a:solidFill>
                    <a:srgbClr val="A3937F"/>
                  </a:solidFill>
                  <a:latin typeface="Tomorrow"/>
                  <a:ea typeface="Tomorrow"/>
                  <a:cs typeface="Tomorrow"/>
                  <a:sym typeface="Tomorrow"/>
                </a:rPr>
                <a:t>Evidence: 90% of surveyed supply-chain leaders faced challenges, and disruption response averaged 2 weeks. — McKinsey, 2024</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36408"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6</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7777162" cy="1420492"/>
          </a:xfrm>
          <a:prstGeom prst="rect">
            <a:avLst/>
          </a:prstGeom>
        </p:spPr>
        <p:txBody>
          <a:bodyPr anchor="t" rtlCol="false" tIns="0" lIns="0" bIns="0" rIns="0">
            <a:spAutoFit/>
          </a:bodyPr>
          <a:lstStyle/>
          <a:p>
            <a:pPr algn="l">
              <a:lnSpc>
                <a:spcPts val="6659"/>
              </a:lnSpc>
            </a:pPr>
            <a:r>
              <a:rPr lang="en-US" sz="5550" spc="-134">
                <a:solidFill>
                  <a:srgbClr val="2A1E16"/>
                </a:solidFill>
                <a:latin typeface="Arial"/>
                <a:ea typeface="Arial"/>
                <a:cs typeface="Arial"/>
                <a:sym typeface="Arial"/>
              </a:rPr>
              <a:t>Competitive analysis</a:t>
            </a:r>
          </a:p>
          <a:p>
            <a:pPr algn="l">
              <a:lnSpc>
                <a:spcPts val="2520"/>
              </a:lnSpc>
            </a:pPr>
            <a:r>
              <a:rPr lang="en-US" sz="2100" spc="2">
                <a:solidFill>
                  <a:srgbClr val="7A6A5B"/>
                </a:solidFill>
                <a:latin typeface="Tomorrow"/>
                <a:ea typeface="Tomorrow"/>
                <a:cs typeface="Tomorrow"/>
                <a:sym typeface="Tomorrow"/>
              </a:rPr>
              <a:t>Who already exists, and where the gap is.</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grpSp>
        <p:nvGrpSpPr>
          <p:cNvPr name="Group 10" id="10"/>
          <p:cNvGrpSpPr/>
          <p:nvPr/>
        </p:nvGrpSpPr>
        <p:grpSpPr>
          <a:xfrm rot="0">
            <a:off x="1143000" y="3876694"/>
            <a:ext cx="16002000" cy="19050"/>
            <a:chOff x="0" y="0"/>
            <a:chExt cx="21336000" cy="25400"/>
          </a:xfrm>
        </p:grpSpPr>
        <p:sp>
          <p:nvSpPr>
            <p:cNvPr name="Freeform 11" id="11"/>
            <p:cNvSpPr/>
            <p:nvPr/>
          </p:nvSpPr>
          <p:spPr>
            <a:xfrm flipH="false" flipV="false" rot="0">
              <a:off x="0" y="0"/>
              <a:ext cx="21336000" cy="25400"/>
            </a:xfrm>
            <a:custGeom>
              <a:avLst/>
              <a:gdLst/>
              <a:ahLst/>
              <a:cxnLst/>
              <a:rect r="r" b="b" t="t" l="l"/>
              <a:pathLst>
                <a:path h="25400" w="21336000">
                  <a:moveTo>
                    <a:pt x="21336000" y="0"/>
                  </a:moveTo>
                  <a:lnTo>
                    <a:pt x="16002000" y="0"/>
                  </a:lnTo>
                  <a:lnTo>
                    <a:pt x="10668000" y="0"/>
                  </a:lnTo>
                  <a:lnTo>
                    <a:pt x="5334000" y="0"/>
                  </a:lnTo>
                  <a:lnTo>
                    <a:pt x="0" y="0"/>
                  </a:lnTo>
                  <a:lnTo>
                    <a:pt x="0" y="25400"/>
                  </a:lnTo>
                  <a:lnTo>
                    <a:pt x="5334000" y="25400"/>
                  </a:lnTo>
                  <a:lnTo>
                    <a:pt x="10668000" y="25400"/>
                  </a:lnTo>
                  <a:lnTo>
                    <a:pt x="16002000" y="25400"/>
                  </a:lnTo>
                  <a:lnTo>
                    <a:pt x="21336000" y="25400"/>
                  </a:lnTo>
                  <a:lnTo>
                    <a:pt x="21336000" y="0"/>
                  </a:lnTo>
                  <a:close/>
                </a:path>
              </a:pathLst>
            </a:custGeom>
            <a:solidFill>
              <a:srgbClr val="2A1E16"/>
            </a:solidFill>
          </p:spPr>
        </p:sp>
      </p:grpSp>
      <p:sp>
        <p:nvSpPr>
          <p:cNvPr name="TextBox 12" id="12"/>
          <p:cNvSpPr txBox="true"/>
          <p:nvPr/>
        </p:nvSpPr>
        <p:spPr>
          <a:xfrm rot="0">
            <a:off x="1314450" y="3441697"/>
            <a:ext cx="2605088" cy="318773"/>
          </a:xfrm>
          <a:prstGeom prst="rect">
            <a:avLst/>
          </a:prstGeom>
        </p:spPr>
        <p:txBody>
          <a:bodyPr anchor="t" rtlCol="false" tIns="0" lIns="0" bIns="0" rIns="0">
            <a:spAutoFit/>
          </a:bodyPr>
          <a:lstStyle/>
          <a:p>
            <a:pPr algn="l">
              <a:lnSpc>
                <a:spcPts val="2160"/>
              </a:lnSpc>
            </a:pPr>
            <a:r>
              <a:rPr lang="en-US" sz="1800" spc="-30">
                <a:solidFill>
                  <a:srgbClr val="A3937F"/>
                </a:solidFill>
                <a:latin typeface="Arial"/>
                <a:ea typeface="Arial"/>
                <a:cs typeface="Arial"/>
                <a:sym typeface="Arial"/>
              </a:rPr>
              <a:t>EXISTING SOLUTION</a:t>
            </a:r>
          </a:p>
        </p:txBody>
      </p:sp>
      <p:sp>
        <p:nvSpPr>
          <p:cNvPr name="TextBox 13" id="13"/>
          <p:cNvSpPr txBox="true"/>
          <p:nvPr/>
        </p:nvSpPr>
        <p:spPr>
          <a:xfrm rot="0">
            <a:off x="5314950" y="3441697"/>
            <a:ext cx="1377315" cy="318773"/>
          </a:xfrm>
          <a:prstGeom prst="rect">
            <a:avLst/>
          </a:prstGeom>
        </p:spPr>
        <p:txBody>
          <a:bodyPr anchor="t" rtlCol="false" tIns="0" lIns="0" bIns="0" rIns="0">
            <a:spAutoFit/>
          </a:bodyPr>
          <a:lstStyle/>
          <a:p>
            <a:pPr algn="l">
              <a:lnSpc>
                <a:spcPts val="2160"/>
              </a:lnSpc>
            </a:pPr>
            <a:r>
              <a:rPr lang="en-US" sz="1800" spc="-67">
                <a:solidFill>
                  <a:srgbClr val="A3937F"/>
                </a:solidFill>
                <a:latin typeface="Arial"/>
                <a:ea typeface="Arial"/>
                <a:cs typeface="Arial"/>
                <a:sym typeface="Arial"/>
              </a:rPr>
              <a:t>STRENGTH</a:t>
            </a:r>
          </a:p>
        </p:txBody>
      </p:sp>
      <p:sp>
        <p:nvSpPr>
          <p:cNvPr name="TextBox 14" id="14"/>
          <p:cNvSpPr txBox="true"/>
          <p:nvPr/>
        </p:nvSpPr>
        <p:spPr>
          <a:xfrm rot="0">
            <a:off x="9315450" y="3441697"/>
            <a:ext cx="1437323" cy="318773"/>
          </a:xfrm>
          <a:prstGeom prst="rect">
            <a:avLst/>
          </a:prstGeom>
        </p:spPr>
        <p:txBody>
          <a:bodyPr anchor="t" rtlCol="false" tIns="0" lIns="0" bIns="0" rIns="0">
            <a:spAutoFit/>
          </a:bodyPr>
          <a:lstStyle/>
          <a:p>
            <a:pPr algn="l">
              <a:lnSpc>
                <a:spcPts val="2160"/>
              </a:lnSpc>
            </a:pPr>
            <a:r>
              <a:rPr lang="en-US" sz="1800" spc="-44">
                <a:solidFill>
                  <a:srgbClr val="A3937F"/>
                </a:solidFill>
                <a:latin typeface="Arial"/>
                <a:ea typeface="Arial"/>
                <a:cs typeface="Arial"/>
                <a:sym typeface="Arial"/>
              </a:rPr>
              <a:t>WEAKNESS</a:t>
            </a:r>
          </a:p>
        </p:txBody>
      </p:sp>
      <p:sp>
        <p:nvSpPr>
          <p:cNvPr name="TextBox 15" id="15"/>
          <p:cNvSpPr txBox="true"/>
          <p:nvPr/>
        </p:nvSpPr>
        <p:spPr>
          <a:xfrm rot="0">
            <a:off x="13315950" y="3441697"/>
            <a:ext cx="1850708" cy="318773"/>
          </a:xfrm>
          <a:prstGeom prst="rect">
            <a:avLst/>
          </a:prstGeom>
        </p:spPr>
        <p:txBody>
          <a:bodyPr anchor="t" rtlCol="false" tIns="0" lIns="0" bIns="0" rIns="0">
            <a:spAutoFit/>
          </a:bodyPr>
          <a:lstStyle/>
          <a:p>
            <a:pPr algn="l">
              <a:lnSpc>
                <a:spcPts val="2160"/>
              </a:lnSpc>
            </a:pPr>
            <a:r>
              <a:rPr lang="en-US" sz="1800" spc="-44">
                <a:solidFill>
                  <a:srgbClr val="A3937F"/>
                </a:solidFill>
                <a:latin typeface="Arial"/>
                <a:ea typeface="Arial"/>
                <a:cs typeface="Arial"/>
                <a:sym typeface="Arial"/>
              </a:rPr>
              <a:t>OPPORTUNITY</a:t>
            </a:r>
          </a:p>
        </p:txBody>
      </p:sp>
      <p:sp>
        <p:nvSpPr>
          <p:cNvPr name="Freeform 16" id="16"/>
          <p:cNvSpPr/>
          <p:nvPr/>
        </p:nvSpPr>
        <p:spPr>
          <a:xfrm flipH="false" flipV="false" rot="0">
            <a:off x="1143000" y="5791219"/>
            <a:ext cx="16002000" cy="1904990"/>
          </a:xfrm>
          <a:custGeom>
            <a:avLst/>
            <a:gdLst/>
            <a:ahLst/>
            <a:cxnLst/>
            <a:rect r="r" b="b" t="t" l="l"/>
            <a:pathLst>
              <a:path h="1904990" w="16002000">
                <a:moveTo>
                  <a:pt x="0" y="0"/>
                </a:moveTo>
                <a:lnTo>
                  <a:pt x="16002000" y="0"/>
                </a:lnTo>
                <a:lnTo>
                  <a:pt x="16002000" y="1904991"/>
                </a:lnTo>
                <a:lnTo>
                  <a:pt x="0" y="19049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314450" y="4449442"/>
            <a:ext cx="3343275" cy="681733"/>
          </a:xfrm>
          <a:prstGeom prst="rect">
            <a:avLst/>
          </a:prstGeom>
        </p:spPr>
        <p:txBody>
          <a:bodyPr anchor="t" rtlCol="false" tIns="0" lIns="0" bIns="0" rIns="0">
            <a:spAutoFit/>
          </a:bodyPr>
          <a:lstStyle/>
          <a:p>
            <a:pPr algn="l">
              <a:lnSpc>
                <a:spcPts val="2475"/>
              </a:lnSpc>
            </a:pPr>
            <a:r>
              <a:rPr lang="en-US" sz="1800" spc="106">
                <a:solidFill>
                  <a:srgbClr val="A3937F"/>
                </a:solidFill>
                <a:latin typeface="Tomorrow"/>
                <a:ea typeface="Tomorrow"/>
                <a:cs typeface="Tomorrow"/>
                <a:sym typeface="Tomorrow"/>
              </a:rPr>
              <a:t>SAP IBP(integrated Business Planning)</a:t>
            </a:r>
          </a:p>
        </p:txBody>
      </p:sp>
      <p:sp>
        <p:nvSpPr>
          <p:cNvPr name="TextBox 18" id="18"/>
          <p:cNvSpPr txBox="true"/>
          <p:nvPr/>
        </p:nvSpPr>
        <p:spPr>
          <a:xfrm rot="0">
            <a:off x="5257800" y="4232272"/>
            <a:ext cx="3198495" cy="1401051"/>
          </a:xfrm>
          <a:prstGeom prst="rect">
            <a:avLst/>
          </a:prstGeom>
        </p:spPr>
        <p:txBody>
          <a:bodyPr anchor="t" rtlCol="false" tIns="0" lIns="0" bIns="0" rIns="0">
            <a:spAutoFit/>
          </a:bodyPr>
          <a:lstStyle/>
          <a:p>
            <a:pPr algn="l">
              <a:lnSpc>
                <a:spcPts val="2160"/>
              </a:lnSpc>
            </a:pPr>
            <a:r>
              <a:rPr lang="en-US" sz="1800" spc="106">
                <a:solidFill>
                  <a:srgbClr val="A3937F"/>
                </a:solidFill>
                <a:latin typeface="Tomorrow"/>
                <a:ea typeface="Tomorrow"/>
                <a:cs typeface="Tomorrow"/>
                <a:sym typeface="Tomorrow"/>
              </a:rPr>
              <a:t>Strong enterprise demand, supply, inventory planning, scenario simulation and supplier collaboration. </a:t>
            </a:r>
          </a:p>
        </p:txBody>
      </p:sp>
      <p:sp>
        <p:nvSpPr>
          <p:cNvPr name="TextBox 19" id="19"/>
          <p:cNvSpPr txBox="true"/>
          <p:nvPr/>
        </p:nvSpPr>
        <p:spPr>
          <a:xfrm rot="0">
            <a:off x="9144000" y="3975097"/>
            <a:ext cx="3076575" cy="1626994"/>
          </a:xfrm>
          <a:prstGeom prst="rect">
            <a:avLst/>
          </a:prstGeom>
        </p:spPr>
        <p:txBody>
          <a:bodyPr anchor="t" rtlCol="false" tIns="0" lIns="0" bIns="0" rIns="0">
            <a:spAutoFit/>
          </a:bodyPr>
          <a:lstStyle/>
          <a:p>
            <a:pPr algn="l">
              <a:lnSpc>
                <a:spcPts val="2475"/>
              </a:lnSpc>
            </a:pPr>
            <a:r>
              <a:rPr lang="en-US" sz="1800" spc="76">
                <a:solidFill>
                  <a:srgbClr val="A3937F"/>
                </a:solidFill>
                <a:latin typeface="Tomorrow"/>
                <a:ea typeface="Tomorrow"/>
                <a:cs typeface="Tomorrow"/>
                <a:sym typeface="Tomorrow"/>
              </a:rPr>
              <a:t>Broad enterprise platform, planners may still need to work across multiple processes and data sources for action.</a:t>
            </a:r>
          </a:p>
        </p:txBody>
      </p:sp>
      <p:sp>
        <p:nvSpPr>
          <p:cNvPr name="TextBox 20" id="20"/>
          <p:cNvSpPr txBox="true"/>
          <p:nvPr/>
        </p:nvSpPr>
        <p:spPr>
          <a:xfrm rot="0">
            <a:off x="13258800" y="4003672"/>
            <a:ext cx="3329940" cy="1678057"/>
          </a:xfrm>
          <a:prstGeom prst="rect">
            <a:avLst/>
          </a:prstGeom>
        </p:spPr>
        <p:txBody>
          <a:bodyPr anchor="t" rtlCol="false" tIns="0" lIns="0" bIns="0" rIns="0">
            <a:spAutoFit/>
          </a:bodyPr>
          <a:lstStyle/>
          <a:p>
            <a:pPr algn="l">
              <a:lnSpc>
                <a:spcPts val="2160"/>
              </a:lnSpc>
            </a:pPr>
            <a:r>
              <a:rPr lang="en-US" sz="1800" spc="1">
                <a:solidFill>
                  <a:srgbClr val="A3937F"/>
                </a:solidFill>
                <a:latin typeface="Tomorrow"/>
                <a:ea typeface="Tomorrow"/>
                <a:cs typeface="Tomorrow"/>
                <a:sym typeface="Tomorrow"/>
              </a:rPr>
              <a:t>Focused semiconductor exception management: connect signals, identify root cause, quantify impact and recommend the next best action.</a:t>
            </a:r>
          </a:p>
        </p:txBody>
      </p:sp>
      <p:sp>
        <p:nvSpPr>
          <p:cNvPr name="TextBox 21" id="21"/>
          <p:cNvSpPr txBox="true"/>
          <p:nvPr/>
        </p:nvSpPr>
        <p:spPr>
          <a:xfrm rot="0">
            <a:off x="1143000" y="5832472"/>
            <a:ext cx="3343275" cy="276225"/>
          </a:xfrm>
          <a:prstGeom prst="rect">
            <a:avLst/>
          </a:prstGeom>
        </p:spPr>
        <p:txBody>
          <a:bodyPr anchor="t" rtlCol="false" tIns="0" lIns="0" bIns="0" rIns="0">
            <a:spAutoFit/>
          </a:bodyPr>
          <a:lstStyle/>
          <a:p>
            <a:pPr algn="l" marL="0" indent="0" lvl="0">
              <a:lnSpc>
                <a:spcPts val="2160"/>
              </a:lnSpc>
              <a:spcBef>
                <a:spcPct val="0"/>
              </a:spcBef>
            </a:pPr>
            <a:r>
              <a:rPr lang="en-US" sz="1800" spc="1" strike="noStrike" u="none">
                <a:solidFill>
                  <a:srgbClr val="A3937F"/>
                </a:solidFill>
                <a:latin typeface="Tomorrow"/>
                <a:ea typeface="Tomorrow"/>
                <a:cs typeface="Tomorrow"/>
                <a:sym typeface="Tomorrow"/>
              </a:rPr>
              <a:t>o9 Solutions</a:t>
            </a:r>
          </a:p>
        </p:txBody>
      </p:sp>
      <p:grpSp>
        <p:nvGrpSpPr>
          <p:cNvPr name="Group 22" id="22"/>
          <p:cNvGrpSpPr/>
          <p:nvPr/>
        </p:nvGrpSpPr>
        <p:grpSpPr>
          <a:xfrm rot="0">
            <a:off x="1143000" y="9591694"/>
            <a:ext cx="16002000" cy="9525"/>
            <a:chOff x="0" y="0"/>
            <a:chExt cx="21336000" cy="12700"/>
          </a:xfrm>
        </p:grpSpPr>
        <p:sp>
          <p:nvSpPr>
            <p:cNvPr name="Freeform 23" id="23"/>
            <p:cNvSpPr/>
            <p:nvPr/>
          </p:nvSpPr>
          <p:spPr>
            <a:xfrm flipH="false" flipV="false" rot="0">
              <a:off x="0" y="0"/>
              <a:ext cx="21336000" cy="12700"/>
            </a:xfrm>
            <a:custGeom>
              <a:avLst/>
              <a:gdLst/>
              <a:ahLst/>
              <a:cxnLst/>
              <a:rect r="r" b="b" t="t" l="l"/>
              <a:pathLst>
                <a:path h="12700" w="21336000">
                  <a:moveTo>
                    <a:pt x="21336000" y="0"/>
                  </a:moveTo>
                  <a:lnTo>
                    <a:pt x="16002000" y="0"/>
                  </a:lnTo>
                  <a:lnTo>
                    <a:pt x="10668000" y="0"/>
                  </a:lnTo>
                  <a:lnTo>
                    <a:pt x="5334000" y="0"/>
                  </a:lnTo>
                  <a:lnTo>
                    <a:pt x="0" y="0"/>
                  </a:lnTo>
                  <a:lnTo>
                    <a:pt x="0" y="12700"/>
                  </a:lnTo>
                  <a:lnTo>
                    <a:pt x="5334000" y="12700"/>
                  </a:lnTo>
                  <a:lnTo>
                    <a:pt x="10668000" y="12700"/>
                  </a:lnTo>
                  <a:lnTo>
                    <a:pt x="16002000" y="12700"/>
                  </a:lnTo>
                  <a:lnTo>
                    <a:pt x="21336000" y="12700"/>
                  </a:lnTo>
                  <a:lnTo>
                    <a:pt x="21336000" y="0"/>
                  </a:lnTo>
                  <a:close/>
                </a:path>
              </a:pathLst>
            </a:custGeom>
            <a:solidFill>
              <a:srgbClr val="DCCFBB"/>
            </a:solidFill>
          </p:spPr>
        </p:sp>
      </p:grpSp>
      <p:sp>
        <p:nvSpPr>
          <p:cNvPr name="TextBox 24" id="24"/>
          <p:cNvSpPr txBox="true"/>
          <p:nvPr/>
        </p:nvSpPr>
        <p:spPr>
          <a:xfrm rot="0">
            <a:off x="1314450" y="8100698"/>
            <a:ext cx="3316605" cy="307789"/>
          </a:xfrm>
          <a:prstGeom prst="rect">
            <a:avLst/>
          </a:prstGeom>
        </p:spPr>
        <p:txBody>
          <a:bodyPr anchor="t" rtlCol="false" tIns="0" lIns="0" bIns="0" rIns="0">
            <a:spAutoFit/>
          </a:bodyPr>
          <a:lstStyle/>
          <a:p>
            <a:pPr algn="l">
              <a:lnSpc>
                <a:spcPts val="2436"/>
              </a:lnSpc>
            </a:pPr>
            <a:r>
              <a:rPr lang="en-US" sz="1800" spc="1">
                <a:solidFill>
                  <a:srgbClr val="A3937F"/>
                </a:solidFill>
                <a:latin typeface="Tomorrow"/>
                <a:ea typeface="Tomorrow"/>
                <a:cs typeface="Tomorrow"/>
                <a:sym typeface="Tomorrow"/>
              </a:rPr>
              <a:t>Excel + Email + Supplier Calls</a:t>
            </a:r>
          </a:p>
        </p:txBody>
      </p:sp>
      <p:sp>
        <p:nvSpPr>
          <p:cNvPr name="TextBox 25" id="25"/>
          <p:cNvSpPr txBox="true"/>
          <p:nvPr/>
        </p:nvSpPr>
        <p:spPr>
          <a:xfrm rot="0">
            <a:off x="5486400" y="8004172"/>
            <a:ext cx="2514600" cy="1076325"/>
          </a:xfrm>
          <a:prstGeom prst="rect">
            <a:avLst/>
          </a:prstGeom>
        </p:spPr>
        <p:txBody>
          <a:bodyPr anchor="t" rtlCol="false" tIns="0" lIns="0" bIns="0" rIns="0">
            <a:spAutoFit/>
          </a:bodyPr>
          <a:lstStyle/>
          <a:p>
            <a:pPr algn="l">
              <a:lnSpc>
                <a:spcPts val="2160"/>
              </a:lnSpc>
            </a:pPr>
            <a:r>
              <a:rPr lang="en-US" sz="1800" spc="1">
                <a:solidFill>
                  <a:srgbClr val="A3937F"/>
                </a:solidFill>
                <a:latin typeface="Tomorrow"/>
                <a:ea typeface="Tomorrow"/>
                <a:cs typeface="Tomorrow"/>
                <a:sym typeface="Tomorrow"/>
              </a:rPr>
              <a:t>Flexible, familiar and easy to use for quick analysis and supplier follow ups.</a:t>
            </a:r>
          </a:p>
        </p:txBody>
      </p:sp>
      <p:sp>
        <p:nvSpPr>
          <p:cNvPr name="TextBox 26" id="26"/>
          <p:cNvSpPr txBox="true"/>
          <p:nvPr/>
        </p:nvSpPr>
        <p:spPr>
          <a:xfrm rot="0">
            <a:off x="8915400" y="7632697"/>
            <a:ext cx="4114800" cy="1638300"/>
          </a:xfrm>
          <a:prstGeom prst="rect">
            <a:avLst/>
          </a:prstGeom>
        </p:spPr>
        <p:txBody>
          <a:bodyPr anchor="t" rtlCol="false" tIns="0" lIns="0" bIns="0" rIns="0">
            <a:spAutoFit/>
          </a:bodyPr>
          <a:lstStyle/>
          <a:p>
            <a:pPr algn="l">
              <a:lnSpc>
                <a:spcPts val="2160"/>
              </a:lnSpc>
            </a:pPr>
            <a:r>
              <a:rPr lang="en-US" sz="1800">
                <a:solidFill>
                  <a:srgbClr val="A3937F"/>
                </a:solidFill>
                <a:latin typeface="Calibri (MS)"/>
                <a:ea typeface="Calibri (MS)"/>
                <a:cs typeface="Calibri (MS)"/>
                <a:sym typeface="Calibri (MS)"/>
              </a:rPr>
              <a:t>Manual reconciliation, disconnected information, slow risk identification and limited scalability across thousands of parts/suppliers. SAP itself notes that fragmented supplier coordination can limit early identification of supply risks</a:t>
            </a:r>
          </a:p>
        </p:txBody>
      </p:sp>
      <p:sp>
        <p:nvSpPr>
          <p:cNvPr name="TextBox 27" id="27"/>
          <p:cNvSpPr txBox="true"/>
          <p:nvPr/>
        </p:nvSpPr>
        <p:spPr>
          <a:xfrm rot="0">
            <a:off x="13487400" y="7746997"/>
            <a:ext cx="3314700" cy="1371600"/>
          </a:xfrm>
          <a:prstGeom prst="rect">
            <a:avLst/>
          </a:prstGeom>
        </p:spPr>
        <p:txBody>
          <a:bodyPr anchor="t" rtlCol="false" tIns="0" lIns="0" bIns="0" rIns="0">
            <a:spAutoFit/>
          </a:bodyPr>
          <a:lstStyle/>
          <a:p>
            <a:pPr algn="l">
              <a:lnSpc>
                <a:spcPts val="2160"/>
              </a:lnSpc>
            </a:pPr>
            <a:r>
              <a:rPr lang="en-US" sz="1800">
                <a:solidFill>
                  <a:srgbClr val="A3937F"/>
                </a:solidFill>
                <a:latin typeface="Calibri (MS)"/>
                <a:ea typeface="Calibri (MS)"/>
                <a:cs typeface="Calibri (MS)"/>
                <a:sym typeface="Calibri (MS)"/>
              </a:rPr>
              <a:t>Automate the manual investigation: consolidate data, detect risk, explain why and provide an actionable recommendation.</a:t>
            </a:r>
          </a:p>
        </p:txBody>
      </p:sp>
      <p:sp>
        <p:nvSpPr>
          <p:cNvPr name="TextBox 28" id="28"/>
          <p:cNvSpPr txBox="true"/>
          <p:nvPr/>
        </p:nvSpPr>
        <p:spPr>
          <a:xfrm rot="0">
            <a:off x="8892540" y="5951220"/>
            <a:ext cx="4046220" cy="1222189"/>
          </a:xfrm>
          <a:prstGeom prst="rect">
            <a:avLst/>
          </a:prstGeom>
        </p:spPr>
        <p:txBody>
          <a:bodyPr anchor="t" rtlCol="false" tIns="0" lIns="0" bIns="0" rIns="0">
            <a:spAutoFit/>
          </a:bodyPr>
          <a:lstStyle/>
          <a:p>
            <a:pPr algn="l" marL="0" indent="0" lvl="0">
              <a:lnSpc>
                <a:spcPts val="2436"/>
              </a:lnSpc>
              <a:spcBef>
                <a:spcPct val="0"/>
              </a:spcBef>
            </a:pPr>
            <a:r>
              <a:rPr lang="en-US" sz="1800" spc="1" strike="noStrike" u="none">
                <a:solidFill>
                  <a:srgbClr val="A3937F"/>
                </a:solidFill>
                <a:latin typeface="Tomorrow"/>
                <a:ea typeface="Tomorrow"/>
                <a:cs typeface="Tomorrow"/>
                <a:sym typeface="Tomorrow"/>
              </a:rPr>
              <a:t>Comprehensive enterprise platform; significant implementation effort and change management before value appears.</a:t>
            </a:r>
          </a:p>
        </p:txBody>
      </p:sp>
      <p:sp>
        <p:nvSpPr>
          <p:cNvPr name="TextBox 29" id="29"/>
          <p:cNvSpPr txBox="true"/>
          <p:nvPr/>
        </p:nvSpPr>
        <p:spPr>
          <a:xfrm rot="0">
            <a:off x="13350240" y="5836920"/>
            <a:ext cx="4046220" cy="1222189"/>
          </a:xfrm>
          <a:prstGeom prst="rect">
            <a:avLst/>
          </a:prstGeom>
        </p:spPr>
        <p:txBody>
          <a:bodyPr anchor="t" rtlCol="false" tIns="0" lIns="0" bIns="0" rIns="0">
            <a:spAutoFit/>
          </a:bodyPr>
          <a:lstStyle/>
          <a:p>
            <a:pPr algn="l">
              <a:lnSpc>
                <a:spcPts val="2436"/>
              </a:lnSpc>
            </a:pPr>
            <a:r>
              <a:rPr lang="en-US" sz="1800" spc="1">
                <a:solidFill>
                  <a:srgbClr val="A3937F"/>
                </a:solidFill>
                <a:latin typeface="Tomorrow"/>
                <a:ea typeface="Tomorrow"/>
                <a:cs typeface="Tomorrow"/>
                <a:sym typeface="Tomorrow"/>
              </a:rPr>
              <a:t>Light weight decision intelligence layer that can integrate with the existing system instead of replacing the platform.</a:t>
            </a:r>
          </a:p>
        </p:txBody>
      </p:sp>
      <p:sp>
        <p:nvSpPr>
          <p:cNvPr name="TextBox 30" id="30"/>
          <p:cNvSpPr txBox="true"/>
          <p:nvPr/>
        </p:nvSpPr>
        <p:spPr>
          <a:xfrm rot="0">
            <a:off x="5257800" y="5819775"/>
            <a:ext cx="3200400" cy="1085850"/>
          </a:xfrm>
          <a:prstGeom prst="rect">
            <a:avLst/>
          </a:prstGeom>
        </p:spPr>
        <p:txBody>
          <a:bodyPr anchor="t" rtlCol="false" tIns="0" lIns="0" bIns="0" rIns="0">
            <a:spAutoFit/>
          </a:bodyPr>
          <a:lstStyle/>
          <a:p>
            <a:pPr algn="l">
              <a:lnSpc>
                <a:spcPts val="2160"/>
              </a:lnSpc>
            </a:pPr>
            <a:r>
              <a:rPr lang="en-US" sz="1800">
                <a:solidFill>
                  <a:srgbClr val="A3937F"/>
                </a:solidFill>
                <a:latin typeface="Arimo"/>
                <a:ea typeface="Arimo"/>
                <a:cs typeface="Arimo"/>
                <a:sym typeface="Arimo"/>
              </a:rPr>
              <a:t>Unified planning across demand, supply, inventory, capacity and finance, with AI/ML and scenario 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15452"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7</a:t>
            </a:r>
          </a:p>
        </p:txBody>
      </p:sp>
      <p:grpSp>
        <p:nvGrpSpPr>
          <p:cNvPr name="Group 5" id="5"/>
          <p:cNvGrpSpPr/>
          <p:nvPr/>
        </p:nvGrpSpPr>
        <p:grpSpPr>
          <a:xfrm rot="0">
            <a:off x="14954250" y="74295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Opportunity</a:t>
            </a:r>
          </a:p>
          <a:p>
            <a:pPr algn="l">
              <a:lnSpc>
                <a:spcPts val="2520"/>
              </a:lnSpc>
            </a:pPr>
            <a:r>
              <a:rPr lang="en-US" sz="2100" spc="2">
                <a:solidFill>
                  <a:srgbClr val="7A6A5B"/>
                </a:solidFill>
                <a:latin typeface="Tomorrow"/>
                <a:ea typeface="Tomorrow"/>
                <a:cs typeface="Tomorrow"/>
                <a:sym typeface="Tomorrow"/>
              </a:rPr>
              <a:t>The gap between how things work today and how they could work.</a:t>
            </a:r>
          </a:p>
        </p:txBody>
      </p:sp>
      <p:grpSp>
        <p:nvGrpSpPr>
          <p:cNvPr name="Group 8" id="8"/>
          <p:cNvGrpSpPr/>
          <p:nvPr/>
        </p:nvGrpSpPr>
        <p:grpSpPr>
          <a:xfrm rot="0">
            <a:off x="1143000" y="310515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36922"/>
            <a:ext cx="2829878" cy="339728"/>
          </a:xfrm>
          <a:prstGeom prst="rect">
            <a:avLst/>
          </a:prstGeom>
        </p:spPr>
        <p:txBody>
          <a:bodyPr anchor="t" rtlCol="false" tIns="0" lIns="0" bIns="0" rIns="0">
            <a:spAutoFit/>
          </a:bodyPr>
          <a:lstStyle/>
          <a:p>
            <a:pPr algn="l">
              <a:lnSpc>
                <a:spcPts val="2250"/>
              </a:lnSpc>
            </a:pPr>
            <a:r>
              <a:rPr lang="en-US" sz="1875" spc="-37">
                <a:solidFill>
                  <a:srgbClr val="F0592B"/>
                </a:solidFill>
                <a:latin typeface="Arial"/>
                <a:ea typeface="Arial"/>
                <a:cs typeface="Arial"/>
                <a:sym typeface="Arial"/>
              </a:rPr>
              <a:t>CURRENTLY BROKEN</a:t>
            </a:r>
          </a:p>
        </p:txBody>
      </p:sp>
      <p:grpSp>
        <p:nvGrpSpPr>
          <p:cNvPr name="Group 11" id="11"/>
          <p:cNvGrpSpPr/>
          <p:nvPr/>
        </p:nvGrpSpPr>
        <p:grpSpPr>
          <a:xfrm rot="0">
            <a:off x="1143000" y="3867150"/>
            <a:ext cx="4981575" cy="4029761"/>
            <a:chOff x="0" y="0"/>
            <a:chExt cx="6642100" cy="5373014"/>
          </a:xfrm>
        </p:grpSpPr>
        <p:sp>
          <p:nvSpPr>
            <p:cNvPr name="Freeform 12" id="12"/>
            <p:cNvSpPr/>
            <p:nvPr/>
          </p:nvSpPr>
          <p:spPr>
            <a:xfrm flipH="false" flipV="false" rot="0">
              <a:off x="0" y="0"/>
              <a:ext cx="6642100" cy="5372989"/>
            </a:xfrm>
            <a:custGeom>
              <a:avLst/>
              <a:gdLst/>
              <a:ahLst/>
              <a:cxnLst/>
              <a:rect r="r" b="b" t="t" l="l"/>
              <a:pathLst>
                <a:path h="5372989" w="6642100">
                  <a:moveTo>
                    <a:pt x="0" y="0"/>
                  </a:moveTo>
                  <a:lnTo>
                    <a:pt x="6642100" y="0"/>
                  </a:lnTo>
                  <a:lnTo>
                    <a:pt x="6642100" y="5372989"/>
                  </a:lnTo>
                  <a:lnTo>
                    <a:pt x="0" y="5372989"/>
                  </a:lnTo>
                  <a:close/>
                </a:path>
              </a:pathLst>
            </a:custGeom>
            <a:solidFill>
              <a:srgbClr val="F7F1E6"/>
            </a:solidFill>
            <a:ln w="19050" cap="sq">
              <a:solidFill>
                <a:srgbClr val="DCCFBB"/>
              </a:solidFill>
              <a:prstDash val="solid"/>
              <a:miter/>
            </a:ln>
          </p:spPr>
        </p:sp>
        <p:sp>
          <p:nvSpPr>
            <p:cNvPr name="TextBox 13" id="13"/>
            <p:cNvSpPr txBox="true"/>
            <p:nvPr/>
          </p:nvSpPr>
          <p:spPr>
            <a:xfrm>
              <a:off x="0" y="-161925"/>
              <a:ext cx="6642100" cy="5534939"/>
            </a:xfrm>
            <a:prstGeom prst="rect">
              <a:avLst/>
            </a:prstGeom>
          </p:spPr>
          <p:txBody>
            <a:bodyPr anchor="t" rtlCol="false" tIns="50800" lIns="50800" bIns="50800" rIns="50800"/>
            <a:lstStyle/>
            <a:p>
              <a:pPr algn="l">
                <a:lnSpc>
                  <a:spcPts val="3825"/>
                </a:lnSpc>
              </a:pPr>
              <a:r>
                <a:rPr lang="en-US" sz="1875" spc="114">
                  <a:solidFill>
                    <a:srgbClr val="A3937F"/>
                  </a:solidFill>
                  <a:latin typeface="Tomorrow"/>
                  <a:ea typeface="Tomorrow"/>
                  <a:cs typeface="Tomorrow"/>
                  <a:sym typeface="Tomorrow"/>
                </a:rPr>
                <a:t>Fragmented data and manual analysis make it difficult to detect supply risks early and decide what action to take. 9 in 10 supply chain leaders reported challenges, with disruption response averaging 2 weeks.</a:t>
              </a:r>
            </a:p>
          </p:txBody>
        </p:sp>
      </p:grpSp>
      <p:sp>
        <p:nvSpPr>
          <p:cNvPr name="TextBox 14" id="14"/>
          <p:cNvSpPr txBox="true"/>
          <p:nvPr/>
        </p:nvSpPr>
        <p:spPr>
          <a:xfrm rot="0">
            <a:off x="6635648" y="3336922"/>
            <a:ext cx="2481262" cy="339728"/>
          </a:xfrm>
          <a:prstGeom prst="rect">
            <a:avLst/>
          </a:prstGeom>
        </p:spPr>
        <p:txBody>
          <a:bodyPr anchor="t" rtlCol="false" tIns="0" lIns="0" bIns="0" rIns="0">
            <a:spAutoFit/>
          </a:bodyPr>
          <a:lstStyle/>
          <a:p>
            <a:pPr algn="l">
              <a:lnSpc>
                <a:spcPts val="2250"/>
              </a:lnSpc>
            </a:pPr>
            <a:r>
              <a:rPr lang="en-US" sz="1875" spc="-89">
                <a:solidFill>
                  <a:srgbClr val="F0592B"/>
                </a:solidFill>
                <a:latin typeface="Arial"/>
                <a:ea typeface="Arial"/>
                <a:cs typeface="Arial"/>
                <a:sym typeface="Arial"/>
              </a:rPr>
              <a:t>COULD BE BETTER</a:t>
            </a:r>
          </a:p>
        </p:txBody>
      </p:sp>
      <p:grpSp>
        <p:nvGrpSpPr>
          <p:cNvPr name="Group 15" id="15"/>
          <p:cNvGrpSpPr/>
          <p:nvPr/>
        </p:nvGrpSpPr>
        <p:grpSpPr>
          <a:xfrm rot="0">
            <a:off x="6657975" y="3867150"/>
            <a:ext cx="4972050" cy="1643339"/>
            <a:chOff x="0" y="0"/>
            <a:chExt cx="6629400" cy="2191118"/>
          </a:xfrm>
        </p:grpSpPr>
        <p:sp>
          <p:nvSpPr>
            <p:cNvPr name="Freeform 16" id="16"/>
            <p:cNvSpPr/>
            <p:nvPr/>
          </p:nvSpPr>
          <p:spPr>
            <a:xfrm flipH="false" flipV="false" rot="0">
              <a:off x="0" y="0"/>
              <a:ext cx="6629400" cy="2191131"/>
            </a:xfrm>
            <a:custGeom>
              <a:avLst/>
              <a:gdLst/>
              <a:ahLst/>
              <a:cxnLst/>
              <a:rect r="r" b="b" t="t" l="l"/>
              <a:pathLst>
                <a:path h="2191131" w="6629400">
                  <a:moveTo>
                    <a:pt x="0" y="0"/>
                  </a:moveTo>
                  <a:lnTo>
                    <a:pt x="6629400" y="0"/>
                  </a:lnTo>
                  <a:lnTo>
                    <a:pt x="6629400" y="2191131"/>
                  </a:lnTo>
                  <a:lnTo>
                    <a:pt x="0" y="2191131"/>
                  </a:lnTo>
                  <a:close/>
                </a:path>
              </a:pathLst>
            </a:custGeom>
            <a:solidFill>
              <a:srgbClr val="F7F1E6"/>
            </a:solidFill>
            <a:ln w="19050" cap="sq">
              <a:solidFill>
                <a:srgbClr val="DCCFBB"/>
              </a:solidFill>
              <a:prstDash val="solid"/>
              <a:miter/>
            </a:ln>
          </p:spPr>
        </p:sp>
        <p:sp>
          <p:nvSpPr>
            <p:cNvPr name="TextBox 17" id="17"/>
            <p:cNvSpPr txBox="true"/>
            <p:nvPr/>
          </p:nvSpPr>
          <p:spPr>
            <a:xfrm>
              <a:off x="0" y="-57150"/>
              <a:ext cx="6629400" cy="2248268"/>
            </a:xfrm>
            <a:prstGeom prst="rect">
              <a:avLst/>
            </a:prstGeom>
          </p:spPr>
          <p:txBody>
            <a:bodyPr anchor="t" rtlCol="false" tIns="50800" lIns="50800" bIns="50800" rIns="50800"/>
            <a:lstStyle/>
            <a:p>
              <a:pPr algn="l">
                <a:lnSpc>
                  <a:spcPts val="2774"/>
                </a:lnSpc>
              </a:pPr>
              <a:r>
                <a:rPr lang="en-US" sz="1875" spc="1">
                  <a:solidFill>
                    <a:srgbClr val="A3937F"/>
                  </a:solidFill>
                  <a:latin typeface="Tomorrow"/>
                  <a:ea typeface="Tomorrow"/>
                  <a:cs typeface="Tomorrow"/>
                  <a:sym typeface="Tomorrow"/>
                </a:rPr>
                <a:t>Detect supply risks earlier and help teams make faster, more informed decisions before shortages impact production.</a:t>
              </a:r>
            </a:p>
          </p:txBody>
        </p:sp>
      </p:grpSp>
      <p:sp>
        <p:nvSpPr>
          <p:cNvPr name="TextBox 18" id="18"/>
          <p:cNvSpPr txBox="true"/>
          <p:nvPr/>
        </p:nvSpPr>
        <p:spPr>
          <a:xfrm rot="0">
            <a:off x="12147499" y="3336922"/>
            <a:ext cx="2649855" cy="339728"/>
          </a:xfrm>
          <a:prstGeom prst="rect">
            <a:avLst/>
          </a:prstGeom>
        </p:spPr>
        <p:txBody>
          <a:bodyPr anchor="t" rtlCol="false" tIns="0" lIns="0" bIns="0" rIns="0">
            <a:spAutoFit/>
          </a:bodyPr>
          <a:lstStyle/>
          <a:p>
            <a:pPr algn="l">
              <a:lnSpc>
                <a:spcPts val="2250"/>
              </a:lnSpc>
            </a:pPr>
            <a:r>
              <a:rPr lang="en-US" sz="1875" spc="-15">
                <a:solidFill>
                  <a:srgbClr val="F0592B"/>
                </a:solidFill>
                <a:latin typeface="Arial"/>
                <a:ea typeface="Arial"/>
                <a:cs typeface="Arial"/>
                <a:sym typeface="Arial"/>
              </a:rPr>
              <a:t>OUR OPPORTUNITY</a:t>
            </a:r>
          </a:p>
        </p:txBody>
      </p:sp>
      <p:grpSp>
        <p:nvGrpSpPr>
          <p:cNvPr name="Group 19" id="19"/>
          <p:cNvGrpSpPr/>
          <p:nvPr/>
        </p:nvGrpSpPr>
        <p:grpSpPr>
          <a:xfrm rot="0">
            <a:off x="12163425" y="3867150"/>
            <a:ext cx="4981575" cy="3048724"/>
            <a:chOff x="0" y="0"/>
            <a:chExt cx="6642100" cy="4064965"/>
          </a:xfrm>
        </p:grpSpPr>
        <p:sp>
          <p:nvSpPr>
            <p:cNvPr name="Freeform 20" id="20"/>
            <p:cNvSpPr/>
            <p:nvPr/>
          </p:nvSpPr>
          <p:spPr>
            <a:xfrm flipH="false" flipV="false" rot="0">
              <a:off x="0" y="0"/>
              <a:ext cx="6642100" cy="4065016"/>
            </a:xfrm>
            <a:custGeom>
              <a:avLst/>
              <a:gdLst/>
              <a:ahLst/>
              <a:cxnLst/>
              <a:rect r="r" b="b" t="t" l="l"/>
              <a:pathLst>
                <a:path h="4065016" w="6642100">
                  <a:moveTo>
                    <a:pt x="0" y="0"/>
                  </a:moveTo>
                  <a:lnTo>
                    <a:pt x="6642100" y="0"/>
                  </a:lnTo>
                  <a:lnTo>
                    <a:pt x="6642100" y="4065016"/>
                  </a:lnTo>
                  <a:lnTo>
                    <a:pt x="0" y="4065016"/>
                  </a:lnTo>
                  <a:close/>
                </a:path>
              </a:pathLst>
            </a:custGeom>
            <a:solidFill>
              <a:srgbClr val="F7F1E6"/>
            </a:solidFill>
            <a:ln w="19050" cap="sq">
              <a:solidFill>
                <a:srgbClr val="DCCFBB"/>
              </a:solidFill>
              <a:prstDash val="solid"/>
              <a:miter/>
            </a:ln>
          </p:spPr>
        </p:sp>
        <p:sp>
          <p:nvSpPr>
            <p:cNvPr name="TextBox 21" id="21"/>
            <p:cNvSpPr txBox="true"/>
            <p:nvPr/>
          </p:nvSpPr>
          <p:spPr>
            <a:xfrm>
              <a:off x="0" y="-161925"/>
              <a:ext cx="6642100" cy="4226890"/>
            </a:xfrm>
            <a:prstGeom prst="rect">
              <a:avLst/>
            </a:prstGeom>
          </p:spPr>
          <p:txBody>
            <a:bodyPr anchor="t" rtlCol="false" tIns="50800" lIns="50800" bIns="50800" rIns="50800"/>
            <a:lstStyle/>
            <a:p>
              <a:pPr algn="l">
                <a:lnSpc>
                  <a:spcPts val="3825"/>
                </a:lnSpc>
              </a:pPr>
              <a:r>
                <a:rPr lang="en-US" sz="1875" spc="1">
                  <a:solidFill>
                    <a:srgbClr val="A3937F"/>
                  </a:solidFill>
                  <a:latin typeface="Tomorrow"/>
                  <a:ea typeface="Tomorrow"/>
                  <a:cs typeface="Tomorrow"/>
                  <a:sym typeface="Tomorrow"/>
                </a:rPr>
                <a:t>Bridge the gap between detecting a supply chain risk and deciding what to do about it helping teams move from manual, reactive decisions to proactive, data-driven action.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37360"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8</a:t>
            </a:r>
          </a:p>
        </p:txBody>
      </p:sp>
      <p:grpSp>
        <p:nvGrpSpPr>
          <p:cNvPr name="Group 5" id="5"/>
          <p:cNvGrpSpPr/>
          <p:nvPr/>
        </p:nvGrpSpPr>
        <p:grpSpPr>
          <a:xfrm rot="0">
            <a:off x="14954250" y="74296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34">
                <a:solidFill>
                  <a:srgbClr val="2A1E16"/>
                </a:solidFill>
                <a:latin typeface="Arial"/>
                <a:ea typeface="Arial"/>
                <a:cs typeface="Arial"/>
                <a:sym typeface="Arial"/>
              </a:rPr>
              <a:t>Feature prioritisation</a:t>
            </a:r>
          </a:p>
          <a:p>
            <a:pPr algn="l">
              <a:lnSpc>
                <a:spcPts val="2520"/>
              </a:lnSpc>
            </a:pPr>
            <a:r>
              <a:rPr lang="en-US" sz="2100" spc="-12">
                <a:solidFill>
                  <a:srgbClr val="7A6A5B"/>
                </a:solidFill>
                <a:latin typeface="Tomorrow"/>
                <a:ea typeface="Tomorrow"/>
                <a:cs typeface="Tomorrow"/>
                <a:sym typeface="Tomorrow"/>
              </a:rPr>
              <a:t>What gets built first, and what each feature solves.</a:t>
            </a:r>
          </a:p>
        </p:txBody>
      </p:sp>
      <p:grpSp>
        <p:nvGrpSpPr>
          <p:cNvPr name="Group 8" id="8"/>
          <p:cNvGrpSpPr/>
          <p:nvPr/>
        </p:nvGrpSpPr>
        <p:grpSpPr>
          <a:xfrm rot="0">
            <a:off x="1143000" y="310516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46447"/>
            <a:ext cx="813435" cy="341633"/>
          </a:xfrm>
          <a:prstGeom prst="rect">
            <a:avLst/>
          </a:prstGeom>
        </p:spPr>
        <p:txBody>
          <a:bodyPr anchor="t" rtlCol="false" tIns="0" lIns="0" bIns="0" rIns="0">
            <a:spAutoFit/>
          </a:bodyPr>
          <a:lstStyle/>
          <a:p>
            <a:pPr algn="l">
              <a:lnSpc>
                <a:spcPts val="2340"/>
              </a:lnSpc>
            </a:pPr>
            <a:r>
              <a:rPr lang="en-US" sz="1950" spc="-37">
                <a:solidFill>
                  <a:srgbClr val="F0592B"/>
                </a:solidFill>
                <a:latin typeface="Arial"/>
                <a:ea typeface="Arial"/>
                <a:cs typeface="Arial"/>
                <a:sym typeface="Arial"/>
              </a:rPr>
              <a:t>MUST</a:t>
            </a:r>
          </a:p>
        </p:txBody>
      </p:sp>
      <p:sp>
        <p:nvSpPr>
          <p:cNvPr name="TextBox 11" id="11"/>
          <p:cNvSpPr txBox="true"/>
          <p:nvPr/>
        </p:nvSpPr>
        <p:spPr>
          <a:xfrm rot="0">
            <a:off x="5257800" y="3346447"/>
            <a:ext cx="1163002" cy="341633"/>
          </a:xfrm>
          <a:prstGeom prst="rect">
            <a:avLst/>
          </a:prstGeom>
        </p:spPr>
        <p:txBody>
          <a:bodyPr anchor="t" rtlCol="false" tIns="0" lIns="0" bIns="0" rIns="0">
            <a:spAutoFit/>
          </a:bodyPr>
          <a:lstStyle/>
          <a:p>
            <a:pPr algn="l">
              <a:lnSpc>
                <a:spcPts val="2340"/>
              </a:lnSpc>
            </a:pPr>
            <a:r>
              <a:rPr lang="en-US" sz="1950" spc="-29">
                <a:solidFill>
                  <a:srgbClr val="4A3C31"/>
                </a:solidFill>
                <a:latin typeface="Arial"/>
                <a:ea typeface="Arial"/>
                <a:cs typeface="Arial"/>
                <a:sym typeface="Arial"/>
              </a:rPr>
              <a:t>SHOULD</a:t>
            </a:r>
          </a:p>
        </p:txBody>
      </p:sp>
      <p:sp>
        <p:nvSpPr>
          <p:cNvPr name="TextBox 12" id="12"/>
          <p:cNvSpPr txBox="true"/>
          <p:nvPr/>
        </p:nvSpPr>
        <p:spPr>
          <a:xfrm rot="0">
            <a:off x="9391650" y="3346447"/>
            <a:ext cx="993457" cy="341633"/>
          </a:xfrm>
          <a:prstGeom prst="rect">
            <a:avLst/>
          </a:prstGeom>
        </p:spPr>
        <p:txBody>
          <a:bodyPr anchor="t" rtlCol="false" tIns="0" lIns="0" bIns="0" rIns="0">
            <a:spAutoFit/>
          </a:bodyPr>
          <a:lstStyle/>
          <a:p>
            <a:pPr algn="l">
              <a:lnSpc>
                <a:spcPts val="2340"/>
              </a:lnSpc>
            </a:pPr>
            <a:r>
              <a:rPr lang="en-US" sz="1950" spc="-15">
                <a:solidFill>
                  <a:srgbClr val="4A3C31"/>
                </a:solidFill>
                <a:latin typeface="Arial"/>
                <a:ea typeface="Arial"/>
                <a:cs typeface="Arial"/>
                <a:sym typeface="Arial"/>
              </a:rPr>
              <a:t>COULD</a:t>
            </a:r>
          </a:p>
        </p:txBody>
      </p:sp>
      <p:sp>
        <p:nvSpPr>
          <p:cNvPr name="TextBox 13" id="13"/>
          <p:cNvSpPr txBox="true"/>
          <p:nvPr/>
        </p:nvSpPr>
        <p:spPr>
          <a:xfrm rot="0">
            <a:off x="13525500" y="3346447"/>
            <a:ext cx="1088708" cy="341633"/>
          </a:xfrm>
          <a:prstGeom prst="rect">
            <a:avLst/>
          </a:prstGeom>
        </p:spPr>
        <p:txBody>
          <a:bodyPr anchor="t" rtlCol="false" tIns="0" lIns="0" bIns="0" rIns="0">
            <a:spAutoFit/>
          </a:bodyPr>
          <a:lstStyle/>
          <a:p>
            <a:pPr algn="l">
              <a:lnSpc>
                <a:spcPts val="2340"/>
              </a:lnSpc>
            </a:pPr>
            <a:r>
              <a:rPr lang="en-US" sz="1950" spc="-89">
                <a:solidFill>
                  <a:srgbClr val="7A6A5B"/>
                </a:solidFill>
                <a:latin typeface="Arial"/>
                <a:ea typeface="Arial"/>
                <a:cs typeface="Arial"/>
                <a:sym typeface="Arial"/>
              </a:rPr>
              <a:t>FUTURE</a:t>
            </a:r>
          </a:p>
        </p:txBody>
      </p:sp>
      <p:grpSp>
        <p:nvGrpSpPr>
          <p:cNvPr name="Group 14" id="14"/>
          <p:cNvGrpSpPr/>
          <p:nvPr/>
        </p:nvGrpSpPr>
        <p:grpSpPr>
          <a:xfrm rot="0">
            <a:off x="1143000" y="3876685"/>
            <a:ext cx="3600450" cy="6416283"/>
            <a:chOff x="0" y="0"/>
            <a:chExt cx="4800600" cy="8555044"/>
          </a:xfrm>
        </p:grpSpPr>
        <p:sp>
          <p:nvSpPr>
            <p:cNvPr name="Freeform 15" id="15"/>
            <p:cNvSpPr/>
            <p:nvPr/>
          </p:nvSpPr>
          <p:spPr>
            <a:xfrm flipH="false" flipV="false" rot="0">
              <a:off x="0" y="0"/>
              <a:ext cx="4800600" cy="8555095"/>
            </a:xfrm>
            <a:custGeom>
              <a:avLst/>
              <a:gdLst/>
              <a:ahLst/>
              <a:cxnLst/>
              <a:rect r="r" b="b" t="t" l="l"/>
              <a:pathLst>
                <a:path h="8555095" w="4800600">
                  <a:moveTo>
                    <a:pt x="0" y="0"/>
                  </a:moveTo>
                  <a:lnTo>
                    <a:pt x="4800600" y="0"/>
                  </a:lnTo>
                  <a:lnTo>
                    <a:pt x="4800600" y="8555095"/>
                  </a:lnTo>
                  <a:lnTo>
                    <a:pt x="0" y="8555095"/>
                  </a:lnTo>
                  <a:close/>
                </a:path>
              </a:pathLst>
            </a:custGeom>
            <a:solidFill>
              <a:srgbClr val="F7F1E6"/>
            </a:solidFill>
            <a:ln w="19050" cap="sq">
              <a:solidFill>
                <a:srgbClr val="DCCFBB"/>
              </a:solidFill>
              <a:prstDash val="solid"/>
              <a:miter/>
            </a:ln>
          </p:spPr>
        </p:sp>
        <p:sp>
          <p:nvSpPr>
            <p:cNvPr name="TextBox 16" id="16"/>
            <p:cNvSpPr txBox="true"/>
            <p:nvPr/>
          </p:nvSpPr>
          <p:spPr>
            <a:xfrm>
              <a:off x="0" y="-47625"/>
              <a:ext cx="4800600" cy="8602669"/>
            </a:xfrm>
            <a:prstGeom prst="rect">
              <a:avLst/>
            </a:prstGeom>
          </p:spPr>
          <p:txBody>
            <a:bodyPr anchor="t" rtlCol="false" tIns="50800" lIns="50800" bIns="50800" rIns="50800"/>
            <a:lstStyle/>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Early Risk Detection — spot shortages before they bite.</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Supplier Risk Monitoring — catch delays early.</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External Risk Intelligence — read published events.</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Impact &amp; Root Cause — why, and what it touches.</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Action Recommendation — the best real option.</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AI Assistant — ask in plain language.</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Human Approval — a person signs before any order.</a:t>
              </a:r>
            </a:p>
          </p:txBody>
        </p:sp>
      </p:grpSp>
      <p:grpSp>
        <p:nvGrpSpPr>
          <p:cNvPr name="Group 17" id="17"/>
          <p:cNvGrpSpPr/>
          <p:nvPr/>
        </p:nvGrpSpPr>
        <p:grpSpPr>
          <a:xfrm rot="0">
            <a:off x="5276850" y="3876685"/>
            <a:ext cx="3600450" cy="5820543"/>
            <a:chOff x="0" y="0"/>
            <a:chExt cx="4800600" cy="7760724"/>
          </a:xfrm>
        </p:grpSpPr>
        <p:sp>
          <p:nvSpPr>
            <p:cNvPr name="Freeform 18" id="18"/>
            <p:cNvSpPr/>
            <p:nvPr/>
          </p:nvSpPr>
          <p:spPr>
            <a:xfrm flipH="false" flipV="false" rot="0">
              <a:off x="0" y="0"/>
              <a:ext cx="4800600" cy="7760712"/>
            </a:xfrm>
            <a:custGeom>
              <a:avLst/>
              <a:gdLst/>
              <a:ahLst/>
              <a:cxnLst/>
              <a:rect r="r" b="b" t="t" l="l"/>
              <a:pathLst>
                <a:path h="7760712" w="4800600">
                  <a:moveTo>
                    <a:pt x="0" y="0"/>
                  </a:moveTo>
                  <a:lnTo>
                    <a:pt x="4800600" y="0"/>
                  </a:lnTo>
                  <a:lnTo>
                    <a:pt x="4800600" y="7760712"/>
                  </a:lnTo>
                  <a:lnTo>
                    <a:pt x="0" y="7760712"/>
                  </a:lnTo>
                  <a:close/>
                </a:path>
              </a:pathLst>
            </a:custGeom>
            <a:solidFill>
              <a:srgbClr val="F7F1E6"/>
            </a:solidFill>
            <a:ln w="19050" cap="sq">
              <a:solidFill>
                <a:srgbClr val="DCCFBB"/>
              </a:solidFill>
              <a:prstDash val="solid"/>
              <a:miter/>
            </a:ln>
          </p:spPr>
        </p:sp>
        <p:sp>
          <p:nvSpPr>
            <p:cNvPr name="TextBox 19" id="19"/>
            <p:cNvSpPr txBox="true"/>
            <p:nvPr/>
          </p:nvSpPr>
          <p:spPr>
            <a:xfrm>
              <a:off x="0" y="-47625"/>
              <a:ext cx="4800600" cy="7808349"/>
            </a:xfrm>
            <a:prstGeom prst="rect">
              <a:avLst/>
            </a:prstGeom>
          </p:spPr>
          <p:txBody>
            <a:bodyPr anchor="t" rtlCol="false" tIns="50800" lIns="50800" bIns="50800" rIns="50800"/>
            <a:lstStyle/>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Demand Forecasting Enhancement — improve demand prediction using historical and business signals.</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What-If Scenarios — compare possible actions and their impact before deciding.</a:t>
              </a:r>
            </a:p>
          </p:txBody>
        </p:sp>
      </p:grpSp>
      <p:grpSp>
        <p:nvGrpSpPr>
          <p:cNvPr name="Group 20" id="20"/>
          <p:cNvGrpSpPr/>
          <p:nvPr/>
        </p:nvGrpSpPr>
        <p:grpSpPr>
          <a:xfrm rot="0">
            <a:off x="9410700" y="3876685"/>
            <a:ext cx="3600450" cy="4093242"/>
            <a:chOff x="0" y="0"/>
            <a:chExt cx="4800600" cy="5457656"/>
          </a:xfrm>
        </p:grpSpPr>
        <p:sp>
          <p:nvSpPr>
            <p:cNvPr name="Freeform 21" id="21"/>
            <p:cNvSpPr/>
            <p:nvPr/>
          </p:nvSpPr>
          <p:spPr>
            <a:xfrm flipH="false" flipV="false" rot="0">
              <a:off x="0" y="0"/>
              <a:ext cx="4800600" cy="5457694"/>
            </a:xfrm>
            <a:custGeom>
              <a:avLst/>
              <a:gdLst/>
              <a:ahLst/>
              <a:cxnLst/>
              <a:rect r="r" b="b" t="t" l="l"/>
              <a:pathLst>
                <a:path h="5457694" w="4800600">
                  <a:moveTo>
                    <a:pt x="0" y="0"/>
                  </a:moveTo>
                  <a:lnTo>
                    <a:pt x="4800600" y="0"/>
                  </a:lnTo>
                  <a:lnTo>
                    <a:pt x="4800600" y="5457694"/>
                  </a:lnTo>
                  <a:lnTo>
                    <a:pt x="0" y="5457694"/>
                  </a:lnTo>
                  <a:close/>
                </a:path>
              </a:pathLst>
            </a:custGeom>
            <a:solidFill>
              <a:srgbClr val="F7F1E6"/>
            </a:solidFill>
            <a:ln w="19050" cap="sq">
              <a:solidFill>
                <a:srgbClr val="DCCFBB"/>
              </a:solidFill>
              <a:prstDash val="solid"/>
              <a:miter/>
            </a:ln>
          </p:spPr>
        </p:sp>
        <p:sp>
          <p:nvSpPr>
            <p:cNvPr name="TextBox 22" id="22"/>
            <p:cNvSpPr txBox="true"/>
            <p:nvPr/>
          </p:nvSpPr>
          <p:spPr>
            <a:xfrm>
              <a:off x="0" y="-9525"/>
              <a:ext cx="4800600" cy="5467181"/>
            </a:xfrm>
            <a:prstGeom prst="rect">
              <a:avLst/>
            </a:prstGeom>
          </p:spPr>
          <p:txBody>
            <a:bodyPr anchor="t" rtlCol="false" tIns="50800" lIns="50800" bIns="50800" rIns="50800"/>
            <a:lstStyle/>
            <a:p>
              <a:pPr algn="l" marL="0" indent="0" lvl="0">
                <a:lnSpc>
                  <a:spcPts val="2160"/>
                </a:lnSpc>
                <a:spcBef>
                  <a:spcPct val="0"/>
                </a:spcBef>
              </a:pPr>
              <a:r>
                <a:rPr lang="en-US" sz="1800" spc="1" strike="noStrike" u="none">
                  <a:solidFill>
                    <a:srgbClr val="A3937F"/>
                  </a:solidFill>
                  <a:latin typeface="Tomorrow"/>
                  <a:ea typeface="Tomorrow"/>
                  <a:cs typeface="Tomorrow"/>
                  <a:sym typeface="Tomorrow"/>
                </a:rPr>
                <a:t>ERP/SCM Integration — connect insights and approved decisions with existing enterprise systems.</a:t>
              </a:r>
            </a:p>
            <a:p>
              <a:pPr algn="l" marL="0" indent="0" lvl="0">
                <a:lnSpc>
                  <a:spcPts val="2160"/>
                </a:lnSpc>
                <a:spcBef>
                  <a:spcPct val="0"/>
                </a:spcBef>
              </a:pPr>
              <a:r>
                <a:rPr lang="en-US" sz="1800" spc="1" strike="noStrike" u="none">
                  <a:solidFill>
                    <a:srgbClr val="A3937F"/>
                  </a:solidFill>
                  <a:latin typeface="Tomorrow"/>
                  <a:ea typeface="Tomorrow"/>
                  <a:cs typeface="Tomorrow"/>
                  <a:sym typeface="Tomorrow"/>
                </a:rPr>
                <a:t>Automated Procurement Execution — execute approved recommendations through ERP/SCM workflows.</a:t>
              </a:r>
            </a:p>
          </p:txBody>
        </p:sp>
      </p:grpSp>
      <p:grpSp>
        <p:nvGrpSpPr>
          <p:cNvPr name="Group 23" id="23"/>
          <p:cNvGrpSpPr/>
          <p:nvPr/>
        </p:nvGrpSpPr>
        <p:grpSpPr>
          <a:xfrm rot="0">
            <a:off x="13544550" y="3876685"/>
            <a:ext cx="3600450" cy="5435822"/>
            <a:chOff x="0" y="0"/>
            <a:chExt cx="4800600" cy="7247762"/>
          </a:xfrm>
        </p:grpSpPr>
        <p:sp>
          <p:nvSpPr>
            <p:cNvPr name="Freeform 24" id="24"/>
            <p:cNvSpPr/>
            <p:nvPr/>
          </p:nvSpPr>
          <p:spPr>
            <a:xfrm flipH="false" flipV="false" rot="0">
              <a:off x="0" y="0"/>
              <a:ext cx="4800600" cy="7247762"/>
            </a:xfrm>
            <a:custGeom>
              <a:avLst/>
              <a:gdLst/>
              <a:ahLst/>
              <a:cxnLst/>
              <a:rect r="r" b="b" t="t" l="l"/>
              <a:pathLst>
                <a:path h="7247762" w="4800600">
                  <a:moveTo>
                    <a:pt x="0" y="0"/>
                  </a:moveTo>
                  <a:lnTo>
                    <a:pt x="4800600" y="0"/>
                  </a:lnTo>
                  <a:lnTo>
                    <a:pt x="4800600" y="7247762"/>
                  </a:lnTo>
                  <a:lnTo>
                    <a:pt x="0" y="7247762"/>
                  </a:lnTo>
                  <a:close/>
                </a:path>
              </a:pathLst>
            </a:custGeom>
            <a:solidFill>
              <a:srgbClr val="F7F1E6"/>
            </a:solidFill>
            <a:ln w="19050" cap="sq">
              <a:solidFill>
                <a:srgbClr val="DCCFBB"/>
              </a:solidFill>
              <a:prstDash val="solid"/>
              <a:miter/>
            </a:ln>
          </p:spPr>
        </p:sp>
        <p:sp>
          <p:nvSpPr>
            <p:cNvPr name="TextBox 25" id="25"/>
            <p:cNvSpPr txBox="true"/>
            <p:nvPr/>
          </p:nvSpPr>
          <p:spPr>
            <a:xfrm>
              <a:off x="0" y="-47625"/>
              <a:ext cx="4800600" cy="7295387"/>
            </a:xfrm>
            <a:prstGeom prst="rect">
              <a:avLst/>
            </a:prstGeom>
          </p:spPr>
          <p:txBody>
            <a:bodyPr anchor="t" rtlCol="false" tIns="50800" lIns="50800" bIns="50800" rIns="50800"/>
            <a:lstStyle/>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Autonomous AI Agents — automatically execute approved procurement and inventory actions.</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Advanced Scenario Simulation — model what-if scenarios for demand, supply, capacity and pricing.</a:t>
              </a:r>
            </a:p>
            <a:p>
              <a:pPr algn="l" marL="0" indent="0" lvl="0">
                <a:lnSpc>
                  <a:spcPts val="2550"/>
                </a:lnSpc>
                <a:spcBef>
                  <a:spcPct val="0"/>
                </a:spcBef>
              </a:pPr>
              <a:r>
                <a:rPr lang="en-US" sz="1800" spc="1" strike="noStrike" u="none">
                  <a:solidFill>
                    <a:srgbClr val="A3937F"/>
                  </a:solidFill>
                  <a:latin typeface="Tomorrow"/>
                  <a:ea typeface="Tomorrow"/>
                  <a:cs typeface="Tomorrow"/>
                  <a:sym typeface="Tomorrow"/>
                </a:rPr>
                <a:t>End-to-End Digital Twin — simulate the supply chain in real time.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733550"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0 9</a:t>
            </a:r>
          </a:p>
        </p:txBody>
      </p:sp>
      <p:grpSp>
        <p:nvGrpSpPr>
          <p:cNvPr name="Group 5" id="5"/>
          <p:cNvGrpSpPr/>
          <p:nvPr/>
        </p:nvGrpSpPr>
        <p:grpSpPr>
          <a:xfrm rot="0">
            <a:off x="14954250" y="74296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MVP definition</a:t>
            </a:r>
          </a:p>
          <a:p>
            <a:pPr algn="l">
              <a:lnSpc>
                <a:spcPts val="2520"/>
              </a:lnSpc>
            </a:pPr>
            <a:r>
              <a:rPr lang="en-US" sz="2100" spc="2">
                <a:solidFill>
                  <a:srgbClr val="7A6A5B"/>
                </a:solidFill>
                <a:latin typeface="Tomorrow"/>
                <a:ea typeface="Tomorrow"/>
                <a:cs typeface="Tomorrow"/>
                <a:sym typeface="Tomorrow"/>
              </a:rPr>
              <a:t>Target user, core problem, proposed solution, must-haves, and what you are not building.</a:t>
            </a:r>
          </a:p>
        </p:txBody>
      </p:sp>
      <p:grpSp>
        <p:nvGrpSpPr>
          <p:cNvPr name="Group 8" id="8"/>
          <p:cNvGrpSpPr/>
          <p:nvPr/>
        </p:nvGrpSpPr>
        <p:grpSpPr>
          <a:xfrm rot="0">
            <a:off x="1143000" y="310516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46447"/>
            <a:ext cx="1365885" cy="318773"/>
          </a:xfrm>
          <a:prstGeom prst="rect">
            <a:avLst/>
          </a:prstGeom>
        </p:spPr>
        <p:txBody>
          <a:bodyPr anchor="t" rtlCol="false" tIns="0" lIns="0" bIns="0" rIns="0">
            <a:spAutoFit/>
          </a:bodyPr>
          <a:lstStyle/>
          <a:p>
            <a:pPr algn="l">
              <a:lnSpc>
                <a:spcPts val="2160"/>
              </a:lnSpc>
            </a:pPr>
            <a:r>
              <a:rPr lang="en-US" sz="1800" spc="-97">
                <a:solidFill>
                  <a:srgbClr val="F0592B"/>
                </a:solidFill>
                <a:latin typeface="Arial"/>
                <a:ea typeface="Arial"/>
                <a:cs typeface="Arial"/>
                <a:sym typeface="Arial"/>
              </a:rPr>
              <a:t>Target user</a:t>
            </a:r>
          </a:p>
        </p:txBody>
      </p:sp>
      <p:sp>
        <p:nvSpPr>
          <p:cNvPr name="TextBox 11" id="11"/>
          <p:cNvSpPr txBox="true"/>
          <p:nvPr/>
        </p:nvSpPr>
        <p:spPr>
          <a:xfrm rot="0">
            <a:off x="4400550" y="3346447"/>
            <a:ext cx="1640205" cy="318773"/>
          </a:xfrm>
          <a:prstGeom prst="rect">
            <a:avLst/>
          </a:prstGeom>
        </p:spPr>
        <p:txBody>
          <a:bodyPr anchor="t" rtlCol="false" tIns="0" lIns="0" bIns="0" rIns="0">
            <a:spAutoFit/>
          </a:bodyPr>
          <a:lstStyle/>
          <a:p>
            <a:pPr algn="l">
              <a:lnSpc>
                <a:spcPts val="2160"/>
              </a:lnSpc>
            </a:pPr>
            <a:r>
              <a:rPr lang="en-US" sz="1800" spc="-14">
                <a:solidFill>
                  <a:srgbClr val="F0592B"/>
                </a:solidFill>
                <a:latin typeface="Arial"/>
                <a:ea typeface="Arial"/>
                <a:cs typeface="Arial"/>
                <a:sym typeface="Arial"/>
              </a:rPr>
              <a:t>Core problem</a:t>
            </a:r>
          </a:p>
        </p:txBody>
      </p:sp>
      <p:sp>
        <p:nvSpPr>
          <p:cNvPr name="TextBox 12" id="12"/>
          <p:cNvSpPr txBox="true"/>
          <p:nvPr/>
        </p:nvSpPr>
        <p:spPr>
          <a:xfrm rot="0">
            <a:off x="7677150" y="3346447"/>
            <a:ext cx="2125980" cy="318773"/>
          </a:xfrm>
          <a:prstGeom prst="rect">
            <a:avLst/>
          </a:prstGeom>
        </p:spPr>
        <p:txBody>
          <a:bodyPr anchor="t" rtlCol="false" tIns="0" lIns="0" bIns="0" rIns="0">
            <a:spAutoFit/>
          </a:bodyPr>
          <a:lstStyle/>
          <a:p>
            <a:pPr algn="l">
              <a:lnSpc>
                <a:spcPts val="2160"/>
              </a:lnSpc>
            </a:pPr>
            <a:r>
              <a:rPr lang="en-US" sz="1800" spc="-59">
                <a:solidFill>
                  <a:srgbClr val="F0592B"/>
                </a:solidFill>
                <a:latin typeface="Arial"/>
                <a:ea typeface="Arial"/>
                <a:cs typeface="Arial"/>
                <a:sym typeface="Arial"/>
              </a:rPr>
              <a:t>Proposed solution</a:t>
            </a:r>
          </a:p>
        </p:txBody>
      </p:sp>
      <p:sp>
        <p:nvSpPr>
          <p:cNvPr name="TextBox 13" id="13"/>
          <p:cNvSpPr txBox="true"/>
          <p:nvPr/>
        </p:nvSpPr>
        <p:spPr>
          <a:xfrm rot="0">
            <a:off x="10953750" y="3346447"/>
            <a:ext cx="2352675" cy="318773"/>
          </a:xfrm>
          <a:prstGeom prst="rect">
            <a:avLst/>
          </a:prstGeom>
        </p:spPr>
        <p:txBody>
          <a:bodyPr anchor="t" rtlCol="false" tIns="0" lIns="0" bIns="0" rIns="0">
            <a:spAutoFit/>
          </a:bodyPr>
          <a:lstStyle/>
          <a:p>
            <a:pPr algn="l">
              <a:lnSpc>
                <a:spcPts val="2160"/>
              </a:lnSpc>
            </a:pPr>
            <a:r>
              <a:rPr lang="en-US" sz="1800" spc="-52">
                <a:solidFill>
                  <a:srgbClr val="F0592B"/>
                </a:solidFill>
                <a:latin typeface="Arial"/>
                <a:ea typeface="Arial"/>
                <a:cs typeface="Arial"/>
                <a:sym typeface="Arial"/>
              </a:rPr>
              <a:t>Must-have features</a:t>
            </a:r>
          </a:p>
        </p:txBody>
      </p:sp>
      <p:sp>
        <p:nvSpPr>
          <p:cNvPr name="TextBox 14" id="14"/>
          <p:cNvSpPr txBox="true"/>
          <p:nvPr/>
        </p:nvSpPr>
        <p:spPr>
          <a:xfrm rot="0">
            <a:off x="14230350" y="3346447"/>
            <a:ext cx="1453515" cy="318773"/>
          </a:xfrm>
          <a:prstGeom prst="rect">
            <a:avLst/>
          </a:prstGeom>
        </p:spPr>
        <p:txBody>
          <a:bodyPr anchor="t" rtlCol="false" tIns="0" lIns="0" bIns="0" rIns="0">
            <a:spAutoFit/>
          </a:bodyPr>
          <a:lstStyle/>
          <a:p>
            <a:pPr algn="l">
              <a:lnSpc>
                <a:spcPts val="2160"/>
              </a:lnSpc>
            </a:pPr>
            <a:r>
              <a:rPr lang="en-US" sz="1800" spc="-30">
                <a:solidFill>
                  <a:srgbClr val="7A6A5B"/>
                </a:solidFill>
                <a:latin typeface="Arial"/>
                <a:ea typeface="Arial"/>
                <a:cs typeface="Arial"/>
                <a:sym typeface="Arial"/>
              </a:rPr>
              <a:t>Not building</a:t>
            </a:r>
          </a:p>
        </p:txBody>
      </p:sp>
      <p:grpSp>
        <p:nvGrpSpPr>
          <p:cNvPr name="Group 15" id="15"/>
          <p:cNvGrpSpPr/>
          <p:nvPr/>
        </p:nvGrpSpPr>
        <p:grpSpPr>
          <a:xfrm rot="0">
            <a:off x="1143000" y="3838585"/>
            <a:ext cx="2895600" cy="4794588"/>
            <a:chOff x="0" y="0"/>
            <a:chExt cx="3860800" cy="6392784"/>
          </a:xfrm>
        </p:grpSpPr>
        <p:sp>
          <p:nvSpPr>
            <p:cNvPr name="Freeform 16" id="16"/>
            <p:cNvSpPr/>
            <p:nvPr/>
          </p:nvSpPr>
          <p:spPr>
            <a:xfrm flipH="false" flipV="false" rot="0">
              <a:off x="0" y="0"/>
              <a:ext cx="3860800" cy="6392797"/>
            </a:xfrm>
            <a:custGeom>
              <a:avLst/>
              <a:gdLst/>
              <a:ahLst/>
              <a:cxnLst/>
              <a:rect r="r" b="b" t="t" l="l"/>
              <a:pathLst>
                <a:path h="6392797" w="3860800">
                  <a:moveTo>
                    <a:pt x="0" y="0"/>
                  </a:moveTo>
                  <a:lnTo>
                    <a:pt x="3860800" y="0"/>
                  </a:lnTo>
                  <a:lnTo>
                    <a:pt x="3860800" y="6392797"/>
                  </a:lnTo>
                  <a:lnTo>
                    <a:pt x="0" y="6392797"/>
                  </a:lnTo>
                  <a:close/>
                </a:path>
              </a:pathLst>
            </a:custGeom>
            <a:solidFill>
              <a:srgbClr val="F7F1E6"/>
            </a:solidFill>
            <a:ln w="19050" cap="sq">
              <a:solidFill>
                <a:srgbClr val="DCCFBB"/>
              </a:solidFill>
              <a:prstDash val="solid"/>
              <a:miter/>
            </a:ln>
          </p:spPr>
        </p:sp>
        <p:sp>
          <p:nvSpPr>
            <p:cNvPr name="TextBox 17" id="17"/>
            <p:cNvSpPr txBox="true"/>
            <p:nvPr/>
          </p:nvSpPr>
          <p:spPr>
            <a:xfrm>
              <a:off x="0" y="-47625"/>
              <a:ext cx="3860800" cy="6440409"/>
            </a:xfrm>
            <a:prstGeom prst="rect">
              <a:avLst/>
            </a:prstGeom>
          </p:spPr>
          <p:txBody>
            <a:bodyPr anchor="t" rtlCol="false" tIns="50800" lIns="50800" bIns="50800" rIns="50800"/>
            <a:lstStyle/>
            <a:p>
              <a:pPr algn="l" marL="0" indent="0" lvl="0">
                <a:lnSpc>
                  <a:spcPts val="2550"/>
                </a:lnSpc>
                <a:spcBef>
                  <a:spcPct val="0"/>
                </a:spcBef>
              </a:pPr>
              <a:r>
                <a:rPr lang="en-US" sz="1800" spc="91" strike="noStrike" u="none">
                  <a:solidFill>
                    <a:srgbClr val="A3937F"/>
                  </a:solidFill>
                  <a:latin typeface="Tomorrow"/>
                  <a:ea typeface="Tomorrow"/>
                  <a:cs typeface="Tomorrow"/>
                  <a:sym typeface="Tomorrow"/>
                </a:rPr>
                <a:t>Supply chain planners at semiconductor manufacturers and electronics OEMs — plus the procurement, inventory and operations managers who act on their analysis.</a:t>
              </a:r>
            </a:p>
          </p:txBody>
        </p:sp>
      </p:grpSp>
      <p:grpSp>
        <p:nvGrpSpPr>
          <p:cNvPr name="Group 18" id="18"/>
          <p:cNvGrpSpPr/>
          <p:nvPr/>
        </p:nvGrpSpPr>
        <p:grpSpPr>
          <a:xfrm rot="0">
            <a:off x="4419600" y="3838585"/>
            <a:ext cx="2895600" cy="3160490"/>
            <a:chOff x="0" y="0"/>
            <a:chExt cx="3860800" cy="4213987"/>
          </a:xfrm>
        </p:grpSpPr>
        <p:sp>
          <p:nvSpPr>
            <p:cNvPr name="Freeform 19" id="19"/>
            <p:cNvSpPr/>
            <p:nvPr/>
          </p:nvSpPr>
          <p:spPr>
            <a:xfrm flipH="false" flipV="false" rot="0">
              <a:off x="0" y="0"/>
              <a:ext cx="3860800" cy="4213987"/>
            </a:xfrm>
            <a:custGeom>
              <a:avLst/>
              <a:gdLst/>
              <a:ahLst/>
              <a:cxnLst/>
              <a:rect r="r" b="b" t="t" l="l"/>
              <a:pathLst>
                <a:path h="4213987" w="3860800">
                  <a:moveTo>
                    <a:pt x="0" y="0"/>
                  </a:moveTo>
                  <a:lnTo>
                    <a:pt x="3860800" y="0"/>
                  </a:lnTo>
                  <a:lnTo>
                    <a:pt x="3860800" y="4213987"/>
                  </a:lnTo>
                  <a:lnTo>
                    <a:pt x="0" y="4213987"/>
                  </a:lnTo>
                  <a:close/>
                </a:path>
              </a:pathLst>
            </a:custGeom>
            <a:solidFill>
              <a:srgbClr val="F7F1E6"/>
            </a:solidFill>
            <a:ln w="19050" cap="sq">
              <a:solidFill>
                <a:srgbClr val="DCCFBB"/>
              </a:solidFill>
              <a:prstDash val="solid"/>
              <a:miter/>
            </a:ln>
          </p:spPr>
        </p:sp>
        <p:sp>
          <p:nvSpPr>
            <p:cNvPr name="TextBox 20" id="20"/>
            <p:cNvSpPr txBox="true"/>
            <p:nvPr/>
          </p:nvSpPr>
          <p:spPr>
            <a:xfrm>
              <a:off x="0" y="-47625"/>
              <a:ext cx="3860800" cy="4261612"/>
            </a:xfrm>
            <a:prstGeom prst="rect">
              <a:avLst/>
            </a:prstGeom>
          </p:spPr>
          <p:txBody>
            <a:bodyPr anchor="t" rtlCol="false" tIns="50800" lIns="50800" bIns="50800" rIns="50800"/>
            <a:lstStyle/>
            <a:p>
              <a:pPr algn="l">
                <a:lnSpc>
                  <a:spcPts val="2550"/>
                </a:lnSpc>
              </a:pPr>
              <a:r>
                <a:rPr lang="en-US" sz="1800" spc="1">
                  <a:solidFill>
                    <a:srgbClr val="A3937F"/>
                  </a:solidFill>
                  <a:latin typeface="Tomorrow"/>
                  <a:ea typeface="Tomorrow"/>
                  <a:cs typeface="Tomorrow"/>
                  <a:sym typeface="Tomorrow"/>
                </a:rPr>
                <a:t>Lack of timely, end to end visibility into semiconductor demand, inventory, and supply risks, leading to stockouts, excess inventory, and delayed decisions.</a:t>
              </a:r>
            </a:p>
          </p:txBody>
        </p:sp>
      </p:grpSp>
      <p:grpSp>
        <p:nvGrpSpPr>
          <p:cNvPr name="Group 21" id="21"/>
          <p:cNvGrpSpPr/>
          <p:nvPr/>
        </p:nvGrpSpPr>
        <p:grpSpPr>
          <a:xfrm rot="0">
            <a:off x="7696200" y="3838585"/>
            <a:ext cx="2895600" cy="6089466"/>
            <a:chOff x="0" y="0"/>
            <a:chExt cx="3860800" cy="8119288"/>
          </a:xfrm>
        </p:grpSpPr>
        <p:sp>
          <p:nvSpPr>
            <p:cNvPr name="Freeform 22" id="22"/>
            <p:cNvSpPr/>
            <p:nvPr/>
          </p:nvSpPr>
          <p:spPr>
            <a:xfrm flipH="false" flipV="false" rot="0">
              <a:off x="0" y="0"/>
              <a:ext cx="3860800" cy="8119237"/>
            </a:xfrm>
            <a:custGeom>
              <a:avLst/>
              <a:gdLst/>
              <a:ahLst/>
              <a:cxnLst/>
              <a:rect r="r" b="b" t="t" l="l"/>
              <a:pathLst>
                <a:path h="8119237" w="3860800">
                  <a:moveTo>
                    <a:pt x="0" y="0"/>
                  </a:moveTo>
                  <a:lnTo>
                    <a:pt x="3860800" y="0"/>
                  </a:lnTo>
                  <a:lnTo>
                    <a:pt x="3860800" y="8119237"/>
                  </a:lnTo>
                  <a:lnTo>
                    <a:pt x="0" y="8119237"/>
                  </a:lnTo>
                  <a:close/>
                </a:path>
              </a:pathLst>
            </a:custGeom>
            <a:solidFill>
              <a:srgbClr val="F7F1E6"/>
            </a:solidFill>
            <a:ln w="19050" cap="sq">
              <a:solidFill>
                <a:srgbClr val="DCCFBB"/>
              </a:solidFill>
              <a:prstDash val="solid"/>
              <a:miter/>
            </a:ln>
          </p:spPr>
        </p:sp>
        <p:sp>
          <p:nvSpPr>
            <p:cNvPr name="TextBox 23" id="23"/>
            <p:cNvSpPr txBox="true"/>
            <p:nvPr/>
          </p:nvSpPr>
          <p:spPr>
            <a:xfrm>
              <a:off x="0" y="-47625"/>
              <a:ext cx="3860800" cy="8166913"/>
            </a:xfrm>
            <a:prstGeom prst="rect">
              <a:avLst/>
            </a:prstGeom>
          </p:spPr>
          <p:txBody>
            <a:bodyPr anchor="t" rtlCol="false" tIns="50800" lIns="50800" bIns="50800" rIns="50800"/>
            <a:lstStyle/>
            <a:p>
              <a:pPr algn="l">
                <a:lnSpc>
                  <a:spcPts val="2550"/>
                </a:lnSpc>
              </a:pPr>
              <a:r>
                <a:rPr lang="en-US" sz="1800" spc="1">
                  <a:solidFill>
                    <a:srgbClr val="A3937F"/>
                  </a:solidFill>
                  <a:latin typeface="Tomorrow"/>
                  <a:ea typeface="Tomorrow"/>
                  <a:cs typeface="Tomorrow"/>
                  <a:sym typeface="Tomorrow"/>
                </a:rPr>
                <a:t>An AI powered platform that unifies demand, inventory, and supplier data to identify shortages and supply risks early.</a:t>
              </a:r>
            </a:p>
            <a:p>
              <a:pPr algn="l">
                <a:lnSpc>
                  <a:spcPts val="2550"/>
                </a:lnSpc>
              </a:pPr>
              <a:r>
                <a:rPr lang="en-US" sz="1800" spc="1">
                  <a:solidFill>
                    <a:srgbClr val="A3937F"/>
                  </a:solidFill>
                  <a:latin typeface="Tomorrow"/>
                  <a:ea typeface="Tomorrow"/>
                  <a:cs typeface="Tomorrow"/>
                  <a:sym typeface="Tomorrow"/>
                </a:rPr>
                <a:t>It provides explainable forecasts, alerts, and actionable recommendations to help planners make faster, smarter decisions.</a:t>
              </a:r>
            </a:p>
          </p:txBody>
        </p:sp>
      </p:grpSp>
      <p:grpSp>
        <p:nvGrpSpPr>
          <p:cNvPr name="Group 24" id="24"/>
          <p:cNvGrpSpPr/>
          <p:nvPr/>
        </p:nvGrpSpPr>
        <p:grpSpPr>
          <a:xfrm rot="0">
            <a:off x="10972800" y="3838585"/>
            <a:ext cx="2895600" cy="3474900"/>
            <a:chOff x="0" y="0"/>
            <a:chExt cx="3860800" cy="4633200"/>
          </a:xfrm>
        </p:grpSpPr>
        <p:sp>
          <p:nvSpPr>
            <p:cNvPr name="Freeform 25" id="25"/>
            <p:cNvSpPr/>
            <p:nvPr/>
          </p:nvSpPr>
          <p:spPr>
            <a:xfrm flipH="false" flipV="false" rot="0">
              <a:off x="0" y="0"/>
              <a:ext cx="3860800" cy="4633213"/>
            </a:xfrm>
            <a:custGeom>
              <a:avLst/>
              <a:gdLst/>
              <a:ahLst/>
              <a:cxnLst/>
              <a:rect r="r" b="b" t="t" l="l"/>
              <a:pathLst>
                <a:path h="4633213" w="3860800">
                  <a:moveTo>
                    <a:pt x="0" y="0"/>
                  </a:moveTo>
                  <a:lnTo>
                    <a:pt x="3860800" y="0"/>
                  </a:lnTo>
                  <a:lnTo>
                    <a:pt x="3860800" y="4633213"/>
                  </a:lnTo>
                  <a:lnTo>
                    <a:pt x="0" y="4633213"/>
                  </a:lnTo>
                  <a:close/>
                </a:path>
              </a:pathLst>
            </a:custGeom>
            <a:solidFill>
              <a:srgbClr val="F7F1E6"/>
            </a:solidFill>
            <a:ln w="19050" cap="sq">
              <a:solidFill>
                <a:srgbClr val="DCCFBB"/>
              </a:solidFill>
              <a:prstDash val="solid"/>
              <a:miter/>
            </a:ln>
          </p:spPr>
        </p:sp>
        <p:sp>
          <p:nvSpPr>
            <p:cNvPr name="TextBox 26" id="26"/>
            <p:cNvSpPr txBox="true"/>
            <p:nvPr/>
          </p:nvSpPr>
          <p:spPr>
            <a:xfrm>
              <a:off x="0" y="-76200"/>
              <a:ext cx="3860800" cy="4709400"/>
            </a:xfrm>
            <a:prstGeom prst="rect">
              <a:avLst/>
            </a:prstGeom>
          </p:spPr>
          <p:txBody>
            <a:bodyPr anchor="t" rtlCol="false" tIns="50800" lIns="50800" bIns="50800" rIns="50800"/>
            <a:lstStyle/>
            <a:p>
              <a:pPr algn="l">
                <a:lnSpc>
                  <a:spcPts val="2550"/>
                </a:lnSpc>
              </a:pPr>
              <a:r>
                <a:rPr lang="en-US" sz="1800">
                  <a:solidFill>
                    <a:srgbClr val="A3937F"/>
                  </a:solidFill>
                  <a:latin typeface="Calibri (MS)"/>
                  <a:ea typeface="Calibri (MS)"/>
                  <a:cs typeface="Calibri (MS)"/>
                  <a:sym typeface="Calibri (MS)"/>
                </a:rPr>
                <a:t>Unified supply-chain dashboard, AI demand &amp; inventory forecasting, risk &amp; shortage alerts, actionable AI recommendations, and explainable insights for every recommendation.</a:t>
              </a:r>
            </a:p>
          </p:txBody>
        </p:sp>
      </p:grpSp>
      <p:grpSp>
        <p:nvGrpSpPr>
          <p:cNvPr name="Group 27" id="27"/>
          <p:cNvGrpSpPr/>
          <p:nvPr/>
        </p:nvGrpSpPr>
        <p:grpSpPr>
          <a:xfrm rot="0">
            <a:off x="14249400" y="3838585"/>
            <a:ext cx="2895600" cy="5435822"/>
            <a:chOff x="0" y="0"/>
            <a:chExt cx="3860800" cy="7247763"/>
          </a:xfrm>
        </p:grpSpPr>
        <p:sp>
          <p:nvSpPr>
            <p:cNvPr name="Freeform 28" id="28"/>
            <p:cNvSpPr/>
            <p:nvPr/>
          </p:nvSpPr>
          <p:spPr>
            <a:xfrm flipH="false" flipV="false" rot="0">
              <a:off x="0" y="0"/>
              <a:ext cx="3860800" cy="7247763"/>
            </a:xfrm>
            <a:custGeom>
              <a:avLst/>
              <a:gdLst/>
              <a:ahLst/>
              <a:cxnLst/>
              <a:rect r="r" b="b" t="t" l="l"/>
              <a:pathLst>
                <a:path h="7247763" w="3860800">
                  <a:moveTo>
                    <a:pt x="0" y="0"/>
                  </a:moveTo>
                  <a:lnTo>
                    <a:pt x="3860800" y="0"/>
                  </a:lnTo>
                  <a:lnTo>
                    <a:pt x="3860800" y="7247763"/>
                  </a:lnTo>
                  <a:lnTo>
                    <a:pt x="0" y="7247763"/>
                  </a:lnTo>
                  <a:close/>
                </a:path>
              </a:pathLst>
            </a:custGeom>
            <a:solidFill>
              <a:srgbClr val="F7F1E6"/>
            </a:solidFill>
            <a:ln w="19050" cap="sq">
              <a:solidFill>
                <a:srgbClr val="DCCFBB"/>
              </a:solidFill>
              <a:prstDash val="solid"/>
              <a:miter/>
            </a:ln>
          </p:spPr>
        </p:sp>
        <p:sp>
          <p:nvSpPr>
            <p:cNvPr name="TextBox 29" id="29"/>
            <p:cNvSpPr txBox="true"/>
            <p:nvPr/>
          </p:nvSpPr>
          <p:spPr>
            <a:xfrm>
              <a:off x="0" y="-47625"/>
              <a:ext cx="3860800" cy="7295388"/>
            </a:xfrm>
            <a:prstGeom prst="rect">
              <a:avLst/>
            </a:prstGeom>
          </p:spPr>
          <p:txBody>
            <a:bodyPr anchor="t" rtlCol="false" tIns="50800" lIns="50800" bIns="50800" rIns="50800"/>
            <a:lstStyle/>
            <a:p>
              <a:pPr algn="l">
                <a:lnSpc>
                  <a:spcPts val="2550"/>
                </a:lnSpc>
              </a:pPr>
              <a:r>
                <a:rPr lang="en-US" sz="1800" spc="106">
                  <a:solidFill>
                    <a:srgbClr val="A3937F"/>
                  </a:solidFill>
                  <a:latin typeface="Tomorrow"/>
                  <a:ea typeface="Tomorrow"/>
                  <a:cs typeface="Tomorrow"/>
                  <a:sym typeface="Tomorrow"/>
                </a:rPr>
                <a:t>Advanced scenario planning, and supplier negotiation automation excluded to keep the MVP focused, faster to implement, and centered on decision support rather than execution.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1672590" cy="318773"/>
          </a:xfrm>
          <a:prstGeom prst="rect">
            <a:avLst/>
          </a:prstGeom>
        </p:spPr>
        <p:txBody>
          <a:bodyPr anchor="t" rtlCol="false" tIns="0" lIns="0" bIns="0" rIns="0">
            <a:spAutoFit/>
          </a:bodyPr>
          <a:lstStyle/>
          <a:p>
            <a:pPr algn="l">
              <a:lnSpc>
                <a:spcPts val="2160"/>
              </a:lnSpc>
            </a:pPr>
            <a:r>
              <a:rPr lang="en-US" sz="1800" spc="-277">
                <a:solidFill>
                  <a:srgbClr val="F0592B"/>
                </a:solidFill>
                <a:latin typeface="Arial"/>
                <a:ea typeface="Arial"/>
                <a:cs typeface="Arial"/>
                <a:sym typeface="Arial"/>
              </a:rPr>
              <a:t>S E C T I O N 1 0</a:t>
            </a:r>
          </a:p>
        </p:txBody>
      </p:sp>
      <p:grpSp>
        <p:nvGrpSpPr>
          <p:cNvPr name="Group 5" id="5"/>
          <p:cNvGrpSpPr/>
          <p:nvPr/>
        </p:nvGrpSpPr>
        <p:grpSpPr>
          <a:xfrm rot="0">
            <a:off x="14954250" y="74296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420492"/>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User journey</a:t>
            </a:r>
          </a:p>
          <a:p>
            <a:pPr algn="l">
              <a:lnSpc>
                <a:spcPts val="2520"/>
              </a:lnSpc>
            </a:pPr>
            <a:r>
              <a:rPr lang="en-US" sz="2100" spc="2">
                <a:solidFill>
                  <a:srgbClr val="7A6A5B"/>
                </a:solidFill>
                <a:latin typeface="Tomorrow"/>
                <a:ea typeface="Tomorrow"/>
                <a:cs typeface="Tomorrow"/>
                <a:sym typeface="Tomorrow"/>
              </a:rPr>
              <a:t>Four steps, ending in an outcome for the user.</a:t>
            </a:r>
          </a:p>
        </p:txBody>
      </p:sp>
      <p:grpSp>
        <p:nvGrpSpPr>
          <p:cNvPr name="Group 8" id="8"/>
          <p:cNvGrpSpPr/>
          <p:nvPr/>
        </p:nvGrpSpPr>
        <p:grpSpPr>
          <a:xfrm rot="0">
            <a:off x="1143000" y="310516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46447"/>
            <a:ext cx="700088" cy="318773"/>
          </a:xfrm>
          <a:prstGeom prst="rect">
            <a:avLst/>
          </a:prstGeom>
        </p:spPr>
        <p:txBody>
          <a:bodyPr anchor="t" rtlCol="false" tIns="0" lIns="0" bIns="0" rIns="0">
            <a:spAutoFit/>
          </a:bodyPr>
          <a:lstStyle/>
          <a:p>
            <a:pPr algn="l">
              <a:lnSpc>
                <a:spcPts val="2160"/>
              </a:lnSpc>
            </a:pPr>
            <a:r>
              <a:rPr lang="en-US" sz="1800" spc="-112">
                <a:solidFill>
                  <a:srgbClr val="F0592B"/>
                </a:solidFill>
                <a:latin typeface="Arial"/>
                <a:ea typeface="Arial"/>
                <a:cs typeface="Arial"/>
                <a:sym typeface="Arial"/>
              </a:rPr>
              <a:t>Step 1</a:t>
            </a:r>
          </a:p>
        </p:txBody>
      </p:sp>
      <p:sp>
        <p:nvSpPr>
          <p:cNvPr name="TextBox 11" id="11"/>
          <p:cNvSpPr txBox="true"/>
          <p:nvPr/>
        </p:nvSpPr>
        <p:spPr>
          <a:xfrm rot="0">
            <a:off x="4408141" y="3346447"/>
            <a:ext cx="747712" cy="318773"/>
          </a:xfrm>
          <a:prstGeom prst="rect">
            <a:avLst/>
          </a:prstGeom>
        </p:spPr>
        <p:txBody>
          <a:bodyPr anchor="t" rtlCol="false" tIns="0" lIns="0" bIns="0" rIns="0">
            <a:spAutoFit/>
          </a:bodyPr>
          <a:lstStyle/>
          <a:p>
            <a:pPr algn="l">
              <a:lnSpc>
                <a:spcPts val="2160"/>
              </a:lnSpc>
            </a:pPr>
            <a:r>
              <a:rPr lang="en-US" sz="1800" spc="-112">
                <a:solidFill>
                  <a:srgbClr val="F0592B"/>
                </a:solidFill>
                <a:latin typeface="Arial"/>
                <a:ea typeface="Arial"/>
                <a:cs typeface="Arial"/>
                <a:sym typeface="Arial"/>
              </a:rPr>
              <a:t>Step 2</a:t>
            </a:r>
          </a:p>
        </p:txBody>
      </p:sp>
      <p:sp>
        <p:nvSpPr>
          <p:cNvPr name="TextBox 12" id="12"/>
          <p:cNvSpPr txBox="true"/>
          <p:nvPr/>
        </p:nvSpPr>
        <p:spPr>
          <a:xfrm rot="0">
            <a:off x="7692333" y="3346447"/>
            <a:ext cx="753428" cy="318773"/>
          </a:xfrm>
          <a:prstGeom prst="rect">
            <a:avLst/>
          </a:prstGeom>
        </p:spPr>
        <p:txBody>
          <a:bodyPr anchor="t" rtlCol="false" tIns="0" lIns="0" bIns="0" rIns="0">
            <a:spAutoFit/>
          </a:bodyPr>
          <a:lstStyle/>
          <a:p>
            <a:pPr algn="l">
              <a:lnSpc>
                <a:spcPts val="2160"/>
              </a:lnSpc>
            </a:pPr>
            <a:r>
              <a:rPr lang="en-US" sz="1800" spc="-112">
                <a:solidFill>
                  <a:srgbClr val="F0592B"/>
                </a:solidFill>
                <a:latin typeface="Arial"/>
                <a:ea typeface="Arial"/>
                <a:cs typeface="Arial"/>
                <a:sym typeface="Arial"/>
              </a:rPr>
              <a:t>Step 3</a:t>
            </a:r>
          </a:p>
        </p:txBody>
      </p:sp>
      <p:sp>
        <p:nvSpPr>
          <p:cNvPr name="TextBox 13" id="13"/>
          <p:cNvSpPr txBox="true"/>
          <p:nvPr/>
        </p:nvSpPr>
        <p:spPr>
          <a:xfrm rot="0">
            <a:off x="10976524" y="3346447"/>
            <a:ext cx="767715" cy="318773"/>
          </a:xfrm>
          <a:prstGeom prst="rect">
            <a:avLst/>
          </a:prstGeom>
        </p:spPr>
        <p:txBody>
          <a:bodyPr anchor="t" rtlCol="false" tIns="0" lIns="0" bIns="0" rIns="0">
            <a:spAutoFit/>
          </a:bodyPr>
          <a:lstStyle/>
          <a:p>
            <a:pPr algn="l">
              <a:lnSpc>
                <a:spcPts val="2160"/>
              </a:lnSpc>
            </a:pPr>
            <a:r>
              <a:rPr lang="en-US" sz="1800" spc="-112">
                <a:solidFill>
                  <a:srgbClr val="F0592B"/>
                </a:solidFill>
                <a:latin typeface="Arial"/>
                <a:ea typeface="Arial"/>
                <a:cs typeface="Arial"/>
                <a:sym typeface="Arial"/>
              </a:rPr>
              <a:t>Step 4</a:t>
            </a:r>
          </a:p>
        </p:txBody>
      </p:sp>
      <p:sp>
        <p:nvSpPr>
          <p:cNvPr name="TextBox 14" id="14"/>
          <p:cNvSpPr txBox="true"/>
          <p:nvPr/>
        </p:nvSpPr>
        <p:spPr>
          <a:xfrm rot="0">
            <a:off x="14260716" y="3346447"/>
            <a:ext cx="1131570" cy="318773"/>
          </a:xfrm>
          <a:prstGeom prst="rect">
            <a:avLst/>
          </a:prstGeom>
        </p:spPr>
        <p:txBody>
          <a:bodyPr anchor="t" rtlCol="false" tIns="0" lIns="0" bIns="0" rIns="0">
            <a:spAutoFit/>
          </a:bodyPr>
          <a:lstStyle/>
          <a:p>
            <a:pPr algn="l">
              <a:lnSpc>
                <a:spcPts val="2160"/>
              </a:lnSpc>
            </a:pPr>
            <a:r>
              <a:rPr lang="en-US" sz="1800" spc="-44">
                <a:solidFill>
                  <a:srgbClr val="F0592B"/>
                </a:solidFill>
                <a:latin typeface="Arial"/>
                <a:ea typeface="Arial"/>
                <a:cs typeface="Arial"/>
                <a:sym typeface="Arial"/>
              </a:rPr>
              <a:t>Outcome</a:t>
            </a:r>
          </a:p>
        </p:txBody>
      </p:sp>
      <p:grpSp>
        <p:nvGrpSpPr>
          <p:cNvPr name="Group 15" id="15"/>
          <p:cNvGrpSpPr/>
          <p:nvPr/>
        </p:nvGrpSpPr>
        <p:grpSpPr>
          <a:xfrm rot="0">
            <a:off x="1143000" y="3838585"/>
            <a:ext cx="2867025" cy="3474901"/>
            <a:chOff x="0" y="0"/>
            <a:chExt cx="3822700" cy="4633201"/>
          </a:xfrm>
        </p:grpSpPr>
        <p:sp>
          <p:nvSpPr>
            <p:cNvPr name="Freeform 16" id="16"/>
            <p:cNvSpPr/>
            <p:nvPr/>
          </p:nvSpPr>
          <p:spPr>
            <a:xfrm flipH="false" flipV="false" rot="0">
              <a:off x="0" y="0"/>
              <a:ext cx="3822700" cy="4633214"/>
            </a:xfrm>
            <a:custGeom>
              <a:avLst/>
              <a:gdLst/>
              <a:ahLst/>
              <a:cxnLst/>
              <a:rect r="r" b="b" t="t" l="l"/>
              <a:pathLst>
                <a:path h="4633214" w="3822700">
                  <a:moveTo>
                    <a:pt x="0" y="0"/>
                  </a:moveTo>
                  <a:lnTo>
                    <a:pt x="3822700" y="0"/>
                  </a:lnTo>
                  <a:lnTo>
                    <a:pt x="3822700" y="4633214"/>
                  </a:lnTo>
                  <a:lnTo>
                    <a:pt x="0" y="4633214"/>
                  </a:lnTo>
                  <a:close/>
                </a:path>
              </a:pathLst>
            </a:custGeom>
            <a:solidFill>
              <a:srgbClr val="F7F1E6"/>
            </a:solidFill>
            <a:ln w="19050" cap="sq">
              <a:solidFill>
                <a:srgbClr val="DCCFBB"/>
              </a:solidFill>
              <a:prstDash val="solid"/>
              <a:miter/>
            </a:ln>
          </p:spPr>
        </p:sp>
        <p:sp>
          <p:nvSpPr>
            <p:cNvPr name="TextBox 17" id="17"/>
            <p:cNvSpPr txBox="true"/>
            <p:nvPr/>
          </p:nvSpPr>
          <p:spPr>
            <a:xfrm>
              <a:off x="0" y="-47625"/>
              <a:ext cx="3822700" cy="4680826"/>
            </a:xfrm>
            <a:prstGeom prst="rect">
              <a:avLst/>
            </a:prstGeom>
          </p:spPr>
          <p:txBody>
            <a:bodyPr anchor="t" rtlCol="false" tIns="50800" lIns="50800" bIns="50800" rIns="50800"/>
            <a:lstStyle/>
            <a:p>
              <a:pPr algn="l">
                <a:lnSpc>
                  <a:spcPts val="2550"/>
                </a:lnSpc>
              </a:pPr>
              <a:r>
                <a:rPr lang="en-US" b="true" sz="1800" spc="106">
                  <a:solidFill>
                    <a:srgbClr val="A3937F"/>
                  </a:solidFill>
                  <a:latin typeface="Tomorrow Bold"/>
                  <a:ea typeface="Tomorrow Bold"/>
                  <a:cs typeface="Tomorrow Bold"/>
                  <a:sym typeface="Tomorrow Bold"/>
                </a:rPr>
                <a:t>Connect &amp; View</a:t>
              </a:r>
              <a:r>
                <a:rPr lang="en-US" sz="1800" spc="106">
                  <a:solidFill>
                    <a:srgbClr val="A3937F"/>
                  </a:solidFill>
                  <a:latin typeface="Tomorrow"/>
                  <a:ea typeface="Tomorrow"/>
                  <a:cs typeface="Tomorrow"/>
                  <a:sym typeface="Tomorrow"/>
                </a:rPr>
                <a:t> </a:t>
              </a:r>
              <a:r>
                <a:rPr lang="en-US" b="true" sz="1800" spc="106">
                  <a:solidFill>
                    <a:srgbClr val="A3937F"/>
                  </a:solidFill>
                  <a:latin typeface="Tomorrow Bold"/>
                  <a:ea typeface="Tomorrow Bold"/>
                  <a:cs typeface="Tomorrow Bold"/>
                  <a:sym typeface="Tomorrow Bold"/>
                </a:rPr>
                <a:t>Data</a:t>
              </a:r>
              <a:r>
                <a:rPr lang="en-US" sz="1800" spc="106">
                  <a:solidFill>
                    <a:srgbClr val="A3937F"/>
                  </a:solidFill>
                  <a:latin typeface="Tomorrow"/>
                  <a:ea typeface="Tomorrow"/>
                  <a:cs typeface="Tomorrow"/>
                  <a:sym typeface="Tomorrow"/>
                </a:rPr>
                <a:t> : The supply chain planner logs in and views consolidated demand, inventory, supply, and supplier data on the dashboard.</a:t>
              </a:r>
            </a:p>
          </p:txBody>
        </p:sp>
      </p:grpSp>
      <p:grpSp>
        <p:nvGrpSpPr>
          <p:cNvPr name="Group 18" id="18"/>
          <p:cNvGrpSpPr/>
          <p:nvPr/>
        </p:nvGrpSpPr>
        <p:grpSpPr>
          <a:xfrm rot="0">
            <a:off x="4000500" y="4686300"/>
            <a:ext cx="268557" cy="144656"/>
            <a:chOff x="0" y="0"/>
            <a:chExt cx="358076" cy="192875"/>
          </a:xfrm>
        </p:grpSpPr>
        <p:sp>
          <p:nvSpPr>
            <p:cNvPr name="Freeform 19" id="19"/>
            <p:cNvSpPr/>
            <p:nvPr/>
          </p:nvSpPr>
          <p:spPr>
            <a:xfrm flipH="false" flipV="false" rot="0">
              <a:off x="0" y="0"/>
              <a:ext cx="358140" cy="192913"/>
            </a:xfrm>
            <a:custGeom>
              <a:avLst/>
              <a:gdLst/>
              <a:ahLst/>
              <a:cxnLst/>
              <a:rect r="r" b="b" t="t" l="l"/>
              <a:pathLst>
                <a:path h="192913" w="358140">
                  <a:moveTo>
                    <a:pt x="0" y="0"/>
                  </a:moveTo>
                  <a:lnTo>
                    <a:pt x="358140" y="0"/>
                  </a:lnTo>
                  <a:lnTo>
                    <a:pt x="358140" y="192913"/>
                  </a:lnTo>
                  <a:lnTo>
                    <a:pt x="0" y="192913"/>
                  </a:lnTo>
                  <a:lnTo>
                    <a:pt x="0" y="0"/>
                  </a:lnTo>
                  <a:close/>
                </a:path>
              </a:pathLst>
            </a:custGeom>
            <a:blipFill>
              <a:blip r:embed="rId3"/>
              <a:stretch>
                <a:fillRect l="0" t="-177" r="17" b="-158"/>
              </a:stretch>
            </a:blipFill>
          </p:spPr>
        </p:sp>
      </p:grpSp>
      <p:grpSp>
        <p:nvGrpSpPr>
          <p:cNvPr name="Group 20" id="20"/>
          <p:cNvGrpSpPr/>
          <p:nvPr/>
        </p:nvGrpSpPr>
        <p:grpSpPr>
          <a:xfrm rot="0">
            <a:off x="4429125" y="3838585"/>
            <a:ext cx="2867025" cy="2485111"/>
            <a:chOff x="0" y="0"/>
            <a:chExt cx="3822700" cy="3313481"/>
          </a:xfrm>
        </p:grpSpPr>
        <p:sp>
          <p:nvSpPr>
            <p:cNvPr name="Freeform 21" id="21"/>
            <p:cNvSpPr/>
            <p:nvPr/>
          </p:nvSpPr>
          <p:spPr>
            <a:xfrm flipH="false" flipV="false" rot="0">
              <a:off x="0" y="0"/>
              <a:ext cx="3822700" cy="3313430"/>
            </a:xfrm>
            <a:custGeom>
              <a:avLst/>
              <a:gdLst/>
              <a:ahLst/>
              <a:cxnLst/>
              <a:rect r="r" b="b" t="t" l="l"/>
              <a:pathLst>
                <a:path h="3313430" w="3822700">
                  <a:moveTo>
                    <a:pt x="0" y="0"/>
                  </a:moveTo>
                  <a:lnTo>
                    <a:pt x="3822700" y="0"/>
                  </a:lnTo>
                  <a:lnTo>
                    <a:pt x="3822700" y="3313430"/>
                  </a:lnTo>
                  <a:lnTo>
                    <a:pt x="0" y="3313430"/>
                  </a:lnTo>
                  <a:close/>
                </a:path>
              </a:pathLst>
            </a:custGeom>
            <a:solidFill>
              <a:srgbClr val="F7F1E6"/>
            </a:solidFill>
            <a:ln w="19050" cap="sq">
              <a:solidFill>
                <a:srgbClr val="DCCFBB"/>
              </a:solidFill>
              <a:prstDash val="solid"/>
              <a:miter/>
            </a:ln>
          </p:spPr>
        </p:sp>
        <p:sp>
          <p:nvSpPr>
            <p:cNvPr name="TextBox 22" id="22"/>
            <p:cNvSpPr txBox="true"/>
            <p:nvPr/>
          </p:nvSpPr>
          <p:spPr>
            <a:xfrm>
              <a:off x="0" y="-9525"/>
              <a:ext cx="3822700" cy="3323006"/>
            </a:xfrm>
            <a:prstGeom prst="rect">
              <a:avLst/>
            </a:prstGeom>
          </p:spPr>
          <p:txBody>
            <a:bodyPr anchor="t" rtlCol="false" tIns="50800" lIns="50800" bIns="50800" rIns="50800"/>
            <a:lstStyle/>
            <a:p>
              <a:pPr algn="l">
                <a:lnSpc>
                  <a:spcPts val="2160"/>
                </a:lnSpc>
              </a:pPr>
              <a:r>
                <a:rPr lang="en-US" b="true" sz="1800" spc="106">
                  <a:solidFill>
                    <a:srgbClr val="A3937F"/>
                  </a:solidFill>
                  <a:latin typeface="Tomorrow Bold"/>
                  <a:ea typeface="Tomorrow Bold"/>
                  <a:cs typeface="Tomorrow Bold"/>
                  <a:sym typeface="Tomorrow Bold"/>
                </a:rPr>
                <a:t>Analyze &amp; Detect</a:t>
              </a:r>
              <a:r>
                <a:rPr lang="en-US" sz="1800" spc="106">
                  <a:solidFill>
                    <a:srgbClr val="A3937F"/>
                  </a:solidFill>
                  <a:latin typeface="Tomorrow"/>
                  <a:ea typeface="Tomorrow"/>
                  <a:cs typeface="Tomorrow"/>
                  <a:sym typeface="Tomorrow"/>
                </a:rPr>
                <a:t> </a:t>
              </a:r>
              <a:r>
                <a:rPr lang="en-US" b="true" sz="1800" spc="106">
                  <a:solidFill>
                    <a:srgbClr val="A3937F"/>
                  </a:solidFill>
                  <a:latin typeface="Tomorrow Bold"/>
                  <a:ea typeface="Tomorrow Bold"/>
                  <a:cs typeface="Tomorrow Bold"/>
                  <a:sym typeface="Tomorrow Bold"/>
                </a:rPr>
                <a:t>Risks</a:t>
              </a:r>
              <a:r>
                <a:rPr lang="en-US" sz="1800" spc="106">
                  <a:solidFill>
                    <a:srgbClr val="A3937F"/>
                  </a:solidFill>
                  <a:latin typeface="Tomorrow"/>
                  <a:ea typeface="Tomorrow"/>
                  <a:cs typeface="Tomorrow"/>
                  <a:sym typeface="Tomorrow"/>
                </a:rPr>
                <a:t>: The platform analyzes the data and identifies demand changes, inventory gaps, potential shortages, and supplier risks.</a:t>
              </a:r>
            </a:p>
          </p:txBody>
        </p:sp>
      </p:grpSp>
      <p:grpSp>
        <p:nvGrpSpPr>
          <p:cNvPr name="Group 23" id="23"/>
          <p:cNvGrpSpPr/>
          <p:nvPr/>
        </p:nvGrpSpPr>
        <p:grpSpPr>
          <a:xfrm rot="0">
            <a:off x="7429500" y="4800600"/>
            <a:ext cx="268557" cy="144656"/>
            <a:chOff x="0" y="0"/>
            <a:chExt cx="358076" cy="192875"/>
          </a:xfrm>
        </p:grpSpPr>
        <p:sp>
          <p:nvSpPr>
            <p:cNvPr name="Freeform 24" id="24"/>
            <p:cNvSpPr/>
            <p:nvPr/>
          </p:nvSpPr>
          <p:spPr>
            <a:xfrm flipH="false" flipV="false" rot="0">
              <a:off x="0" y="0"/>
              <a:ext cx="358140" cy="192913"/>
            </a:xfrm>
            <a:custGeom>
              <a:avLst/>
              <a:gdLst/>
              <a:ahLst/>
              <a:cxnLst/>
              <a:rect r="r" b="b" t="t" l="l"/>
              <a:pathLst>
                <a:path h="192913" w="358140">
                  <a:moveTo>
                    <a:pt x="0" y="0"/>
                  </a:moveTo>
                  <a:lnTo>
                    <a:pt x="358140" y="0"/>
                  </a:lnTo>
                  <a:lnTo>
                    <a:pt x="358140" y="192913"/>
                  </a:lnTo>
                  <a:lnTo>
                    <a:pt x="0" y="192913"/>
                  </a:lnTo>
                  <a:lnTo>
                    <a:pt x="0" y="0"/>
                  </a:lnTo>
                  <a:close/>
                </a:path>
              </a:pathLst>
            </a:custGeom>
            <a:blipFill>
              <a:blip r:embed="rId3"/>
              <a:stretch>
                <a:fillRect l="0" t="-177" r="17" b="-158"/>
              </a:stretch>
            </a:blipFill>
          </p:spPr>
        </p:sp>
      </p:grpSp>
      <p:grpSp>
        <p:nvGrpSpPr>
          <p:cNvPr name="Group 25" id="25"/>
          <p:cNvGrpSpPr/>
          <p:nvPr/>
        </p:nvGrpSpPr>
        <p:grpSpPr>
          <a:xfrm rot="0">
            <a:off x="7715250" y="3838585"/>
            <a:ext cx="2857500" cy="2208114"/>
            <a:chOff x="0" y="0"/>
            <a:chExt cx="3810000" cy="2944152"/>
          </a:xfrm>
        </p:grpSpPr>
        <p:sp>
          <p:nvSpPr>
            <p:cNvPr name="Freeform 26" id="26"/>
            <p:cNvSpPr/>
            <p:nvPr/>
          </p:nvSpPr>
          <p:spPr>
            <a:xfrm flipH="false" flipV="false" rot="0">
              <a:off x="0" y="0"/>
              <a:ext cx="3810000" cy="2944114"/>
            </a:xfrm>
            <a:custGeom>
              <a:avLst/>
              <a:gdLst/>
              <a:ahLst/>
              <a:cxnLst/>
              <a:rect r="r" b="b" t="t" l="l"/>
              <a:pathLst>
                <a:path h="2944114" w="3810000">
                  <a:moveTo>
                    <a:pt x="0" y="0"/>
                  </a:moveTo>
                  <a:lnTo>
                    <a:pt x="3810000" y="0"/>
                  </a:lnTo>
                  <a:lnTo>
                    <a:pt x="3810000" y="2944114"/>
                  </a:lnTo>
                  <a:lnTo>
                    <a:pt x="0" y="2944114"/>
                  </a:lnTo>
                  <a:close/>
                </a:path>
              </a:pathLst>
            </a:custGeom>
            <a:solidFill>
              <a:srgbClr val="F7F1E6"/>
            </a:solidFill>
            <a:ln w="19050" cap="sq">
              <a:solidFill>
                <a:srgbClr val="DCCFBB"/>
              </a:solidFill>
              <a:prstDash val="solid"/>
              <a:miter/>
            </a:ln>
          </p:spPr>
        </p:sp>
        <p:sp>
          <p:nvSpPr>
            <p:cNvPr name="TextBox 27" id="27"/>
            <p:cNvSpPr txBox="true"/>
            <p:nvPr/>
          </p:nvSpPr>
          <p:spPr>
            <a:xfrm>
              <a:off x="0" y="-9525"/>
              <a:ext cx="3810000" cy="2953677"/>
            </a:xfrm>
            <a:prstGeom prst="rect">
              <a:avLst/>
            </a:prstGeom>
          </p:spPr>
          <p:txBody>
            <a:bodyPr anchor="t" rtlCol="false" tIns="50800" lIns="50800" bIns="50800" rIns="50800"/>
            <a:lstStyle/>
            <a:p>
              <a:pPr algn="l">
                <a:lnSpc>
                  <a:spcPts val="2160"/>
                </a:lnSpc>
              </a:pPr>
              <a:r>
                <a:rPr lang="en-US" b="true" sz="1800" spc="1">
                  <a:solidFill>
                    <a:srgbClr val="A3937F"/>
                  </a:solidFill>
                  <a:latin typeface="Tomorrow Bold"/>
                  <a:ea typeface="Tomorrow Bold"/>
                  <a:cs typeface="Tomorrow Bold"/>
                  <a:sym typeface="Tomorrow Bold"/>
                </a:rPr>
                <a:t>Review &amp; Act</a:t>
              </a:r>
              <a:r>
                <a:rPr lang="en-US" sz="1800" spc="1">
                  <a:solidFill>
                    <a:srgbClr val="A3937F"/>
                  </a:solidFill>
                  <a:latin typeface="Tomorrow"/>
                  <a:ea typeface="Tomorrow"/>
                  <a:cs typeface="Tomorrow"/>
                  <a:sym typeface="Tomorrow"/>
                </a:rPr>
                <a:t> : The planner reviews the AI generated insights and recommendations, then takes the appropriate inventory or procurement action.</a:t>
              </a:r>
            </a:p>
          </p:txBody>
        </p:sp>
      </p:grpSp>
      <p:grpSp>
        <p:nvGrpSpPr>
          <p:cNvPr name="Group 28" id="28"/>
          <p:cNvGrpSpPr/>
          <p:nvPr/>
        </p:nvGrpSpPr>
        <p:grpSpPr>
          <a:xfrm rot="0">
            <a:off x="10629900" y="4800600"/>
            <a:ext cx="268557" cy="144656"/>
            <a:chOff x="0" y="0"/>
            <a:chExt cx="358076" cy="192875"/>
          </a:xfrm>
        </p:grpSpPr>
        <p:sp>
          <p:nvSpPr>
            <p:cNvPr name="Freeform 29" id="29"/>
            <p:cNvSpPr/>
            <p:nvPr/>
          </p:nvSpPr>
          <p:spPr>
            <a:xfrm flipH="false" flipV="false" rot="0">
              <a:off x="0" y="0"/>
              <a:ext cx="358140" cy="192913"/>
            </a:xfrm>
            <a:custGeom>
              <a:avLst/>
              <a:gdLst/>
              <a:ahLst/>
              <a:cxnLst/>
              <a:rect r="r" b="b" t="t" l="l"/>
              <a:pathLst>
                <a:path h="192913" w="358140">
                  <a:moveTo>
                    <a:pt x="0" y="0"/>
                  </a:moveTo>
                  <a:lnTo>
                    <a:pt x="358140" y="0"/>
                  </a:lnTo>
                  <a:lnTo>
                    <a:pt x="358140" y="192913"/>
                  </a:lnTo>
                  <a:lnTo>
                    <a:pt x="0" y="192913"/>
                  </a:lnTo>
                  <a:lnTo>
                    <a:pt x="0" y="0"/>
                  </a:lnTo>
                  <a:close/>
                </a:path>
              </a:pathLst>
            </a:custGeom>
            <a:blipFill>
              <a:blip r:embed="rId4"/>
              <a:stretch>
                <a:fillRect l="-1170" t="0" r="-1156" b="19"/>
              </a:stretch>
            </a:blipFill>
          </p:spPr>
        </p:sp>
      </p:grpSp>
      <p:grpSp>
        <p:nvGrpSpPr>
          <p:cNvPr name="Group 30" id="30"/>
          <p:cNvGrpSpPr/>
          <p:nvPr/>
        </p:nvGrpSpPr>
        <p:grpSpPr>
          <a:xfrm rot="0">
            <a:off x="10991850" y="3838585"/>
            <a:ext cx="2867025" cy="3474901"/>
            <a:chOff x="0" y="0"/>
            <a:chExt cx="3822700" cy="4633201"/>
          </a:xfrm>
        </p:grpSpPr>
        <p:sp>
          <p:nvSpPr>
            <p:cNvPr name="Freeform 31" id="31"/>
            <p:cNvSpPr/>
            <p:nvPr/>
          </p:nvSpPr>
          <p:spPr>
            <a:xfrm flipH="false" flipV="false" rot="0">
              <a:off x="0" y="0"/>
              <a:ext cx="3822700" cy="4633214"/>
            </a:xfrm>
            <a:custGeom>
              <a:avLst/>
              <a:gdLst/>
              <a:ahLst/>
              <a:cxnLst/>
              <a:rect r="r" b="b" t="t" l="l"/>
              <a:pathLst>
                <a:path h="4633214" w="3822700">
                  <a:moveTo>
                    <a:pt x="0" y="0"/>
                  </a:moveTo>
                  <a:lnTo>
                    <a:pt x="3822700" y="0"/>
                  </a:lnTo>
                  <a:lnTo>
                    <a:pt x="3822700" y="4633214"/>
                  </a:lnTo>
                  <a:lnTo>
                    <a:pt x="0" y="4633214"/>
                  </a:lnTo>
                  <a:close/>
                </a:path>
              </a:pathLst>
            </a:custGeom>
            <a:solidFill>
              <a:srgbClr val="F7F1E6"/>
            </a:solidFill>
            <a:ln w="19050" cap="sq">
              <a:solidFill>
                <a:srgbClr val="DCCFBB"/>
              </a:solidFill>
              <a:prstDash val="solid"/>
              <a:miter/>
            </a:ln>
          </p:spPr>
        </p:sp>
        <p:sp>
          <p:nvSpPr>
            <p:cNvPr name="TextBox 32" id="32"/>
            <p:cNvSpPr txBox="true"/>
            <p:nvPr/>
          </p:nvSpPr>
          <p:spPr>
            <a:xfrm>
              <a:off x="0" y="-47625"/>
              <a:ext cx="3822700" cy="4680826"/>
            </a:xfrm>
            <a:prstGeom prst="rect">
              <a:avLst/>
            </a:prstGeom>
          </p:spPr>
          <p:txBody>
            <a:bodyPr anchor="t" rtlCol="false" tIns="50800" lIns="50800" bIns="50800" rIns="50800"/>
            <a:lstStyle/>
            <a:p>
              <a:pPr algn="l">
                <a:lnSpc>
                  <a:spcPts val="2550"/>
                </a:lnSpc>
              </a:pPr>
              <a:r>
                <a:rPr lang="en-US" b="true" sz="1800" spc="1">
                  <a:solidFill>
                    <a:srgbClr val="A3937F"/>
                  </a:solidFill>
                  <a:latin typeface="Tomorrow Bold"/>
                  <a:ea typeface="Tomorrow Bold"/>
                  <a:cs typeface="Tomorrow Bold"/>
                  <a:sym typeface="Tomorrow Bold"/>
                </a:rPr>
                <a:t>Monitor &amp; Improve</a:t>
              </a:r>
              <a:r>
                <a:rPr lang="en-US" sz="1800" spc="1">
                  <a:solidFill>
                    <a:srgbClr val="A3937F"/>
                  </a:solidFill>
                  <a:latin typeface="Tomorrow"/>
                  <a:ea typeface="Tomorrow"/>
                  <a:cs typeface="Tomorrow"/>
                  <a:sym typeface="Tomorrow"/>
                </a:rPr>
                <a:t>: The planner monitors the outcome of the action and uses the updated insights to continuously improve inventory and supply decisions.</a:t>
              </a:r>
            </a:p>
          </p:txBody>
        </p:sp>
      </p:grpSp>
      <p:grpSp>
        <p:nvGrpSpPr>
          <p:cNvPr name="Group 33" id="33"/>
          <p:cNvGrpSpPr/>
          <p:nvPr/>
        </p:nvGrpSpPr>
        <p:grpSpPr>
          <a:xfrm rot="0">
            <a:off x="13830300" y="4686300"/>
            <a:ext cx="268557" cy="144656"/>
            <a:chOff x="0" y="0"/>
            <a:chExt cx="358076" cy="192875"/>
          </a:xfrm>
        </p:grpSpPr>
        <p:sp>
          <p:nvSpPr>
            <p:cNvPr name="Freeform 34" id="34"/>
            <p:cNvSpPr/>
            <p:nvPr/>
          </p:nvSpPr>
          <p:spPr>
            <a:xfrm flipH="false" flipV="false" rot="0">
              <a:off x="0" y="0"/>
              <a:ext cx="358140" cy="192913"/>
            </a:xfrm>
            <a:custGeom>
              <a:avLst/>
              <a:gdLst/>
              <a:ahLst/>
              <a:cxnLst/>
              <a:rect r="r" b="b" t="t" l="l"/>
              <a:pathLst>
                <a:path h="192913" w="358140">
                  <a:moveTo>
                    <a:pt x="0" y="0"/>
                  </a:moveTo>
                  <a:lnTo>
                    <a:pt x="358140" y="0"/>
                  </a:lnTo>
                  <a:lnTo>
                    <a:pt x="358140" y="192913"/>
                  </a:lnTo>
                  <a:lnTo>
                    <a:pt x="0" y="192913"/>
                  </a:lnTo>
                  <a:lnTo>
                    <a:pt x="0" y="0"/>
                  </a:lnTo>
                  <a:close/>
                </a:path>
              </a:pathLst>
            </a:custGeom>
            <a:blipFill>
              <a:blip r:embed="rId4"/>
              <a:stretch>
                <a:fillRect l="-1170" t="0" r="-1156" b="19"/>
              </a:stretch>
            </a:blipFill>
          </p:spPr>
        </p:sp>
      </p:grpSp>
      <p:grpSp>
        <p:nvGrpSpPr>
          <p:cNvPr name="Group 35" id="35"/>
          <p:cNvGrpSpPr/>
          <p:nvPr/>
        </p:nvGrpSpPr>
        <p:grpSpPr>
          <a:xfrm rot="0">
            <a:off x="14277975" y="3838575"/>
            <a:ext cx="2867025" cy="1404042"/>
            <a:chOff x="0" y="0"/>
            <a:chExt cx="3822700" cy="1872056"/>
          </a:xfrm>
        </p:grpSpPr>
        <p:sp>
          <p:nvSpPr>
            <p:cNvPr name="Freeform 36" id="36"/>
            <p:cNvSpPr/>
            <p:nvPr/>
          </p:nvSpPr>
          <p:spPr>
            <a:xfrm flipH="false" flipV="false" rot="0">
              <a:off x="0" y="0"/>
              <a:ext cx="3822700" cy="1872107"/>
            </a:xfrm>
            <a:custGeom>
              <a:avLst/>
              <a:gdLst/>
              <a:ahLst/>
              <a:cxnLst/>
              <a:rect r="r" b="b" t="t" l="l"/>
              <a:pathLst>
                <a:path h="1872107" w="3822700">
                  <a:moveTo>
                    <a:pt x="0" y="0"/>
                  </a:moveTo>
                  <a:lnTo>
                    <a:pt x="3822700" y="0"/>
                  </a:lnTo>
                  <a:lnTo>
                    <a:pt x="3822700" y="1872107"/>
                  </a:lnTo>
                  <a:lnTo>
                    <a:pt x="0" y="1872107"/>
                  </a:lnTo>
                  <a:close/>
                </a:path>
              </a:pathLst>
            </a:custGeom>
            <a:solidFill>
              <a:srgbClr val="FDF0E8"/>
            </a:solidFill>
            <a:ln w="19050" cap="sq">
              <a:solidFill>
                <a:srgbClr val="F0592B"/>
              </a:solidFill>
              <a:prstDash val="solid"/>
              <a:miter/>
            </a:ln>
          </p:spPr>
        </p:sp>
        <p:sp>
          <p:nvSpPr>
            <p:cNvPr name="TextBox 37" id="37"/>
            <p:cNvSpPr txBox="true"/>
            <p:nvPr/>
          </p:nvSpPr>
          <p:spPr>
            <a:xfrm>
              <a:off x="0" y="-19050"/>
              <a:ext cx="3822700" cy="1891106"/>
            </a:xfrm>
            <a:prstGeom prst="rect">
              <a:avLst/>
            </a:prstGeom>
          </p:spPr>
          <p:txBody>
            <a:bodyPr anchor="t" rtlCol="false" tIns="50800" lIns="50800" bIns="50800" rIns="50800"/>
            <a:lstStyle/>
            <a:p>
              <a:pPr algn="l">
                <a:lnSpc>
                  <a:spcPts val="2160"/>
                </a:lnSpc>
              </a:pPr>
              <a:r>
                <a:rPr lang="en-US" sz="1800">
                  <a:solidFill>
                    <a:srgbClr val="000000"/>
                  </a:solidFill>
                  <a:latin typeface="Times New Roman"/>
                  <a:ea typeface="Times New Roman"/>
                  <a:cs typeface="Times New Roman"/>
                  <a:sym typeface="Times New Roman"/>
                </a:rPr>
                <a:t>Users make faster, data driven decisions, reducing semiconductor stockouts, excess inventory, and supply chain disruptions.</a:t>
              </a:r>
            </a:p>
          </p:txBody>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028700" y="2343150"/>
            <a:ext cx="15992475" cy="4212136"/>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We are solving supply chain visibility and decision-making for semiconductor supply chain planners because fragmented data and unpredictable demand/supply risks lead to stockouts, excess inventory, and delayed decisions.</a:t>
            </a:r>
          </a:p>
          <a:p>
            <a:pPr algn="l">
              <a:lnSpc>
                <a:spcPts val="3240"/>
              </a:lnSpc>
            </a:pPr>
          </a:p>
          <a:p>
            <a:pPr algn="l">
              <a:lnSpc>
                <a:spcPts val="3240"/>
              </a:lnSpc>
            </a:pPr>
          </a:p>
          <a:p>
            <a:pPr algn="l">
              <a:lnSpc>
                <a:spcPts val="3240"/>
              </a:lnSpc>
            </a:pPr>
            <a:r>
              <a:rPr lang="en-US" sz="2700">
                <a:solidFill>
                  <a:srgbClr val="000000"/>
                </a:solidFill>
                <a:latin typeface="Calibri (MS)"/>
                <a:ea typeface="Calibri (MS)"/>
                <a:cs typeface="Calibri (MS)"/>
                <a:sym typeface="Calibri (MS)"/>
              </a:rPr>
              <a:t>We believe that AI-powered forecasting, risk alerts, and actionable recommendations will help semiconductor supply-chain planners achieve faster decisions, lower inventory costs, and fewer stockouts and supply disruptions.</a:t>
            </a:r>
          </a:p>
          <a:p>
            <a:pPr algn="l">
              <a:lnSpc>
                <a:spcPts val="3240"/>
              </a:lnSpc>
            </a:pPr>
          </a:p>
          <a:p>
            <a:pPr algn="l">
              <a:lnSpc>
                <a:spcPts val="3240"/>
              </a:lnSpc>
            </a:pPr>
          </a:p>
          <a:p>
            <a:pPr algn="l">
              <a:lnSpc>
                <a:spcPts val="324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BF7F0"/>
            </a:solidFill>
          </p:spPr>
        </p:sp>
      </p:grpSp>
      <p:sp>
        <p:nvSpPr>
          <p:cNvPr name="TextBox 4" id="4"/>
          <p:cNvSpPr txBox="true"/>
          <p:nvPr/>
        </p:nvSpPr>
        <p:spPr>
          <a:xfrm rot="0">
            <a:off x="1123950" y="736597"/>
            <a:ext cx="3345180" cy="318773"/>
          </a:xfrm>
          <a:prstGeom prst="rect">
            <a:avLst/>
          </a:prstGeom>
        </p:spPr>
        <p:txBody>
          <a:bodyPr anchor="t" rtlCol="false" tIns="0" lIns="0" bIns="0" rIns="0">
            <a:spAutoFit/>
          </a:bodyPr>
          <a:lstStyle/>
          <a:p>
            <a:pPr algn="l">
              <a:lnSpc>
                <a:spcPts val="2160"/>
              </a:lnSpc>
            </a:pPr>
            <a:r>
              <a:rPr lang="en-US" sz="1800" spc="-277">
                <a:solidFill>
                  <a:srgbClr val="7A6A5B"/>
                </a:solidFill>
                <a:latin typeface="Arial"/>
                <a:ea typeface="Arial"/>
                <a:cs typeface="Arial"/>
                <a:sym typeface="Arial"/>
              </a:rPr>
              <a:t>O P T I O N A L — A P P E N D I X</a:t>
            </a:r>
          </a:p>
        </p:txBody>
      </p:sp>
      <p:grpSp>
        <p:nvGrpSpPr>
          <p:cNvPr name="Group 5" id="5"/>
          <p:cNvGrpSpPr/>
          <p:nvPr/>
        </p:nvGrpSpPr>
        <p:grpSpPr>
          <a:xfrm rot="0">
            <a:off x="14954250" y="742960"/>
            <a:ext cx="2190750" cy="638175"/>
            <a:chOff x="0" y="0"/>
            <a:chExt cx="2921000" cy="850900"/>
          </a:xfrm>
        </p:grpSpPr>
        <p:sp>
          <p:nvSpPr>
            <p:cNvPr name="Freeform 6" id="6"/>
            <p:cNvSpPr/>
            <p:nvPr/>
          </p:nvSpPr>
          <p:spPr>
            <a:xfrm flipH="false" flipV="false" rot="0">
              <a:off x="0" y="0"/>
              <a:ext cx="2921000" cy="850900"/>
            </a:xfrm>
            <a:custGeom>
              <a:avLst/>
              <a:gdLst/>
              <a:ahLst/>
              <a:cxnLst/>
              <a:rect r="r" b="b" t="t" l="l"/>
              <a:pathLst>
                <a:path h="850900" w="2921000">
                  <a:moveTo>
                    <a:pt x="0" y="0"/>
                  </a:moveTo>
                  <a:lnTo>
                    <a:pt x="2921000" y="0"/>
                  </a:lnTo>
                  <a:lnTo>
                    <a:pt x="2921000" y="850900"/>
                  </a:lnTo>
                  <a:lnTo>
                    <a:pt x="0" y="850900"/>
                  </a:lnTo>
                  <a:lnTo>
                    <a:pt x="0" y="0"/>
                  </a:lnTo>
                  <a:close/>
                </a:path>
              </a:pathLst>
            </a:custGeom>
            <a:blipFill>
              <a:blip r:embed="rId2"/>
              <a:stretch>
                <a:fillRect l="-38" t="0" r="-38" b="0"/>
              </a:stretch>
            </a:blipFill>
          </p:spPr>
        </p:sp>
      </p:grpSp>
      <p:sp>
        <p:nvSpPr>
          <p:cNvPr name="TextBox 7" id="7" descr="$PPTXTitle"/>
          <p:cNvSpPr txBox="true"/>
          <p:nvPr/>
        </p:nvSpPr>
        <p:spPr>
          <a:xfrm rot="0">
            <a:off x="1123950" y="1395098"/>
            <a:ext cx="11958638" cy="1181100"/>
          </a:xfrm>
          <a:prstGeom prst="rect">
            <a:avLst/>
          </a:prstGeom>
        </p:spPr>
        <p:txBody>
          <a:bodyPr anchor="t" rtlCol="false" tIns="0" lIns="0" bIns="0" rIns="0">
            <a:spAutoFit/>
          </a:bodyPr>
          <a:lstStyle/>
          <a:p>
            <a:pPr algn="l">
              <a:lnSpc>
                <a:spcPts val="6659"/>
              </a:lnSpc>
            </a:pPr>
            <a:r>
              <a:rPr lang="en-US" sz="5550" spc="-14">
                <a:solidFill>
                  <a:srgbClr val="2A1E16"/>
                </a:solidFill>
                <a:latin typeface="Arial"/>
                <a:ea typeface="Arial"/>
                <a:cs typeface="Arial"/>
                <a:sym typeface="Arial"/>
              </a:rPr>
              <a:t>Appendix</a:t>
            </a:r>
          </a:p>
          <a:p>
            <a:pPr algn="l">
              <a:lnSpc>
                <a:spcPts val="2520"/>
              </a:lnSpc>
            </a:pPr>
            <a:r>
              <a:rPr lang="en-US" sz="2100" spc="2">
                <a:solidFill>
                  <a:srgbClr val="7A6A5B"/>
                </a:solidFill>
                <a:latin typeface="Tomorrow"/>
                <a:ea typeface="Tomorrow"/>
                <a:cs typeface="Tomorrow"/>
                <a:sym typeface="Tomorrow"/>
              </a:rPr>
              <a:t>Sources, primary research and code behind this deck.</a:t>
            </a:r>
          </a:p>
        </p:txBody>
      </p:sp>
      <p:grpSp>
        <p:nvGrpSpPr>
          <p:cNvPr name="Group 8" id="8"/>
          <p:cNvGrpSpPr/>
          <p:nvPr/>
        </p:nvGrpSpPr>
        <p:grpSpPr>
          <a:xfrm rot="0">
            <a:off x="1143000" y="3105160"/>
            <a:ext cx="16002000" cy="19050"/>
            <a:chOff x="0" y="0"/>
            <a:chExt cx="21336000" cy="25400"/>
          </a:xfrm>
        </p:grpSpPr>
        <p:sp>
          <p:nvSpPr>
            <p:cNvPr name="Freeform 9" id="9"/>
            <p:cNvSpPr/>
            <p:nvPr/>
          </p:nvSpPr>
          <p:spPr>
            <a:xfrm flipH="false" flipV="false" rot="0">
              <a:off x="0" y="0"/>
              <a:ext cx="21336000" cy="25400"/>
            </a:xfrm>
            <a:custGeom>
              <a:avLst/>
              <a:gdLst/>
              <a:ahLst/>
              <a:cxnLst/>
              <a:rect r="r" b="b" t="t" l="l"/>
              <a:pathLst>
                <a:path h="25400" w="21336000">
                  <a:moveTo>
                    <a:pt x="21336000" y="0"/>
                  </a:moveTo>
                  <a:lnTo>
                    <a:pt x="0" y="0"/>
                  </a:lnTo>
                  <a:lnTo>
                    <a:pt x="0" y="25400"/>
                  </a:lnTo>
                  <a:lnTo>
                    <a:pt x="21336000" y="25400"/>
                  </a:lnTo>
                  <a:lnTo>
                    <a:pt x="21336000" y="0"/>
                  </a:lnTo>
                  <a:close/>
                </a:path>
              </a:pathLst>
            </a:custGeom>
            <a:solidFill>
              <a:srgbClr val="E5DCCE"/>
            </a:solidFill>
          </p:spPr>
        </p:sp>
      </p:grpSp>
      <p:sp>
        <p:nvSpPr>
          <p:cNvPr name="TextBox 10" id="10"/>
          <p:cNvSpPr txBox="true"/>
          <p:nvPr/>
        </p:nvSpPr>
        <p:spPr>
          <a:xfrm rot="0">
            <a:off x="1123950" y="3336922"/>
            <a:ext cx="3258503" cy="339728"/>
          </a:xfrm>
          <a:prstGeom prst="rect">
            <a:avLst/>
          </a:prstGeom>
        </p:spPr>
        <p:txBody>
          <a:bodyPr anchor="t" rtlCol="false" tIns="0" lIns="0" bIns="0" rIns="0">
            <a:spAutoFit/>
          </a:bodyPr>
          <a:lstStyle/>
          <a:p>
            <a:pPr algn="l">
              <a:lnSpc>
                <a:spcPts val="2250"/>
              </a:lnSpc>
            </a:pPr>
            <a:r>
              <a:rPr lang="en-US" sz="1875">
                <a:solidFill>
                  <a:srgbClr val="7A6A5B"/>
                </a:solidFill>
                <a:latin typeface="Arial"/>
                <a:ea typeface="Arial"/>
                <a:cs typeface="Arial"/>
                <a:sym typeface="Arial"/>
              </a:rPr>
              <a:t>SUPPORTING MATERIAL</a:t>
            </a:r>
          </a:p>
        </p:txBody>
      </p:sp>
      <p:grpSp>
        <p:nvGrpSpPr>
          <p:cNvPr name="Group 11" id="11"/>
          <p:cNvGrpSpPr/>
          <p:nvPr/>
        </p:nvGrpSpPr>
        <p:grpSpPr>
          <a:xfrm rot="0">
            <a:off x="1028700" y="3914775"/>
            <a:ext cx="16002000" cy="5734050"/>
            <a:chOff x="0" y="0"/>
            <a:chExt cx="21336000" cy="7645400"/>
          </a:xfrm>
        </p:grpSpPr>
        <p:sp>
          <p:nvSpPr>
            <p:cNvPr name="Freeform 12" id="12"/>
            <p:cNvSpPr/>
            <p:nvPr/>
          </p:nvSpPr>
          <p:spPr>
            <a:xfrm flipH="false" flipV="false" rot="0">
              <a:off x="0" y="0"/>
              <a:ext cx="21336000" cy="7645400"/>
            </a:xfrm>
            <a:custGeom>
              <a:avLst/>
              <a:gdLst/>
              <a:ahLst/>
              <a:cxnLst/>
              <a:rect r="r" b="b" t="t" l="l"/>
              <a:pathLst>
                <a:path h="7645400" w="21336000">
                  <a:moveTo>
                    <a:pt x="0" y="0"/>
                  </a:moveTo>
                  <a:lnTo>
                    <a:pt x="21336000" y="0"/>
                  </a:lnTo>
                  <a:lnTo>
                    <a:pt x="21336000" y="7645400"/>
                  </a:lnTo>
                  <a:lnTo>
                    <a:pt x="0" y="7645400"/>
                  </a:lnTo>
                  <a:close/>
                </a:path>
              </a:pathLst>
            </a:custGeom>
            <a:solidFill>
              <a:srgbClr val="F7F1E6"/>
            </a:solidFill>
            <a:ln w="19050" cap="sq">
              <a:solidFill>
                <a:srgbClr val="DCCFBB"/>
              </a:solidFill>
              <a:prstDash val="solid"/>
              <a:miter/>
            </a:ln>
          </p:spPr>
        </p:sp>
        <p:sp>
          <p:nvSpPr>
            <p:cNvPr name="TextBox 13" id="13"/>
            <p:cNvSpPr txBox="true"/>
            <p:nvPr/>
          </p:nvSpPr>
          <p:spPr>
            <a:xfrm>
              <a:off x="0" y="-47625"/>
              <a:ext cx="21336000" cy="7693025"/>
            </a:xfrm>
            <a:prstGeom prst="rect">
              <a:avLst/>
            </a:prstGeom>
          </p:spPr>
          <p:txBody>
            <a:bodyPr anchor="t" rtlCol="false" tIns="50800" lIns="50800" bIns="50800" rIns="50800"/>
            <a:lstStyle/>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SOURCES CITED</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SEMI–McKinsey Semiconductor Supply Chain Survey, 2026</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McKinsey Global Supply Chain Leader Survey, 2024</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SAP Integrated Business Planning — product documentation</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SAP Business Network — supplier collaboration</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o9 Solutions — platform overview</a:t>
              </a:r>
            </a:p>
            <a:p>
              <a:pPr algn="l" marL="0" indent="0" lvl="0">
                <a:lnSpc>
                  <a:spcPts val="2520"/>
                </a:lnSpc>
                <a:spcBef>
                  <a:spcPct val="0"/>
                </a:spcBef>
              </a:pP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PRIMARY RESEARCH</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Interview with T Prabhanjan Kumar, Schneider Electric. Notes held by the team and available on request.</a:t>
              </a:r>
            </a:p>
            <a:p>
              <a:pPr algn="l" marL="0" indent="0" lvl="0">
                <a:lnSpc>
                  <a:spcPts val="2520"/>
                </a:lnSpc>
                <a:spcBef>
                  <a:spcPct val="0"/>
                </a:spcBef>
              </a:pP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CODE</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https://github.com/Udyoga-Pramoda-Hackathon-2026/team-satyatma</a:t>
              </a:r>
            </a:p>
            <a:p>
              <a:pPr algn="l" marL="0" indent="0" lvl="0">
                <a:lnSpc>
                  <a:spcPts val="2520"/>
                </a:lnSpc>
                <a:spcBef>
                  <a:spcPct val="0"/>
                </a:spcBef>
              </a:pP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Deployed Link:</a:t>
              </a:r>
            </a:p>
            <a:p>
              <a:pPr algn="l" marL="0" indent="0" lvl="0">
                <a:lnSpc>
                  <a:spcPts val="2520"/>
                </a:lnSpc>
                <a:spcBef>
                  <a:spcPct val="0"/>
                </a:spcBef>
              </a:pPr>
              <a:r>
                <a:rPr lang="en-US" sz="1800" spc="1" strike="noStrike" u="none">
                  <a:solidFill>
                    <a:srgbClr val="A3937F"/>
                  </a:solidFill>
                  <a:latin typeface="Tomorrow"/>
                  <a:ea typeface="Tomorrow"/>
                  <a:cs typeface="Tomorrow"/>
                  <a:sym typeface="Tomorrow"/>
                </a:rPr>
                <a:t>https://circuit-mind.onrender.com/login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DAHUXHpLXKI</dc:identifier>
  <dcterms:modified xsi:type="dcterms:W3CDTF">2011-08-01T06:04:30Z</dcterms:modified>
  <cp:revision>1</cp:revision>
  <dc:title>Research and Discovery - Final.pptx</dc:title>
</cp:coreProperties>
</file>